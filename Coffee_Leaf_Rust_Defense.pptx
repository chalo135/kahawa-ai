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 (KES bn)</c:v>
                </c:pt>
              </c:strCache>
            </c:strRef>
          </c:tx>
          <c:spPr>
            <a:solidFill>
              <a:srgbClr val="2C5F2D"/>
            </a:solidFill>
            <a:effectLst/>
          </c:spPr>
          <c:invertIfNegative val="0"/>
          <c:dLbls>
            <c:numFmt formatCode="#,##0" sourceLinked="0"/>
            <c:txPr>
              <a:bodyPr/>
              <a:lstStyle/>
              <a:p>
                <a:pPr>
                  <a:defRPr b="0" i="0" strike="noStrike" sz="900" u="none">
                    <a:solidFill>
                      <a:srgbClr val="24261F"/>
                    </a:solidFill>
                    <a:latin typeface="Calibri"/>
                  </a:defRPr>
                </a:pPr>
              </a:p>
            </c:txPr>
            <c:showLegendKey val="0"/>
            <c:showVal val="1"/>
            <c:showCatName val="0"/>
            <c:showSerName val="0"/>
            <c:showPercent val="0"/>
            <c:showBubbleSize val="0"/>
            <c:showLeaderLines val="0"/>
          </c:dLbls>
          <c:cat>
            <c:multiLvlStrRef>
              <c:f>Sheet1!$A$2:$A$7</c:f>
              <c:multiLvlStrCache>
                <c:ptCount val="6"/>
                <c:lvl>
                  <c:pt idx="0">
                    <c:v>18/19</c:v>
                  </c:pt>
                  <c:pt idx="1">
                    <c:v>19/20</c:v>
                  </c:pt>
                  <c:pt idx="2">
                    <c:v>20/21</c:v>
                  </c:pt>
                  <c:pt idx="3">
                    <c:v>21/22</c:v>
                  </c:pt>
                  <c:pt idx="4">
                    <c:v>22/23</c:v>
                  </c:pt>
                  <c:pt idx="5">
                    <c:v>23/24</c:v>
                  </c:pt>
                </c:lvl>
              </c:multiLvlStrCache>
            </c:multiLvlStrRef>
          </c:cat>
          <c:val>
            <c:numRef>
              <c:f>Sheet1!$B$2:$B$7</c:f>
              <c:numCache>
                <c:formatCode>General</c:formatCode>
                <c:ptCount val="6"/>
                <c:pt idx="0">
                  <c:v>21.9</c:v>
                </c:pt>
                <c:pt idx="1">
                  <c:v>20.4</c:v>
                </c:pt>
                <c:pt idx="2">
                  <c:v>19.8</c:v>
                </c:pt>
                <c:pt idx="3">
                  <c:v>27</c:v>
                </c:pt>
                <c:pt idx="4">
                  <c:v>33.4</c:v>
                </c:pt>
                <c:pt idx="5">
                  <c:v>34</c:v>
                </c:pt>
              </c:numCache>
            </c:numRef>
          </c:val>
        </c:ser>
        <c:dLbls>
          <c:numFmt formatCode="#,##0" sourceLinked="0"/>
          <c:txPr>
            <a:bodyPr/>
            <a:lstStyle/>
            <a:p>
              <a:pPr>
                <a:defRPr b="0" i="0" strike="noStrike" sz="900" u="none">
                  <a:solidFill>
                    <a:srgbClr val="24261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E66"/>
                </a:solidFill>
                <a:latin typeface="Calibri"/>
              </a:defRPr>
            </a:pPr>
            <a:endParaRPr lang="en-US"/>
          </a:p>
        </c:txPr>
        <c:crossAx val="2094734552"/>
        <c:crosses val="autoZero"/>
        <c:auto val="1"/>
        <c:lblAlgn val="ctr"/>
        <c:noMultiLvlLbl val="1"/>
      </c:catAx>
      <c:valAx>
        <c:axId val="2094734552"/>
        <c:scaling>
          <c:orientation val="minMax"/>
          <c:max val="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Images</c:v>
                </c:pt>
              </c:strCache>
            </c:strRef>
          </c:tx>
          <c:spPr>
            <a:solidFill>
              <a:srgbClr val="2C5F2D"/>
            </a:solidFill>
            <a:effectLst/>
          </c:spPr>
          <c:invertIfNegative val="0"/>
          <c:dLbls>
            <c:numFmt formatCode="#,##0" sourceLinked="0"/>
            <c:txPr>
              <a:bodyPr/>
              <a:lstStyle/>
              <a:p>
                <a:pPr>
                  <a:defRPr b="0" i="0" strike="noStrike" sz="1100" u="none">
                    <a:solidFill>
                      <a:srgbClr val="24261F"/>
                    </a:solidFill>
                    <a:latin typeface="Calibri"/>
                  </a:defRPr>
                </a:pPr>
              </a:p>
            </c:txPr>
            <c:showLegendKey val="0"/>
            <c:showVal val="1"/>
            <c:showCatName val="0"/>
            <c:showSerName val="0"/>
            <c:showPercent val="0"/>
            <c:showBubbleSize val="0"/>
            <c:showLeaderLines val="0"/>
          </c:dLbls>
          <c:cat>
            <c:multiLvlStrRef>
              <c:f>Sheet1!$A$2:$A$3</c:f>
              <c:multiLvlStrCache>
                <c:ptCount val="2"/>
                <c:lvl>
                  <c:pt idx="0">
                    <c:v>Healthy</c:v>
                  </c:pt>
                  <c:pt idx="1">
                    <c:v>Rust-infected</c:v>
                  </c:pt>
                </c:lvl>
              </c:multiLvlStrCache>
            </c:multiLvlStrRef>
          </c:cat>
          <c:val>
            <c:numRef>
              <c:f>Sheet1!$B$2:$B$3</c:f>
              <c:numCache>
                <c:formatCode>General</c:formatCode>
                <c:ptCount val="2"/>
                <c:pt idx="0">
                  <c:v>10500</c:v>
                </c:pt>
                <c:pt idx="1">
                  <c:v>10500</c:v>
                </c:pt>
              </c:numCache>
            </c:numRef>
          </c:val>
        </c:ser>
        <c:dLbls>
          <c:numFmt formatCode="#,##0" sourceLinked="0"/>
          <c:txPr>
            <a:bodyPr/>
            <a:lstStyle/>
            <a:p>
              <a:pPr>
                <a:defRPr b="0" i="0" strike="noStrike" sz="1100" u="none">
                  <a:solidFill>
                    <a:srgbClr val="24261F"/>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4261F"/>
                </a:solidFill>
                <a:latin typeface="Calibri"/>
              </a:defRPr>
            </a:pPr>
            <a:endParaRPr lang="en-US"/>
          </a:p>
        </c:txPr>
        <c:crossAx val="2094734552"/>
        <c:crosses val="autoZero"/>
        <c:auto val="1"/>
        <c:lblAlgn val="ctr"/>
        <c:noMultiLvlLbl val="1"/>
      </c:catAx>
      <c:valAx>
        <c:axId val="2094734552"/>
        <c:scaling>
          <c:orientation val="minMax"/>
          <c:max val="12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name is Charles Ndirangu, registration CIT-222-013. My project is an image-recognition AI system for detecting coffee leaf rust — I've named the working system Kahawa AI. Over the next ~20 minutes I'll take you through the problem, the gap in existing work, my objectives, the methodology, the system I built and deployed, and my findings and conclusions. The one-sentence version: a smartphone photo of a coffee leaf goes in, and a healthy-or-rust verdict with a confidence score comes back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flow of the talk. I'll spend most time on the problem and the system itself, then close with what I found and what I'd do next. Feel free to hold questions for the end, or interrupt if something needs clarifying.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Coffee is an economic anchor for roughly 700,000 smallholder households. But leaf rust — caused by the fungus Hemileia vastatrix — can wipe out 30 to 70 percent of yield in a badly infected plot. The critical number is the middle one: the fungus has a latent period of only 10 to 14 days, and the current human diagnosis chain routinely takes longer than that. The chart shows the sector's value has been recovering — from about 20 to 34 billion shillings — which is exactly why protecting it matters. Source for these figures is the AFA Coffee Directorate 2024 bulletin and Coffee Research Institute loss estimates cited in my Chapter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core problem. Diagnosis today is a human chain: farmer, then the few cooperative field officers, then rarely a research station. Each hop takes time, and the total consistently beats the fungus's 10-to-14-day latent period — so by the time rust is named, it has already spread and the season is largely lost. You might ask: why not just use one of the AI papers already out there? Three reasons, on the bottom row. Most are trained on the wrong data — international datasets that don't look like a shaded Kenyan farm. Many need constant connectivity or app-store literacy. And most answer a multi-class question when the farmer's real decision is binary: spray or don't spray. My system is designed around exactly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project hangs off this single sentence. The aim is to build AND deploy a classifier that gives a healthy-or-rust verdict, delivered as a lightweight web app usable on a phone. I stated it as one sentence on purpose: it keeps scope honest — anything that doesn't serve this aim, like detecting other diseases or estimating yield, is out. The next slide breaks it into four measurable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names the constraint that shapes everything: it must run on the phones and cheap laptops smallholders really have — that's why I chose a lightweight model later. Below are the four specific objectives, and notice each one carries its own acceptance criterion in the coloured line — that's the SMART discipline. Preprocessing has a defined output shape. The classifier has a 90% accuracy threshold. The interface has a 5-second budget. Deployment must be a real live URL with logging. These are written as functional specs — what the system does — not vague verbs like 'explore' or 'evaluate', per the documentation guidelines.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is mature. Since Mohanty in 2016 and Ferentinos in 2018, CNNs have been the default for plant disease detection, routinely hitting 99% on broad datasets. Closer to my topic, Esgario worked on coffee in Brazil, and crucially Patroba's group in 2021 released JMuBEN — a 58,000-image Kenyan coffee dataset that I use. Wachira trained a MobileNetV2 on it and got 94%. So the takeaway is important for my framing: raw accuracy is basically solved. Nobody needs another 99% number on a generic set. What's missing is a locally-trained model that's actually deployed and focused on the one decision that matters — and that's the gap I'll show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deployed tools. Nuru from Penn State is strong but multi-crop and needs an installed app. Plantix is broad but weak on coffee. iCow works over WhatsApp in Kenya but coffee support is limited. The Ugandan Makerere app doesn't do coffee. And the academic JMuBEN models — the ones actually trained on Kenyan coffee — were never deployed; they stayed as notebooks. My row at the bottom is the combination that doesn't currently exist: Kenyan-trained, rust-focused, no app install needed, and openly deployed. That intersection is my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the review together, there are four concrete gaps — and each maps to one feature of my system. One: locally-trained but openly deployed — I take a JMuBEN model from training notebook to a public URL, which the prior Kenyan work never did. Two: binary focus — reducing to rust-or-not matches the farmer's real decision and, as I'll show, actually trained more accurately. Three: a smartphone pathway with no app install and no messaging bot — just a URL. Four: a full documentation trail, which for undergraduate computing education is valuable in itself. These aren't rhetorical; anyone searching the Kenyan coffee-AI space can verify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the prototyping software development model, and the reasoning is honest: you cannot know a neural network's accuracy in advance — you have to build it, test it, and refine. So I worked in cycles: gather requirements, build a working prototype, test it with real users, refine, repeat, until the acceptance criteria were met. Requirements came from semi-structured interviews with 12 farmers and 3 extension officers. Image data came from the JMuBEN dataset plus leaves I collected locally. And I evaluated the model with the standard metrics — importantly recall on the rust class, because a missed rust case is more costly than a false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on data, because it's where a lot of models go wrong. My primary source is JMuBEN — over 58,000 Arabica leaf images collected right here in Kirinyaga County, so the leaves genuinely look like Kenyan farm leaves. But the raw release is rust-heavy, which would bias the model toward predicting rust. So I balanced it: 10,500 images per class, trading some volume for fairness. I added locally-collected photos, including red-spider-mite images I'm holding back for a future multi-class version. And I applied light augmentation — flips, small rotations, zoom — to stretch the effective training set. Balance and locality are the two things I'd point to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a clean three-tier architecture. The presentation tier is a lightweight browser front-end — plain HTML, CSS and JavaScript, no heavy framework like React, because bundle size would slow the first load on a weak connection. It installs as a progressive web app and speaks both English and Swahili. The application tier is a FastAPI back-end that does the real work: preprocessing with Pillow, running the model, generating the advisory, and logging. The data tier is a small SQLite database plus the knowledge base. On the right is the journey of a single request, end to end — upload, validate, predict, return the verdict with a confidence score, attach a plain-language advisory, and log the event. All three tiers run on one machine for the pilot but can be split later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back-end — the classify routine, which I documented as pseudocode in Chapter Three. Two design choices are worth defending. First, the decision rule: the model outputs a single sigmoid probability of rust; if it's 0.5 or above, we call it rust, otherwise healthy, and the confidence is just that probability as a percentage. Simple and interpretable. Second — and this is a safety feature examiners often probe — the low-confidence guard: if the model says healthy but with less than 90% confidence, it doesn't stay silent; it tells the user the leaf may carry another condition and to consult an agronomist. That's deliberate, because a false 'healthy' is the most dangerous error. Every request is also rate-limited, validated, and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MobileNetV2 with a custom classification head. Why MobileNetV2? It's lightweight — about 23 megabytes, small enough to serve from a CPU host and reach cheap devices, which ties straight back to my main objective. It comes pre-trained on ImageNet, so I get strong visual features without needing millions of coffee images, and prior Kenyan work already validated it on JMuBEN. I replaced the top with a compact head — pooling, dropout for regularisation, a 128-unit dense layer, and a single sigmoid output for the binary decision. Training was two-phase transfer learning: first I froze the base and trained only the head, then I unfroze the last 30 layers and fine-tuned at a lower learning rate. That two-phase approach, as I note in my findings, cut training time and final loss dramatically versus training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verdict alone isn't enough — a farmer also needs to know what to do. So the system adds a conversational advisory. But I did not just wire up a chatbot, because raw language models confidently make things up. Instead I use retrieval-augmented generation: when the farmer asks a follow-up, the back-end first retrieves the most relevant passages from a curated coffee knowledge base, attaches them to the prompt as evidence, and only then asks the model to answer — in whichever language the question was asked, English or Swahili. The critical safety feature is the green bar: if nothing relevant is found, the model is instructed to say 'I don't know' rather than fabricate. I use Groq for fast responses, with a smaller local model as an offline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actually exists — a live web application, not a paper design. The result screen gives an instant verdict: a big green 'healthy' or red 'rust-infected' label with a confidence bar — colour and words together so it works for colour-blind users. Everything is bilingual, English and Swahili. It installs as a progressive web app so it re-opens even on a poor network. There are optional secure accounts, hardened against common web attacks, a downloadable one-page PDF report, and full event logging — which, as I'll mention in my findings, quietly builds a rust-surveillance dataset. It's deployed with FastAPI and Gunicorn over HTTPS, hosted in the Johannesburg region because it's the closest to Kenya. If the panel would like, I can open the live URL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separated two questions. Testing asks: does the system work correctly? I ran the full pyramid — unit tests on individual functions, integration tests across modules, system tests end-to-end, and user acceptance testing with 15 real participants. Evaluation asks a harder question: is it actually useful to the people it's for? Four pillars there. Technical evaluation reports the standard ML metrics, with special attention to rust recall. Usability uses the System Usability Scale plus timed observation. Contextual evaluation checks things like task completion and data consumption per session. And outcome evaluation is a six-week follow-up with five participants to see whether they detected and acted on real rust — that runs past the report deadline, so I'll report it in this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 — fill these in before you present. This slide holds your headline results against each acceptance criterion: overall accuracy versus the 90% target, rust recall (call this out because a missed rust case is the worst error), and end-to-end response time versus the 5-second budget. The 15 UAT participants is fixed. In the bar below, mention that the full precision, F1 and confusion matrix are in Appendix C and the usability score in Appendix B. Have the live URL and the current logged-prediction count ready. Do NOT present with the blanks still showing — drop in your measured numbers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findings stand out. First and most important for defending my design choices: making the model binary wasn't a compromise — it matched the farmer's real decision AND trained more accurately than a five-class model on the same data, because each class had more examples. Second, transfer learning was the only realistic path given limited compute. Third, users cared about the clean red-versus-green interface as much as the accuracy they couldn't judge. Fourth, Swahili was non-negotiable — eight of twelve farmers used it. Fifth, the prediction log quietly became the first near-real-time view of rust prevalence. On the right are the honest challenges and how I handled each — class imbalance, Colab timeouts, poor phone photos, cloud cold-starts, and cooperative scheduling. I'd rather show these than pretend the path was smooth.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against the aim from Chapter One, the conclusion is that the project delivered. There is a trained MobileNetV2 model, a live FastAPI application exposing both a predict endpoint and a RAG-grounded chat endpoint, a bilingual installable PWA with secure accounts, and a logged pilot with 15 acceptance-test users. The system isn't perfect — the dataset isn't the full diversity of every Kenyan farm and the pilot is small — but together the design, model and deployment close the specific gap I opened with: the distance between what was technically possible and what was actually in a farmer's hand. My contribution is that this is, to my knowledge, the first fully documented JMuBEN-trained coffee-rust tool taken all the way from notebook to live URL at the undergraduate level in Kenya.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directions for future work, flowing from the findings and challenges. Once the binary model is field-validated for a season, extend it to the other JMuBEN conditions — but keep a clear 'healthy' class as the most actionable output. Add a severity head so it reports how much of the leaf is affected, not just presence. Add a TensorFlow Lite offline Android build for areas with poor connectivity, which the current web-only version excludes. Turn the prediction log into a county-level dashboard for KALRO and extension officers. Explore federated learning so cooperatives can improve the model without sharing raw images. And finally extend to Robusta and to Uganda and Tanzania, where the smallholder structure is similar. These are ordered roughly by how soon each is 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I'm happy to take questions. Anticipating a few: on dataset bias and generalisation, I'd point to the local JMuBEN source, my balancing, and the honest scope limits. On the 0.50 threshold, I can explain the low-confidence guard and that the threshold is tunable if false negatives must be minimised further. On false-negative cost, recall on the rust class is the metric I watch. On offline access, that's the TensorFlow Lite recommendation. And on scaling, the architecture separates tiers and a small paid hosting tier removes the cold-start.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D1C"/>
        </a:solidFill>
      </p:bgPr>
    </p:bg>
    <p:spTree>
      <p:nvGrpSpPr>
        <p:cNvPr id="1" name=""/>
        <p:cNvGrpSpPr/>
        <p:nvPr/>
      </p:nvGrpSpPr>
      <p:grpSpPr>
        <a:xfrm>
          <a:off x="0" y="0"/>
          <a:ext cx="0" cy="0"/>
          <a:chOff x="0" y="0"/>
          <a:chExt cx="0" cy="0"/>
        </a:xfrm>
      </p:grpSpPr>
      <p:sp>
        <p:nvSpPr>
          <p:cNvPr id="2" name="Shape 0"/>
          <p:cNvSpPr/>
          <p:nvPr/>
        </p:nvSpPr>
        <p:spPr>
          <a:xfrm>
            <a:off x="8869680" y="-1463040"/>
            <a:ext cx="5120640" cy="5120640"/>
          </a:xfrm>
          <a:prstGeom prst="ellipse">
            <a:avLst/>
          </a:prstGeom>
          <a:solidFill>
            <a:srgbClr val="2C5F2D"/>
          </a:solidFill>
          <a:ln/>
        </p:spPr>
      </p:sp>
      <p:sp>
        <p:nvSpPr>
          <p:cNvPr id="3" name="Shape 1"/>
          <p:cNvSpPr/>
          <p:nvPr/>
        </p:nvSpPr>
        <p:spPr>
          <a:xfrm>
            <a:off x="10241280" y="3840480"/>
            <a:ext cx="4023360" cy="4023360"/>
          </a:xfrm>
          <a:prstGeom prst="ellipse">
            <a:avLst/>
          </a:prstGeom>
          <a:solidFill>
            <a:srgbClr val="6F4E37"/>
          </a:solidFill>
          <a:ln/>
        </p:spPr>
      </p:sp>
      <p:sp>
        <p:nvSpPr>
          <p:cNvPr id="4" name="Shape 2"/>
          <p:cNvSpPr/>
          <p:nvPr/>
        </p:nvSpPr>
        <p:spPr>
          <a:xfrm>
            <a:off x="-1188720" y="4846320"/>
            <a:ext cx="3840480" cy="3840480"/>
          </a:xfrm>
          <a:prstGeom prst="ellipse">
            <a:avLst/>
          </a:prstGeom>
          <a:solidFill>
            <a:srgbClr val="2C5F2D"/>
          </a:solidFill>
          <a:ln/>
        </p:spPr>
      </p:sp>
      <p:sp>
        <p:nvSpPr>
          <p:cNvPr id="5" name="Text 3"/>
          <p:cNvSpPr/>
          <p:nvPr/>
        </p:nvSpPr>
        <p:spPr>
          <a:xfrm>
            <a:off x="640080" y="1051560"/>
            <a:ext cx="10058400" cy="320040"/>
          </a:xfrm>
          <a:prstGeom prst="rect">
            <a:avLst/>
          </a:prstGeom>
          <a:noFill/>
          <a:ln/>
        </p:spPr>
        <p:txBody>
          <a:bodyPr wrap="square" rtlCol="0" anchor="ctr"/>
          <a:lstStyle/>
          <a:p>
            <a:pPr indent="0" marL="0">
              <a:buNone/>
            </a:pPr>
            <a:r>
              <a:rPr lang="en-US" sz="1300" b="1" spc="200" kern="0" dirty="0">
                <a:solidFill>
                  <a:srgbClr val="97BC62"/>
                </a:solidFill>
                <a:latin typeface="Calibri" pitchFamily="34" charset="0"/>
                <a:ea typeface="Calibri" pitchFamily="34" charset="-122"/>
                <a:cs typeface="Calibri" pitchFamily="34" charset="-120"/>
              </a:rPr>
              <a:t>ORAL DEFENSE  ·  BCT 2406 PROJECT RESEARCH &amp; DEFINITION</a:t>
            </a:r>
            <a:endParaRPr lang="en-US" sz="1300" dirty="0"/>
          </a:p>
        </p:txBody>
      </p:sp>
      <p:sp>
        <p:nvSpPr>
          <p:cNvPr id="6" name="Text 4"/>
          <p:cNvSpPr/>
          <p:nvPr/>
        </p:nvSpPr>
        <p:spPr>
          <a:xfrm>
            <a:off x="640080" y="1554480"/>
            <a:ext cx="10332720" cy="1371600"/>
          </a:xfrm>
          <a:prstGeom prst="rect">
            <a:avLst/>
          </a:prstGeom>
          <a:noFill/>
          <a:ln/>
        </p:spPr>
        <p:txBody>
          <a:bodyPr wrap="square" rtlCol="0" anchor="t"/>
          <a:lstStyle/>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Image Recognition AI–Based Coffee Disease Detection System</a:t>
            </a:r>
            <a:endParaRPr lang="en-US" sz="4000" dirty="0"/>
          </a:p>
        </p:txBody>
      </p:sp>
      <p:sp>
        <p:nvSpPr>
          <p:cNvPr id="7" name="Text 5"/>
          <p:cNvSpPr/>
          <p:nvPr/>
        </p:nvSpPr>
        <p:spPr>
          <a:xfrm>
            <a:off x="640080" y="2880360"/>
            <a:ext cx="10058400" cy="548640"/>
          </a:xfrm>
          <a:prstGeom prst="rect">
            <a:avLst/>
          </a:prstGeom>
          <a:noFill/>
          <a:ln/>
        </p:spPr>
        <p:txBody>
          <a:bodyPr wrap="square" rtlCol="0" anchor="ctr"/>
          <a:lstStyle/>
          <a:p>
            <a:pPr indent="0" marL="0">
              <a:buNone/>
            </a:pPr>
            <a:r>
              <a:rPr lang="en-US" sz="2400" i="1" dirty="0">
                <a:solidFill>
                  <a:srgbClr val="97BC62"/>
                </a:solidFill>
                <a:latin typeface="Cambria" pitchFamily="34" charset="0"/>
                <a:ea typeface="Cambria" pitchFamily="34" charset="-122"/>
                <a:cs typeface="Cambria" pitchFamily="34" charset="-120"/>
              </a:rPr>
              <a:t>A Case of Leaf Rust Disease</a:t>
            </a:r>
            <a:endParaRPr lang="en-US" sz="2400" dirty="0"/>
          </a:p>
        </p:txBody>
      </p:sp>
      <p:sp>
        <p:nvSpPr>
          <p:cNvPr id="8" name="Text 6"/>
          <p:cNvSpPr/>
          <p:nvPr/>
        </p:nvSpPr>
        <p:spPr>
          <a:xfrm>
            <a:off x="640080" y="3611880"/>
            <a:ext cx="969264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Kahawa AI</a:t>
            </a:r>
            <a:pPr indent="0" marL="0">
              <a:buNone/>
            </a:pPr>
            <a:r>
              <a:rPr lang="en-US" sz="1500" dirty="0">
                <a:solidFill>
                  <a:srgbClr val="D9E4CC"/>
                </a:solidFill>
                <a:latin typeface="Calibri" pitchFamily="34" charset="0"/>
                <a:ea typeface="Calibri" pitchFamily="34" charset="-122"/>
                <a:cs typeface="Calibri" pitchFamily="34" charset="-120"/>
              </a:rPr>
              <a:t>  —  a MobileNetV2 classifier that tells a smallholder farmer, in seconds, whether a coffee leaf is healthy or rust-infected.</a:t>
            </a:r>
            <a:endParaRPr lang="en-US" sz="1500" dirty="0"/>
          </a:p>
        </p:txBody>
      </p:sp>
      <p:sp>
        <p:nvSpPr>
          <p:cNvPr id="9" name="Shape 7"/>
          <p:cNvSpPr/>
          <p:nvPr/>
        </p:nvSpPr>
        <p:spPr>
          <a:xfrm>
            <a:off x="640080" y="4709160"/>
            <a:ext cx="5669280" cy="0"/>
          </a:xfrm>
          <a:prstGeom prst="line">
            <a:avLst/>
          </a:prstGeom>
          <a:noFill/>
          <a:ln w="12700">
            <a:solidFill>
              <a:srgbClr val="6E8B3D"/>
            </a:solidFill>
            <a:prstDash val="solid"/>
          </a:ln>
        </p:spPr>
      </p:sp>
      <p:sp>
        <p:nvSpPr>
          <p:cNvPr id="10" name="Text 8"/>
          <p:cNvSpPr/>
          <p:nvPr/>
        </p:nvSpPr>
        <p:spPr>
          <a:xfrm>
            <a:off x="640080" y="4892040"/>
            <a:ext cx="10058400" cy="320040"/>
          </a:xfrm>
          <a:prstGeom prst="rect">
            <a:avLst/>
          </a:prstGeom>
          <a:noFill/>
          <a:ln/>
        </p:spPr>
        <p:txBody>
          <a:bodyPr wrap="square" rtlCol="0" anchor="ctr"/>
          <a:lstStyle/>
          <a:p>
            <a:pPr indent="0" marL="0">
              <a:buNone/>
            </a:pPr>
            <a:r>
              <a:rPr lang="en-US" sz="1500" b="1" dirty="0">
                <a:solidFill>
                  <a:srgbClr val="97BC62"/>
                </a:solidFill>
                <a:latin typeface="Calibri" pitchFamily="34" charset="0"/>
                <a:ea typeface="Calibri" pitchFamily="34" charset="-122"/>
                <a:cs typeface="Calibri" pitchFamily="34" charset="-120"/>
              </a:rPr>
              <a:t>Presented by:  </a:t>
            </a:r>
            <a:pPr indent="0" marL="0">
              <a:buNone/>
            </a:pPr>
            <a:r>
              <a:rPr lang="en-US" sz="1500" dirty="0">
                <a:solidFill>
                  <a:srgbClr val="FFFFFF"/>
                </a:solidFill>
                <a:latin typeface="Calibri" pitchFamily="34" charset="0"/>
                <a:ea typeface="Calibri" pitchFamily="34" charset="-122"/>
                <a:cs typeface="Calibri" pitchFamily="34" charset="-120"/>
              </a:rPr>
              <a:t>Mwangi Charles Ndirangu</a:t>
            </a:r>
            <a:pPr indent="0" marL="0">
              <a:buNone/>
            </a:pPr>
            <a:r>
              <a:rPr lang="en-US" sz="1500" dirty="0">
                <a:solidFill>
                  <a:srgbClr val="C7D2B6"/>
                </a:solidFill>
                <a:latin typeface="Calibri" pitchFamily="34" charset="0"/>
                <a:ea typeface="Calibri" pitchFamily="34" charset="-122"/>
                <a:cs typeface="Calibri" pitchFamily="34" charset="-120"/>
              </a:rPr>
              <a:t>   (CIT-222-013/2022)</a:t>
            </a:r>
            <a:endParaRPr lang="en-US" sz="1500" dirty="0"/>
          </a:p>
        </p:txBody>
      </p:sp>
      <p:sp>
        <p:nvSpPr>
          <p:cNvPr id="11" name="Text 9"/>
          <p:cNvSpPr/>
          <p:nvPr/>
        </p:nvSpPr>
        <p:spPr>
          <a:xfrm>
            <a:off x="640080" y="5257800"/>
            <a:ext cx="10515600" cy="320040"/>
          </a:xfrm>
          <a:prstGeom prst="rect">
            <a:avLst/>
          </a:prstGeom>
          <a:noFill/>
          <a:ln/>
        </p:spPr>
        <p:txBody>
          <a:bodyPr wrap="square" rtlCol="0" anchor="ctr"/>
          <a:lstStyle/>
          <a:p>
            <a:pPr indent="0" marL="0">
              <a:buNone/>
            </a:pPr>
            <a:r>
              <a:rPr lang="en-US" sz="1300" b="1" dirty="0">
                <a:solidFill>
                  <a:srgbClr val="97BC62"/>
                </a:solidFill>
                <a:latin typeface="Calibri" pitchFamily="34" charset="0"/>
                <a:ea typeface="Calibri" pitchFamily="34" charset="-122"/>
                <a:cs typeface="Calibri" pitchFamily="34" charset="-120"/>
              </a:rPr>
              <a:t>Supervisor:  </a:t>
            </a:r>
            <a:pPr indent="0" marL="0">
              <a:buNone/>
            </a:pPr>
            <a:r>
              <a:rPr lang="en-US" sz="1300" dirty="0">
                <a:solidFill>
                  <a:srgbClr val="FFFFFF"/>
                </a:solidFill>
                <a:latin typeface="Calibri" pitchFamily="34" charset="0"/>
                <a:ea typeface="Calibri" pitchFamily="34" charset="-122"/>
                <a:cs typeface="Calibri" pitchFamily="34" charset="-120"/>
              </a:rPr>
              <a:t>Dr. Nick Ishmael</a:t>
            </a:r>
            <a:pPr indent="0" marL="0">
              <a:buNone/>
            </a:pPr>
            <a:r>
              <a:rPr lang="en-US" sz="1300" dirty="0">
                <a:solidFill>
                  <a:srgbClr val="C7D2B6"/>
                </a:solidFill>
                <a:latin typeface="Calibri" pitchFamily="34" charset="0"/>
                <a:ea typeface="Calibri" pitchFamily="34" charset="-122"/>
                <a:cs typeface="Calibri" pitchFamily="34" charset="-120"/>
              </a:rPr>
              <a:t>     ·     Multimedia University of Kenya · Faculty of Computing &amp; IT</a:t>
            </a:r>
            <a:endParaRPr lang="en-US" sz="1300" dirty="0"/>
          </a:p>
        </p:txBody>
      </p:sp>
      <p:sp>
        <p:nvSpPr>
          <p:cNvPr id="12" name="Text 10"/>
          <p:cNvSpPr/>
          <p:nvPr/>
        </p:nvSpPr>
        <p:spPr>
          <a:xfrm>
            <a:off x="640080" y="5943600"/>
            <a:ext cx="7315200" cy="274320"/>
          </a:xfrm>
          <a:prstGeom prst="rect">
            <a:avLst/>
          </a:prstGeom>
          <a:noFill/>
          <a:ln/>
        </p:spPr>
        <p:txBody>
          <a:bodyPr wrap="square" rtlCol="0" anchor="ctr"/>
          <a:lstStyle/>
          <a:p>
            <a:pPr indent="0" marL="0">
              <a:buNone/>
            </a:pPr>
            <a:r>
              <a:rPr lang="en-US" sz="1200" dirty="0">
                <a:solidFill>
                  <a:srgbClr val="97BC62"/>
                </a:solidFill>
                <a:latin typeface="Calibri" pitchFamily="34" charset="0"/>
                <a:ea typeface="Calibri" pitchFamily="34" charset="-122"/>
                <a:cs typeface="Calibri" pitchFamily="34" charset="-120"/>
              </a:rPr>
              <a:t>BSc. Computer Technology  ·  May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PRESENTATION ROADMAP</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What I will cover</a:t>
            </a:r>
            <a:endParaRPr lang="en-US" sz="3000" dirty="0"/>
          </a:p>
        </p:txBody>
      </p:sp>
      <p:sp>
        <p:nvSpPr>
          <p:cNvPr id="4" name="Shape 2"/>
          <p:cNvSpPr/>
          <p:nvPr/>
        </p:nvSpPr>
        <p:spPr>
          <a:xfrm>
            <a:off x="640080" y="1783080"/>
            <a:ext cx="5257800" cy="1325880"/>
          </a:xfrm>
          <a:prstGeom prst="roundRect">
            <a:avLst>
              <a:gd name="adj" fmla="val 620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5" name="Shape 3"/>
          <p:cNvSpPr/>
          <p:nvPr/>
        </p:nvSpPr>
        <p:spPr>
          <a:xfrm>
            <a:off x="896112" y="2194560"/>
            <a:ext cx="502920" cy="502920"/>
          </a:xfrm>
          <a:prstGeom prst="ellipse">
            <a:avLst/>
          </a:prstGeom>
          <a:solidFill>
            <a:srgbClr val="2C5F2D"/>
          </a:solidFill>
          <a:ln/>
        </p:spPr>
      </p:sp>
      <p:sp>
        <p:nvSpPr>
          <p:cNvPr id="6" name="Text 4"/>
          <p:cNvSpPr/>
          <p:nvPr/>
        </p:nvSpPr>
        <p:spPr>
          <a:xfrm>
            <a:off x="896112" y="219456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600200" y="1965960"/>
            <a:ext cx="4114800" cy="411480"/>
          </a:xfrm>
          <a:prstGeom prst="rect">
            <a:avLst/>
          </a:prstGeom>
          <a:noFill/>
          <a:ln/>
        </p:spPr>
        <p:txBody>
          <a:bodyPr wrap="square" rtlCol="0" anchor="ctr"/>
          <a:lstStyle/>
          <a:p>
            <a:pPr indent="0" marL="0">
              <a:buNone/>
            </a:pPr>
            <a:r>
              <a:rPr lang="en-US" sz="1700" b="1" dirty="0">
                <a:solidFill>
                  <a:srgbClr val="173D1C"/>
                </a:solidFill>
                <a:latin typeface="Cambria" pitchFamily="34" charset="0"/>
                <a:ea typeface="Cambria" pitchFamily="34" charset="-122"/>
                <a:cs typeface="Cambria" pitchFamily="34" charset="-120"/>
              </a:rPr>
              <a:t>Background &amp; the problem</a:t>
            </a:r>
            <a:endParaRPr lang="en-US" sz="1700" dirty="0"/>
          </a:p>
        </p:txBody>
      </p:sp>
      <p:sp>
        <p:nvSpPr>
          <p:cNvPr id="8" name="Text 6"/>
          <p:cNvSpPr/>
          <p:nvPr/>
        </p:nvSpPr>
        <p:spPr>
          <a:xfrm>
            <a:off x="1600200" y="2404872"/>
            <a:ext cx="4114800" cy="548640"/>
          </a:xfrm>
          <a:prstGeom prst="rect">
            <a:avLst/>
          </a:prstGeom>
          <a:noFill/>
          <a:ln/>
        </p:spPr>
        <p:txBody>
          <a:bodyPr wrap="square" rtlCol="0" anchor="ctr"/>
          <a:lstStyle/>
          <a:p>
            <a:pPr indent="0" marL="0">
              <a:buNone/>
            </a:pPr>
            <a:r>
              <a:rPr lang="en-US" sz="1250" dirty="0">
                <a:solidFill>
                  <a:srgbClr val="6E6E66"/>
                </a:solidFill>
                <a:latin typeface="Calibri" pitchFamily="34" charset="0"/>
                <a:ea typeface="Calibri" pitchFamily="34" charset="-122"/>
                <a:cs typeface="Calibri" pitchFamily="34" charset="-120"/>
              </a:rPr>
              <a:t>Why coffee rust, and the diagnostic gap it creates</a:t>
            </a:r>
            <a:endParaRPr lang="en-US" sz="1250" dirty="0"/>
          </a:p>
        </p:txBody>
      </p:sp>
      <p:sp>
        <p:nvSpPr>
          <p:cNvPr id="9" name="Shape 7"/>
          <p:cNvSpPr/>
          <p:nvPr/>
        </p:nvSpPr>
        <p:spPr>
          <a:xfrm>
            <a:off x="6217920" y="1783080"/>
            <a:ext cx="5257800" cy="1325880"/>
          </a:xfrm>
          <a:prstGeom prst="roundRect">
            <a:avLst>
              <a:gd name="adj" fmla="val 620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0" name="Shape 8"/>
          <p:cNvSpPr/>
          <p:nvPr/>
        </p:nvSpPr>
        <p:spPr>
          <a:xfrm>
            <a:off x="6473952" y="2194560"/>
            <a:ext cx="502920" cy="502920"/>
          </a:xfrm>
          <a:prstGeom prst="ellipse">
            <a:avLst/>
          </a:prstGeom>
          <a:solidFill>
            <a:srgbClr val="6F4E37"/>
          </a:solidFill>
          <a:ln/>
        </p:spPr>
      </p:sp>
      <p:sp>
        <p:nvSpPr>
          <p:cNvPr id="11" name="Text 9"/>
          <p:cNvSpPr/>
          <p:nvPr/>
        </p:nvSpPr>
        <p:spPr>
          <a:xfrm>
            <a:off x="6473952" y="219456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178040" y="1965960"/>
            <a:ext cx="4114800" cy="411480"/>
          </a:xfrm>
          <a:prstGeom prst="rect">
            <a:avLst/>
          </a:prstGeom>
          <a:noFill/>
          <a:ln/>
        </p:spPr>
        <p:txBody>
          <a:bodyPr wrap="square" rtlCol="0" anchor="ctr"/>
          <a:lstStyle/>
          <a:p>
            <a:pPr indent="0" marL="0">
              <a:buNone/>
            </a:pPr>
            <a:r>
              <a:rPr lang="en-US" sz="1700" b="1" dirty="0">
                <a:solidFill>
                  <a:srgbClr val="173D1C"/>
                </a:solidFill>
                <a:latin typeface="Cambria" pitchFamily="34" charset="0"/>
                <a:ea typeface="Cambria" pitchFamily="34" charset="-122"/>
                <a:cs typeface="Cambria" pitchFamily="34" charset="-120"/>
              </a:rPr>
              <a:t>Aim &amp; objectives</a:t>
            </a:r>
            <a:endParaRPr lang="en-US" sz="1700" dirty="0"/>
          </a:p>
        </p:txBody>
      </p:sp>
      <p:sp>
        <p:nvSpPr>
          <p:cNvPr id="13" name="Text 11"/>
          <p:cNvSpPr/>
          <p:nvPr/>
        </p:nvSpPr>
        <p:spPr>
          <a:xfrm>
            <a:off x="7178040" y="2404872"/>
            <a:ext cx="4114800" cy="548640"/>
          </a:xfrm>
          <a:prstGeom prst="rect">
            <a:avLst/>
          </a:prstGeom>
          <a:noFill/>
          <a:ln/>
        </p:spPr>
        <p:txBody>
          <a:bodyPr wrap="square" rtlCol="0" anchor="ctr"/>
          <a:lstStyle/>
          <a:p>
            <a:pPr indent="0" marL="0">
              <a:buNone/>
            </a:pPr>
            <a:r>
              <a:rPr lang="en-US" sz="1250" dirty="0">
                <a:solidFill>
                  <a:srgbClr val="6E6E66"/>
                </a:solidFill>
                <a:latin typeface="Calibri" pitchFamily="34" charset="0"/>
                <a:ea typeface="Calibri" pitchFamily="34" charset="-122"/>
                <a:cs typeface="Calibri" pitchFamily="34" charset="-120"/>
              </a:rPr>
              <a:t>One aim, four measurable objectives</a:t>
            </a:r>
            <a:endParaRPr lang="en-US" sz="1250" dirty="0"/>
          </a:p>
        </p:txBody>
      </p:sp>
      <p:sp>
        <p:nvSpPr>
          <p:cNvPr id="14" name="Shape 12"/>
          <p:cNvSpPr/>
          <p:nvPr/>
        </p:nvSpPr>
        <p:spPr>
          <a:xfrm>
            <a:off x="640080" y="3429000"/>
            <a:ext cx="5257800" cy="1325880"/>
          </a:xfrm>
          <a:prstGeom prst="roundRect">
            <a:avLst>
              <a:gd name="adj" fmla="val 620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5" name="Shape 13"/>
          <p:cNvSpPr/>
          <p:nvPr/>
        </p:nvSpPr>
        <p:spPr>
          <a:xfrm>
            <a:off x="896112" y="3840480"/>
            <a:ext cx="502920" cy="502920"/>
          </a:xfrm>
          <a:prstGeom prst="ellipse">
            <a:avLst/>
          </a:prstGeom>
          <a:solidFill>
            <a:srgbClr val="2C5F2D"/>
          </a:solidFill>
          <a:ln/>
        </p:spPr>
      </p:sp>
      <p:sp>
        <p:nvSpPr>
          <p:cNvPr id="16" name="Text 14"/>
          <p:cNvSpPr/>
          <p:nvPr/>
        </p:nvSpPr>
        <p:spPr>
          <a:xfrm>
            <a:off x="896112" y="38404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600200" y="3611880"/>
            <a:ext cx="4114800" cy="411480"/>
          </a:xfrm>
          <a:prstGeom prst="rect">
            <a:avLst/>
          </a:prstGeom>
          <a:noFill/>
          <a:ln/>
        </p:spPr>
        <p:txBody>
          <a:bodyPr wrap="square" rtlCol="0" anchor="ctr"/>
          <a:lstStyle/>
          <a:p>
            <a:pPr indent="0" marL="0">
              <a:buNone/>
            </a:pPr>
            <a:r>
              <a:rPr lang="en-US" sz="1700" b="1" dirty="0">
                <a:solidFill>
                  <a:srgbClr val="173D1C"/>
                </a:solidFill>
                <a:latin typeface="Cambria" pitchFamily="34" charset="0"/>
                <a:ea typeface="Cambria" pitchFamily="34" charset="-122"/>
                <a:cs typeface="Cambria" pitchFamily="34" charset="-120"/>
              </a:rPr>
              <a:t>Related work &amp; the gap</a:t>
            </a:r>
            <a:endParaRPr lang="en-US" sz="1700" dirty="0"/>
          </a:p>
        </p:txBody>
      </p:sp>
      <p:sp>
        <p:nvSpPr>
          <p:cNvPr id="18" name="Text 16"/>
          <p:cNvSpPr/>
          <p:nvPr/>
        </p:nvSpPr>
        <p:spPr>
          <a:xfrm>
            <a:off x="1600200" y="4050792"/>
            <a:ext cx="4114800" cy="548640"/>
          </a:xfrm>
          <a:prstGeom prst="rect">
            <a:avLst/>
          </a:prstGeom>
          <a:noFill/>
          <a:ln/>
        </p:spPr>
        <p:txBody>
          <a:bodyPr wrap="square" rtlCol="0" anchor="ctr"/>
          <a:lstStyle/>
          <a:p>
            <a:pPr indent="0" marL="0">
              <a:buNone/>
            </a:pPr>
            <a:r>
              <a:rPr lang="en-US" sz="1250" dirty="0">
                <a:solidFill>
                  <a:srgbClr val="6E6E66"/>
                </a:solidFill>
                <a:latin typeface="Calibri" pitchFamily="34" charset="0"/>
                <a:ea typeface="Calibri" pitchFamily="34" charset="-122"/>
                <a:cs typeface="Calibri" pitchFamily="34" charset="-120"/>
              </a:rPr>
              <a:t>What exists, and the four gaps I fill</a:t>
            </a:r>
            <a:endParaRPr lang="en-US" sz="1250" dirty="0"/>
          </a:p>
        </p:txBody>
      </p:sp>
      <p:sp>
        <p:nvSpPr>
          <p:cNvPr id="19" name="Shape 17"/>
          <p:cNvSpPr/>
          <p:nvPr/>
        </p:nvSpPr>
        <p:spPr>
          <a:xfrm>
            <a:off x="6217920" y="3429000"/>
            <a:ext cx="5257800" cy="1325880"/>
          </a:xfrm>
          <a:prstGeom prst="roundRect">
            <a:avLst>
              <a:gd name="adj" fmla="val 620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0" name="Shape 18"/>
          <p:cNvSpPr/>
          <p:nvPr/>
        </p:nvSpPr>
        <p:spPr>
          <a:xfrm>
            <a:off x="6473952" y="3840480"/>
            <a:ext cx="502920" cy="502920"/>
          </a:xfrm>
          <a:prstGeom prst="ellipse">
            <a:avLst/>
          </a:prstGeom>
          <a:solidFill>
            <a:srgbClr val="6F4E37"/>
          </a:solidFill>
          <a:ln/>
        </p:spPr>
      </p:sp>
      <p:sp>
        <p:nvSpPr>
          <p:cNvPr id="21" name="Text 19"/>
          <p:cNvSpPr/>
          <p:nvPr/>
        </p:nvSpPr>
        <p:spPr>
          <a:xfrm>
            <a:off x="6473952" y="38404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178040" y="3611880"/>
            <a:ext cx="4114800" cy="411480"/>
          </a:xfrm>
          <a:prstGeom prst="rect">
            <a:avLst/>
          </a:prstGeom>
          <a:noFill/>
          <a:ln/>
        </p:spPr>
        <p:txBody>
          <a:bodyPr wrap="square" rtlCol="0" anchor="ctr"/>
          <a:lstStyle/>
          <a:p>
            <a:pPr indent="0" marL="0">
              <a:buNone/>
            </a:pPr>
            <a:r>
              <a:rPr lang="en-US" sz="1700" b="1" dirty="0">
                <a:solidFill>
                  <a:srgbClr val="173D1C"/>
                </a:solidFill>
                <a:latin typeface="Cambria" pitchFamily="34" charset="0"/>
                <a:ea typeface="Cambria" pitchFamily="34" charset="-122"/>
                <a:cs typeface="Cambria" pitchFamily="34" charset="-120"/>
              </a:rPr>
              <a:t>Methodology</a:t>
            </a:r>
            <a:endParaRPr lang="en-US" sz="1700" dirty="0"/>
          </a:p>
        </p:txBody>
      </p:sp>
      <p:sp>
        <p:nvSpPr>
          <p:cNvPr id="23" name="Text 21"/>
          <p:cNvSpPr/>
          <p:nvPr/>
        </p:nvSpPr>
        <p:spPr>
          <a:xfrm>
            <a:off x="7178040" y="4050792"/>
            <a:ext cx="4114800" cy="548640"/>
          </a:xfrm>
          <a:prstGeom prst="rect">
            <a:avLst/>
          </a:prstGeom>
          <a:noFill/>
          <a:ln/>
        </p:spPr>
        <p:txBody>
          <a:bodyPr wrap="square" rtlCol="0" anchor="ctr"/>
          <a:lstStyle/>
          <a:p>
            <a:pPr indent="0" marL="0">
              <a:buNone/>
            </a:pPr>
            <a:r>
              <a:rPr lang="en-US" sz="1250" dirty="0">
                <a:solidFill>
                  <a:srgbClr val="6E6E66"/>
                </a:solidFill>
                <a:latin typeface="Calibri" pitchFamily="34" charset="0"/>
                <a:ea typeface="Calibri" pitchFamily="34" charset="-122"/>
                <a:cs typeface="Calibri" pitchFamily="34" charset="-120"/>
              </a:rPr>
              <a:t>Prototyping model, data, design</a:t>
            </a:r>
            <a:endParaRPr lang="en-US" sz="1250" dirty="0"/>
          </a:p>
        </p:txBody>
      </p:sp>
      <p:sp>
        <p:nvSpPr>
          <p:cNvPr id="24" name="Shape 22"/>
          <p:cNvSpPr/>
          <p:nvPr/>
        </p:nvSpPr>
        <p:spPr>
          <a:xfrm>
            <a:off x="640080" y="5074920"/>
            <a:ext cx="5257800" cy="1325880"/>
          </a:xfrm>
          <a:prstGeom prst="roundRect">
            <a:avLst>
              <a:gd name="adj" fmla="val 620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5" name="Shape 23"/>
          <p:cNvSpPr/>
          <p:nvPr/>
        </p:nvSpPr>
        <p:spPr>
          <a:xfrm>
            <a:off x="896112" y="5486400"/>
            <a:ext cx="502920" cy="502920"/>
          </a:xfrm>
          <a:prstGeom prst="ellipse">
            <a:avLst/>
          </a:prstGeom>
          <a:solidFill>
            <a:srgbClr val="2C5F2D"/>
          </a:solidFill>
          <a:ln/>
        </p:spPr>
      </p:sp>
      <p:sp>
        <p:nvSpPr>
          <p:cNvPr id="26" name="Text 24"/>
          <p:cNvSpPr/>
          <p:nvPr/>
        </p:nvSpPr>
        <p:spPr>
          <a:xfrm>
            <a:off x="896112" y="548640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5"/>
          <p:cNvSpPr/>
          <p:nvPr/>
        </p:nvSpPr>
        <p:spPr>
          <a:xfrm>
            <a:off x="1600200" y="5257800"/>
            <a:ext cx="4114800" cy="411480"/>
          </a:xfrm>
          <a:prstGeom prst="rect">
            <a:avLst/>
          </a:prstGeom>
          <a:noFill/>
          <a:ln/>
        </p:spPr>
        <p:txBody>
          <a:bodyPr wrap="square" rtlCol="0" anchor="ctr"/>
          <a:lstStyle/>
          <a:p>
            <a:pPr indent="0" marL="0">
              <a:buNone/>
            </a:pPr>
            <a:r>
              <a:rPr lang="en-US" sz="1700" b="1" dirty="0">
                <a:solidFill>
                  <a:srgbClr val="173D1C"/>
                </a:solidFill>
                <a:latin typeface="Cambria" pitchFamily="34" charset="0"/>
                <a:ea typeface="Cambria" pitchFamily="34" charset="-122"/>
                <a:cs typeface="Cambria" pitchFamily="34" charset="-120"/>
              </a:rPr>
              <a:t>The system I built</a:t>
            </a:r>
            <a:endParaRPr lang="en-US" sz="1700" dirty="0"/>
          </a:p>
        </p:txBody>
      </p:sp>
      <p:sp>
        <p:nvSpPr>
          <p:cNvPr id="28" name="Text 26"/>
          <p:cNvSpPr/>
          <p:nvPr/>
        </p:nvSpPr>
        <p:spPr>
          <a:xfrm>
            <a:off x="1600200" y="5696712"/>
            <a:ext cx="4114800" cy="548640"/>
          </a:xfrm>
          <a:prstGeom prst="rect">
            <a:avLst/>
          </a:prstGeom>
          <a:noFill/>
          <a:ln/>
        </p:spPr>
        <p:txBody>
          <a:bodyPr wrap="square" rtlCol="0" anchor="ctr"/>
          <a:lstStyle/>
          <a:p>
            <a:pPr indent="0" marL="0">
              <a:buNone/>
            </a:pPr>
            <a:r>
              <a:rPr lang="en-US" sz="1250" dirty="0">
                <a:solidFill>
                  <a:srgbClr val="6E6E66"/>
                </a:solidFill>
                <a:latin typeface="Calibri" pitchFamily="34" charset="0"/>
                <a:ea typeface="Calibri" pitchFamily="34" charset="-122"/>
                <a:cs typeface="Calibri" pitchFamily="34" charset="-120"/>
              </a:rPr>
              <a:t>Model, advisory layer, deployment</a:t>
            </a:r>
            <a:endParaRPr lang="en-US" sz="1250" dirty="0"/>
          </a:p>
        </p:txBody>
      </p:sp>
      <p:sp>
        <p:nvSpPr>
          <p:cNvPr id="29" name="Shape 27"/>
          <p:cNvSpPr/>
          <p:nvPr/>
        </p:nvSpPr>
        <p:spPr>
          <a:xfrm>
            <a:off x="6217920" y="5074920"/>
            <a:ext cx="5257800" cy="1325880"/>
          </a:xfrm>
          <a:prstGeom prst="roundRect">
            <a:avLst>
              <a:gd name="adj" fmla="val 620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30" name="Shape 28"/>
          <p:cNvSpPr/>
          <p:nvPr/>
        </p:nvSpPr>
        <p:spPr>
          <a:xfrm>
            <a:off x="6473952" y="5486400"/>
            <a:ext cx="502920" cy="502920"/>
          </a:xfrm>
          <a:prstGeom prst="ellipse">
            <a:avLst/>
          </a:prstGeom>
          <a:solidFill>
            <a:srgbClr val="6F4E37"/>
          </a:solidFill>
          <a:ln/>
        </p:spPr>
      </p:sp>
      <p:sp>
        <p:nvSpPr>
          <p:cNvPr id="31" name="Text 29"/>
          <p:cNvSpPr/>
          <p:nvPr/>
        </p:nvSpPr>
        <p:spPr>
          <a:xfrm>
            <a:off x="6473952" y="548640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2" name="Text 30"/>
          <p:cNvSpPr/>
          <p:nvPr/>
        </p:nvSpPr>
        <p:spPr>
          <a:xfrm>
            <a:off x="7178040" y="5257800"/>
            <a:ext cx="4114800" cy="411480"/>
          </a:xfrm>
          <a:prstGeom prst="rect">
            <a:avLst/>
          </a:prstGeom>
          <a:noFill/>
          <a:ln/>
        </p:spPr>
        <p:txBody>
          <a:bodyPr wrap="square" rtlCol="0" anchor="ctr"/>
          <a:lstStyle/>
          <a:p>
            <a:pPr indent="0" marL="0">
              <a:buNone/>
            </a:pPr>
            <a:r>
              <a:rPr lang="en-US" sz="1700" b="1" dirty="0">
                <a:solidFill>
                  <a:srgbClr val="173D1C"/>
                </a:solidFill>
                <a:latin typeface="Cambria" pitchFamily="34" charset="0"/>
                <a:ea typeface="Cambria" pitchFamily="34" charset="-122"/>
                <a:cs typeface="Cambria" pitchFamily="34" charset="-120"/>
              </a:rPr>
              <a:t>Results, findings &amp; future work</a:t>
            </a:r>
            <a:endParaRPr lang="en-US" sz="1700" dirty="0"/>
          </a:p>
        </p:txBody>
      </p:sp>
      <p:sp>
        <p:nvSpPr>
          <p:cNvPr id="33" name="Text 31"/>
          <p:cNvSpPr/>
          <p:nvPr/>
        </p:nvSpPr>
        <p:spPr>
          <a:xfrm>
            <a:off x="7178040" y="5696712"/>
            <a:ext cx="4114800" cy="548640"/>
          </a:xfrm>
          <a:prstGeom prst="rect">
            <a:avLst/>
          </a:prstGeom>
          <a:noFill/>
          <a:ln/>
        </p:spPr>
        <p:txBody>
          <a:bodyPr wrap="square" rtlCol="0" anchor="ctr"/>
          <a:lstStyle/>
          <a:p>
            <a:pPr indent="0" marL="0">
              <a:buNone/>
            </a:pPr>
            <a:r>
              <a:rPr lang="en-US" sz="1250" dirty="0">
                <a:solidFill>
                  <a:srgbClr val="6E6E66"/>
                </a:solidFill>
                <a:latin typeface="Calibri" pitchFamily="34" charset="0"/>
                <a:ea typeface="Calibri" pitchFamily="34" charset="-122"/>
                <a:cs typeface="Calibri" pitchFamily="34" charset="-120"/>
              </a:rPr>
              <a:t>Testing, evaluation, and conclusions</a:t>
            </a:r>
            <a:endParaRPr lang="en-US" sz="1250" dirty="0"/>
          </a:p>
        </p:txBody>
      </p:sp>
      <p:sp>
        <p:nvSpPr>
          <p:cNvPr id="34" name="Text 32"/>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35" name="Text 33"/>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BACKGROUND &amp; MOTIVATION</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Coffee matters to Kenya — rust threatens it</a:t>
            </a:r>
            <a:endParaRPr lang="en-US" sz="3000" dirty="0"/>
          </a:p>
        </p:txBody>
      </p:sp>
      <p:sp>
        <p:nvSpPr>
          <p:cNvPr id="4" name="Text 2"/>
          <p:cNvSpPr/>
          <p:nvPr/>
        </p:nvSpPr>
        <p:spPr>
          <a:xfrm>
            <a:off x="640080" y="1783080"/>
            <a:ext cx="2926080" cy="548640"/>
          </a:xfrm>
          <a:prstGeom prst="rect">
            <a:avLst/>
          </a:prstGeom>
          <a:noFill/>
          <a:ln/>
        </p:spPr>
        <p:txBody>
          <a:bodyPr wrap="square" rtlCol="0" anchor="ctr"/>
          <a:lstStyle/>
          <a:p>
            <a:pPr algn="l" indent="0" marL="0">
              <a:buNone/>
            </a:pPr>
            <a:r>
              <a:rPr lang="en-US" sz="3300" b="1" dirty="0">
                <a:solidFill>
                  <a:srgbClr val="2C5F2D"/>
                </a:solidFill>
                <a:latin typeface="Cambria" pitchFamily="34" charset="0"/>
                <a:ea typeface="Cambria" pitchFamily="34" charset="-122"/>
                <a:cs typeface="Cambria" pitchFamily="34" charset="-120"/>
              </a:rPr>
              <a:t>~700,000</a:t>
            </a:r>
            <a:endParaRPr lang="en-US" sz="3300" dirty="0"/>
          </a:p>
        </p:txBody>
      </p:sp>
      <p:sp>
        <p:nvSpPr>
          <p:cNvPr id="5" name="Text 3"/>
          <p:cNvSpPr/>
          <p:nvPr/>
        </p:nvSpPr>
        <p:spPr>
          <a:xfrm>
            <a:off x="3611880" y="1801368"/>
            <a:ext cx="2651760" cy="777240"/>
          </a:xfrm>
          <a:prstGeom prst="rect">
            <a:avLst/>
          </a:prstGeom>
          <a:noFill/>
          <a:ln/>
        </p:spPr>
        <p:txBody>
          <a:bodyPr wrap="square" rtlCol="0" anchor="ctr"/>
          <a:lstStyle/>
          <a:p>
            <a:pPr indent="0" marL="0">
              <a:buNone/>
            </a:pPr>
            <a:r>
              <a:rPr lang="en-US" sz="1250" dirty="0">
                <a:solidFill>
                  <a:srgbClr val="24261F"/>
                </a:solidFill>
                <a:latin typeface="Calibri" pitchFamily="34" charset="0"/>
                <a:ea typeface="Calibri" pitchFamily="34" charset="-122"/>
                <a:cs typeface="Calibri" pitchFamily="34" charset="-120"/>
              </a:rPr>
              <a:t>smallholder coffee households, in 530+ cooperative societies</a:t>
            </a:r>
            <a:endParaRPr lang="en-US" sz="1250" dirty="0"/>
          </a:p>
        </p:txBody>
      </p:sp>
      <p:sp>
        <p:nvSpPr>
          <p:cNvPr id="6" name="Text 4"/>
          <p:cNvSpPr/>
          <p:nvPr/>
        </p:nvSpPr>
        <p:spPr>
          <a:xfrm>
            <a:off x="640080" y="2788920"/>
            <a:ext cx="2926080" cy="548640"/>
          </a:xfrm>
          <a:prstGeom prst="rect">
            <a:avLst/>
          </a:prstGeom>
          <a:noFill/>
          <a:ln/>
        </p:spPr>
        <p:txBody>
          <a:bodyPr wrap="square" rtlCol="0" anchor="ctr"/>
          <a:lstStyle/>
          <a:p>
            <a:pPr algn="l" indent="0" marL="0">
              <a:buNone/>
            </a:pPr>
            <a:r>
              <a:rPr lang="en-US" sz="3300" b="1" dirty="0">
                <a:solidFill>
                  <a:srgbClr val="B85C2E"/>
                </a:solidFill>
                <a:latin typeface="Cambria" pitchFamily="34" charset="0"/>
                <a:ea typeface="Cambria" pitchFamily="34" charset="-122"/>
                <a:cs typeface="Cambria" pitchFamily="34" charset="-120"/>
              </a:rPr>
              <a:t>30–70%</a:t>
            </a:r>
            <a:endParaRPr lang="en-US" sz="3300" dirty="0"/>
          </a:p>
        </p:txBody>
      </p:sp>
      <p:sp>
        <p:nvSpPr>
          <p:cNvPr id="7" name="Text 5"/>
          <p:cNvSpPr/>
          <p:nvPr/>
        </p:nvSpPr>
        <p:spPr>
          <a:xfrm>
            <a:off x="3611880" y="2807208"/>
            <a:ext cx="2651760" cy="777240"/>
          </a:xfrm>
          <a:prstGeom prst="rect">
            <a:avLst/>
          </a:prstGeom>
          <a:noFill/>
          <a:ln/>
        </p:spPr>
        <p:txBody>
          <a:bodyPr wrap="square" rtlCol="0" anchor="ctr"/>
          <a:lstStyle/>
          <a:p>
            <a:pPr indent="0" marL="0">
              <a:buNone/>
            </a:pPr>
            <a:r>
              <a:rPr lang="en-US" sz="1250" dirty="0">
                <a:solidFill>
                  <a:srgbClr val="24261F"/>
                </a:solidFill>
                <a:latin typeface="Calibri" pitchFamily="34" charset="0"/>
                <a:ea typeface="Calibri" pitchFamily="34" charset="-122"/>
                <a:cs typeface="Calibri" pitchFamily="34" charset="-120"/>
              </a:rPr>
              <a:t>yield loss in plots severely infected by leaf rust</a:t>
            </a:r>
            <a:endParaRPr lang="en-US" sz="1250" dirty="0"/>
          </a:p>
        </p:txBody>
      </p:sp>
      <p:sp>
        <p:nvSpPr>
          <p:cNvPr id="8" name="Text 6"/>
          <p:cNvSpPr/>
          <p:nvPr/>
        </p:nvSpPr>
        <p:spPr>
          <a:xfrm>
            <a:off x="640080" y="3794760"/>
            <a:ext cx="2926080" cy="548640"/>
          </a:xfrm>
          <a:prstGeom prst="rect">
            <a:avLst/>
          </a:prstGeom>
          <a:noFill/>
          <a:ln/>
        </p:spPr>
        <p:txBody>
          <a:bodyPr wrap="square" rtlCol="0" anchor="ctr"/>
          <a:lstStyle/>
          <a:p>
            <a:pPr algn="l" indent="0" marL="0">
              <a:buNone/>
            </a:pPr>
            <a:r>
              <a:rPr lang="en-US" sz="3300" b="1" dirty="0">
                <a:solidFill>
                  <a:srgbClr val="6F4E37"/>
                </a:solidFill>
                <a:latin typeface="Cambria" pitchFamily="34" charset="0"/>
                <a:ea typeface="Cambria" pitchFamily="34" charset="-122"/>
                <a:cs typeface="Cambria" pitchFamily="34" charset="-120"/>
              </a:rPr>
              <a:t>10–14 days</a:t>
            </a:r>
            <a:endParaRPr lang="en-US" sz="3300" dirty="0"/>
          </a:p>
        </p:txBody>
      </p:sp>
      <p:sp>
        <p:nvSpPr>
          <p:cNvPr id="9" name="Text 7"/>
          <p:cNvSpPr/>
          <p:nvPr/>
        </p:nvSpPr>
        <p:spPr>
          <a:xfrm>
            <a:off x="3611880" y="3813048"/>
            <a:ext cx="2651760" cy="777240"/>
          </a:xfrm>
          <a:prstGeom prst="rect">
            <a:avLst/>
          </a:prstGeom>
          <a:noFill/>
          <a:ln/>
        </p:spPr>
        <p:txBody>
          <a:bodyPr wrap="square" rtlCol="0" anchor="ctr"/>
          <a:lstStyle/>
          <a:p>
            <a:pPr indent="0" marL="0">
              <a:buNone/>
            </a:pPr>
            <a:r>
              <a:rPr lang="en-US" sz="1250" dirty="0">
                <a:solidFill>
                  <a:srgbClr val="24261F"/>
                </a:solidFill>
                <a:latin typeface="Calibri" pitchFamily="34" charset="0"/>
                <a:ea typeface="Calibri" pitchFamily="34" charset="-122"/>
                <a:cs typeface="Calibri" pitchFamily="34" charset="-120"/>
              </a:rPr>
              <a:t>rust latent period — faster than the current diagnosis chain</a:t>
            </a:r>
            <a:endParaRPr lang="en-US" sz="1250" dirty="0"/>
          </a:p>
        </p:txBody>
      </p:sp>
      <p:sp>
        <p:nvSpPr>
          <p:cNvPr id="10" name="Text 8"/>
          <p:cNvSpPr/>
          <p:nvPr/>
        </p:nvSpPr>
        <p:spPr>
          <a:xfrm>
            <a:off x="640080" y="4892040"/>
            <a:ext cx="5577840" cy="731520"/>
          </a:xfrm>
          <a:prstGeom prst="rect">
            <a:avLst/>
          </a:prstGeom>
          <a:noFill/>
          <a:ln/>
        </p:spPr>
        <p:txBody>
          <a:bodyPr wrap="square" rtlCol="0" anchor="ctr"/>
          <a:lstStyle/>
          <a:p>
            <a:pPr indent="0" marL="0">
              <a:buNone/>
            </a:pPr>
            <a:r>
              <a:rPr lang="en-US" sz="1300" i="1" dirty="0">
                <a:solidFill>
                  <a:srgbClr val="6E6E66"/>
                </a:solidFill>
                <a:latin typeface="Calibri" pitchFamily="34" charset="0"/>
                <a:ea typeface="Calibri" pitchFamily="34" charset="-122"/>
                <a:cs typeface="Calibri" pitchFamily="34" charset="-120"/>
              </a:rPr>
              <a:t>Caused by the fungus Hemileia vastatrix — the single most damaging disease in Kenyan Arabica.</a:t>
            </a:r>
            <a:endParaRPr lang="en-US" sz="1300" dirty="0"/>
          </a:p>
        </p:txBody>
      </p:sp>
      <p:sp>
        <p:nvSpPr>
          <p:cNvPr id="11" name="Shape 9"/>
          <p:cNvSpPr/>
          <p:nvPr/>
        </p:nvSpPr>
        <p:spPr>
          <a:xfrm>
            <a:off x="6583680" y="1737360"/>
            <a:ext cx="4983480" cy="4160520"/>
          </a:xfrm>
          <a:prstGeom prst="roundRect">
            <a:avLst>
              <a:gd name="adj" fmla="val 1978"/>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2" name="Text 10"/>
          <p:cNvSpPr/>
          <p:nvPr/>
        </p:nvSpPr>
        <p:spPr>
          <a:xfrm>
            <a:off x="6812280" y="1874520"/>
            <a:ext cx="4572000" cy="365760"/>
          </a:xfrm>
          <a:prstGeom prst="rect">
            <a:avLst/>
          </a:prstGeom>
          <a:noFill/>
          <a:ln/>
        </p:spPr>
        <p:txBody>
          <a:bodyPr wrap="square" rtlCol="0" anchor="ctr"/>
          <a:lstStyle/>
          <a:p>
            <a:pPr indent="0" marL="0">
              <a:buNone/>
            </a:pPr>
            <a:r>
              <a:rPr lang="en-US" sz="1250" b="1" dirty="0">
                <a:solidFill>
                  <a:srgbClr val="173D1C"/>
                </a:solidFill>
                <a:latin typeface="Calibri" pitchFamily="34" charset="0"/>
                <a:ea typeface="Calibri" pitchFamily="34" charset="-122"/>
                <a:cs typeface="Calibri" pitchFamily="34" charset="-120"/>
              </a:rPr>
              <a:t>Kenya clean-coffee production value (KES bn)</a:t>
            </a:r>
            <a:endParaRPr lang="en-US" sz="1250" dirty="0"/>
          </a:p>
        </p:txBody>
      </p:sp>
      <p:graphicFrame>
        <p:nvGraphicFramePr>
          <p:cNvPr id="13" name="Chart 0" descr=""/>
          <p:cNvGraphicFramePr/>
          <p:nvPr/>
        </p:nvGraphicFramePr>
        <p:xfrm>
          <a:off x="6720840" y="2286000"/>
          <a:ext cx="4709160" cy="35204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15" name="Text 12"/>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A diagnostic gap the farmer cannot close</a:t>
            </a:r>
            <a:endParaRPr lang="en-US" sz="3000" dirty="0"/>
          </a:p>
        </p:txBody>
      </p:sp>
      <p:sp>
        <p:nvSpPr>
          <p:cNvPr id="4" name="Shape 2"/>
          <p:cNvSpPr/>
          <p:nvPr/>
        </p:nvSpPr>
        <p:spPr>
          <a:xfrm>
            <a:off x="640080" y="1783080"/>
            <a:ext cx="2743200" cy="1051560"/>
          </a:xfrm>
          <a:prstGeom prst="roundRect">
            <a:avLst>
              <a:gd name="adj" fmla="val 7826"/>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5" name="Text 3"/>
          <p:cNvSpPr/>
          <p:nvPr/>
        </p:nvSpPr>
        <p:spPr>
          <a:xfrm>
            <a:off x="777240" y="1901952"/>
            <a:ext cx="2468880" cy="32004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Farmer</a:t>
            </a:r>
            <a:endParaRPr lang="en-US" sz="1500" dirty="0"/>
          </a:p>
        </p:txBody>
      </p:sp>
      <p:sp>
        <p:nvSpPr>
          <p:cNvPr id="6" name="Text 4"/>
          <p:cNvSpPr/>
          <p:nvPr/>
        </p:nvSpPr>
        <p:spPr>
          <a:xfrm>
            <a:off x="777240" y="2240280"/>
            <a:ext cx="2468880" cy="548640"/>
          </a:xfrm>
          <a:prstGeom prst="rect">
            <a:avLst/>
          </a:prstGeom>
          <a:noFill/>
          <a:ln/>
        </p:spPr>
        <p:txBody>
          <a:bodyPr wrap="square" rtlCol="0" anchor="ctr"/>
          <a:lstStyle/>
          <a:p>
            <a:pPr indent="0" marL="0">
              <a:buNone/>
            </a:pPr>
            <a:r>
              <a:rPr lang="en-US" sz="1100" dirty="0">
                <a:solidFill>
                  <a:srgbClr val="6E6E66"/>
                </a:solidFill>
                <a:latin typeface="Calibri" pitchFamily="34" charset="0"/>
                <a:ea typeface="Calibri" pitchFamily="34" charset="-122"/>
                <a:cs typeface="Calibri" pitchFamily="34" charset="-120"/>
              </a:rPr>
              <a:t>naked-eye check,</a:t>
            </a:r>
            <a:endParaRPr lang="en-US" sz="1100" dirty="0"/>
          </a:p>
          <a:p>
            <a:pPr indent="0" marL="0">
              <a:buNone/>
            </a:pPr>
            <a:r>
              <a:rPr lang="en-US" sz="1100" dirty="0">
                <a:solidFill>
                  <a:srgbClr val="6E6E66"/>
                </a:solidFill>
                <a:latin typeface="Calibri" pitchFamily="34" charset="0"/>
                <a:ea typeface="Calibri" pitchFamily="34" charset="-122"/>
                <a:cs typeface="Calibri" pitchFamily="34" charset="-120"/>
              </a:rPr>
              <a:t>limited training</a:t>
            </a:r>
            <a:endParaRPr lang="en-US" sz="1100" dirty="0"/>
          </a:p>
        </p:txBody>
      </p:sp>
      <p:sp>
        <p:nvSpPr>
          <p:cNvPr id="7" name="Text 5"/>
          <p:cNvSpPr/>
          <p:nvPr/>
        </p:nvSpPr>
        <p:spPr>
          <a:xfrm>
            <a:off x="2880360" y="1874520"/>
            <a:ext cx="502920" cy="914400"/>
          </a:xfrm>
          <a:prstGeom prst="rect">
            <a:avLst/>
          </a:prstGeom>
          <a:noFill/>
          <a:ln/>
        </p:spPr>
        <p:txBody>
          <a:bodyPr wrap="square" rtlCol="0" anchor="ctr"/>
          <a:lstStyle/>
          <a:p>
            <a:pPr algn="ctr" indent="0" marL="0">
              <a:buNone/>
            </a:pPr>
            <a:r>
              <a:rPr lang="en-US" sz="2600" b="1" dirty="0">
                <a:solidFill>
                  <a:srgbClr val="B85C2E"/>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383280" y="1783080"/>
            <a:ext cx="2743200" cy="1051560"/>
          </a:xfrm>
          <a:prstGeom prst="roundRect">
            <a:avLst>
              <a:gd name="adj" fmla="val 7826"/>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9" name="Text 7"/>
          <p:cNvSpPr/>
          <p:nvPr/>
        </p:nvSpPr>
        <p:spPr>
          <a:xfrm>
            <a:off x="3520440" y="1901952"/>
            <a:ext cx="2468880" cy="32004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Field officer</a:t>
            </a:r>
            <a:endParaRPr lang="en-US" sz="1500" dirty="0"/>
          </a:p>
        </p:txBody>
      </p:sp>
      <p:sp>
        <p:nvSpPr>
          <p:cNvPr id="10" name="Text 8"/>
          <p:cNvSpPr/>
          <p:nvPr/>
        </p:nvSpPr>
        <p:spPr>
          <a:xfrm>
            <a:off x="3520440" y="2240280"/>
            <a:ext cx="2468880" cy="548640"/>
          </a:xfrm>
          <a:prstGeom prst="rect">
            <a:avLst/>
          </a:prstGeom>
          <a:noFill/>
          <a:ln/>
        </p:spPr>
        <p:txBody>
          <a:bodyPr wrap="square" rtlCol="0" anchor="ctr"/>
          <a:lstStyle/>
          <a:p>
            <a:pPr indent="0" marL="0">
              <a:buNone/>
            </a:pPr>
            <a:r>
              <a:rPr lang="en-US" sz="1100" dirty="0">
                <a:solidFill>
                  <a:srgbClr val="6E6E66"/>
                </a:solidFill>
                <a:latin typeface="Calibri" pitchFamily="34" charset="0"/>
                <a:ea typeface="Calibri" pitchFamily="34" charset="-122"/>
                <a:cs typeface="Calibri" pitchFamily="34" charset="-120"/>
              </a:rPr>
              <a:t>few officers,</a:t>
            </a:r>
            <a:endParaRPr lang="en-US" sz="1100" dirty="0"/>
          </a:p>
          <a:p>
            <a:pPr indent="0" marL="0">
              <a:buNone/>
            </a:pPr>
            <a:r>
              <a:rPr lang="en-US" sz="1100" dirty="0">
                <a:solidFill>
                  <a:srgbClr val="6E6E66"/>
                </a:solidFill>
                <a:latin typeface="Calibri" pitchFamily="34" charset="0"/>
                <a:ea typeface="Calibri" pitchFamily="34" charset="-122"/>
                <a:cs typeface="Calibri" pitchFamily="34" charset="-120"/>
              </a:rPr>
              <a:t>cannot reach all</a:t>
            </a:r>
            <a:endParaRPr lang="en-US" sz="1100" dirty="0"/>
          </a:p>
        </p:txBody>
      </p:sp>
      <p:sp>
        <p:nvSpPr>
          <p:cNvPr id="11" name="Text 9"/>
          <p:cNvSpPr/>
          <p:nvPr/>
        </p:nvSpPr>
        <p:spPr>
          <a:xfrm>
            <a:off x="5623560" y="1874520"/>
            <a:ext cx="502920" cy="914400"/>
          </a:xfrm>
          <a:prstGeom prst="rect">
            <a:avLst/>
          </a:prstGeom>
          <a:noFill/>
          <a:ln/>
        </p:spPr>
        <p:txBody>
          <a:bodyPr wrap="square" rtlCol="0" anchor="ctr"/>
          <a:lstStyle/>
          <a:p>
            <a:pPr algn="ctr" indent="0" marL="0">
              <a:buNone/>
            </a:pPr>
            <a:r>
              <a:rPr lang="en-US" sz="2600" b="1" dirty="0">
                <a:solidFill>
                  <a:srgbClr val="B85C2E"/>
                </a:solidFill>
                <a:latin typeface="Calibri" pitchFamily="34" charset="0"/>
                <a:ea typeface="Calibri" pitchFamily="34" charset="-122"/>
                <a:cs typeface="Calibri" pitchFamily="34" charset="-120"/>
              </a:rPr>
              <a:t>→</a:t>
            </a:r>
            <a:endParaRPr lang="en-US" sz="2600" dirty="0"/>
          </a:p>
        </p:txBody>
      </p:sp>
      <p:sp>
        <p:nvSpPr>
          <p:cNvPr id="12" name="Shape 10"/>
          <p:cNvSpPr/>
          <p:nvPr/>
        </p:nvSpPr>
        <p:spPr>
          <a:xfrm>
            <a:off x="6126480" y="1783080"/>
            <a:ext cx="2743200" cy="1051560"/>
          </a:xfrm>
          <a:prstGeom prst="roundRect">
            <a:avLst>
              <a:gd name="adj" fmla="val 7826"/>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3" name="Text 11"/>
          <p:cNvSpPr/>
          <p:nvPr/>
        </p:nvSpPr>
        <p:spPr>
          <a:xfrm>
            <a:off x="6263640" y="1901952"/>
            <a:ext cx="2468880" cy="32004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Research station</a:t>
            </a:r>
            <a:endParaRPr lang="en-US" sz="1500" dirty="0"/>
          </a:p>
        </p:txBody>
      </p:sp>
      <p:sp>
        <p:nvSpPr>
          <p:cNvPr id="14" name="Text 12"/>
          <p:cNvSpPr/>
          <p:nvPr/>
        </p:nvSpPr>
        <p:spPr>
          <a:xfrm>
            <a:off x="6263640" y="2240280"/>
            <a:ext cx="2468880" cy="548640"/>
          </a:xfrm>
          <a:prstGeom prst="rect">
            <a:avLst/>
          </a:prstGeom>
          <a:noFill/>
          <a:ln/>
        </p:spPr>
        <p:txBody>
          <a:bodyPr wrap="square" rtlCol="0" anchor="ctr"/>
          <a:lstStyle/>
          <a:p>
            <a:pPr indent="0" marL="0">
              <a:buNone/>
            </a:pPr>
            <a:r>
              <a:rPr lang="en-US" sz="1100" dirty="0">
                <a:solidFill>
                  <a:srgbClr val="6E6E66"/>
                </a:solidFill>
                <a:latin typeface="Calibri" pitchFamily="34" charset="0"/>
                <a:ea typeface="Calibri" pitchFamily="34" charset="-122"/>
                <a:cs typeface="Calibri" pitchFamily="34" charset="-120"/>
              </a:rPr>
              <a:t>rare, slow</a:t>
            </a:r>
            <a:endParaRPr lang="en-US" sz="1100" dirty="0"/>
          </a:p>
          <a:p>
            <a:pPr indent="0" marL="0">
              <a:buNone/>
            </a:pPr>
            <a:r>
              <a:rPr lang="en-US" sz="1100" dirty="0">
                <a:solidFill>
                  <a:srgbClr val="6E6E66"/>
                </a:solidFill>
                <a:latin typeface="Calibri" pitchFamily="34" charset="0"/>
                <a:ea typeface="Calibri" pitchFamily="34" charset="-122"/>
                <a:cs typeface="Calibri" pitchFamily="34" charset="-120"/>
              </a:rPr>
              <a:t>escalation</a:t>
            </a:r>
            <a:endParaRPr lang="en-US" sz="1100" dirty="0"/>
          </a:p>
        </p:txBody>
      </p:sp>
      <p:sp>
        <p:nvSpPr>
          <p:cNvPr id="15" name="Text 13"/>
          <p:cNvSpPr/>
          <p:nvPr/>
        </p:nvSpPr>
        <p:spPr>
          <a:xfrm>
            <a:off x="640080" y="3017520"/>
            <a:ext cx="7772400" cy="640080"/>
          </a:xfrm>
          <a:prstGeom prst="rect">
            <a:avLst/>
          </a:prstGeom>
          <a:noFill/>
          <a:ln/>
        </p:spPr>
        <p:txBody>
          <a:bodyPr wrap="square" rtlCol="0" anchor="ctr"/>
          <a:lstStyle/>
          <a:p>
            <a:pPr indent="0" marL="0">
              <a:buNone/>
            </a:pPr>
            <a:r>
              <a:rPr lang="en-US" sz="1350" dirty="0">
                <a:solidFill>
                  <a:srgbClr val="24261F"/>
                </a:solidFill>
                <a:latin typeface="Calibri" pitchFamily="34" charset="0"/>
                <a:ea typeface="Calibri" pitchFamily="34" charset="-122"/>
                <a:cs typeface="Calibri" pitchFamily="34" charset="-120"/>
              </a:rPr>
              <a:t>Every step takes time — and the total exceeds the 10–14 day latent period. By the time rust is named, it has spread and the season's loss is largely irreversible.</a:t>
            </a:r>
            <a:endParaRPr lang="en-US" sz="1350" dirty="0"/>
          </a:p>
        </p:txBody>
      </p:sp>
      <p:sp>
        <p:nvSpPr>
          <p:cNvPr id="16" name="Text 14"/>
          <p:cNvSpPr/>
          <p:nvPr/>
        </p:nvSpPr>
        <p:spPr>
          <a:xfrm>
            <a:off x="640080" y="3794760"/>
            <a:ext cx="10881360" cy="320040"/>
          </a:xfrm>
          <a:prstGeom prst="rect">
            <a:avLst/>
          </a:prstGeom>
          <a:noFill/>
          <a:ln/>
        </p:spPr>
        <p:txBody>
          <a:bodyPr wrap="square" rtlCol="0" anchor="ctr"/>
          <a:lstStyle/>
          <a:p>
            <a:pPr indent="0" marL="0">
              <a:buNone/>
            </a:pPr>
            <a:r>
              <a:rPr lang="en-US" sz="1600" b="1" dirty="0">
                <a:solidFill>
                  <a:srgbClr val="6F4E37"/>
                </a:solidFill>
                <a:latin typeface="Cambria" pitchFamily="34" charset="0"/>
                <a:ea typeface="Cambria" pitchFamily="34" charset="-122"/>
                <a:cs typeface="Cambria" pitchFamily="34" charset="-120"/>
              </a:rPr>
              <a:t>Why existing AI tools don't close it either:</a:t>
            </a:r>
            <a:endParaRPr lang="en-US" sz="1600" dirty="0"/>
          </a:p>
        </p:txBody>
      </p:sp>
      <p:sp>
        <p:nvSpPr>
          <p:cNvPr id="17" name="Shape 15"/>
          <p:cNvSpPr/>
          <p:nvPr/>
        </p:nvSpPr>
        <p:spPr>
          <a:xfrm>
            <a:off x="640080" y="4206240"/>
            <a:ext cx="3502152" cy="1600200"/>
          </a:xfrm>
          <a:prstGeom prst="roundRect">
            <a:avLst>
              <a:gd name="adj" fmla="val 5143"/>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8" name="Text 16"/>
          <p:cNvSpPr/>
          <p:nvPr/>
        </p:nvSpPr>
        <p:spPr>
          <a:xfrm>
            <a:off x="822960" y="4343400"/>
            <a:ext cx="3200400" cy="365760"/>
          </a:xfrm>
          <a:prstGeom prst="rect">
            <a:avLst/>
          </a:prstGeom>
          <a:noFill/>
          <a:ln/>
        </p:spPr>
        <p:txBody>
          <a:bodyPr wrap="square" rtlCol="0" anchor="ctr"/>
          <a:lstStyle/>
          <a:p>
            <a:pPr indent="0" marL="0">
              <a:buNone/>
            </a:pPr>
            <a:r>
              <a:rPr lang="en-US" sz="1500" b="1" dirty="0">
                <a:solidFill>
                  <a:srgbClr val="B85C2E"/>
                </a:solidFill>
                <a:latin typeface="Cambria" pitchFamily="34" charset="0"/>
                <a:ea typeface="Cambria" pitchFamily="34" charset="-122"/>
                <a:cs typeface="Cambria" pitchFamily="34" charset="-120"/>
              </a:rPr>
              <a:t>Wrong data</a:t>
            </a:r>
            <a:endParaRPr lang="en-US" sz="1500" dirty="0"/>
          </a:p>
        </p:txBody>
      </p:sp>
      <p:sp>
        <p:nvSpPr>
          <p:cNvPr id="19" name="Text 17"/>
          <p:cNvSpPr/>
          <p:nvPr/>
        </p:nvSpPr>
        <p:spPr>
          <a:xfrm>
            <a:off x="822960" y="4754880"/>
            <a:ext cx="3200400" cy="96012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Trained on PlantVillage / small private sets — not the visual variability of shaded Kenyan farms</a:t>
            </a:r>
            <a:endParaRPr lang="en-US" sz="1200" dirty="0"/>
          </a:p>
        </p:txBody>
      </p:sp>
      <p:sp>
        <p:nvSpPr>
          <p:cNvPr id="20" name="Shape 18"/>
          <p:cNvSpPr/>
          <p:nvPr/>
        </p:nvSpPr>
        <p:spPr>
          <a:xfrm>
            <a:off x="4325112" y="4206240"/>
            <a:ext cx="3502152" cy="1600200"/>
          </a:xfrm>
          <a:prstGeom prst="roundRect">
            <a:avLst>
              <a:gd name="adj" fmla="val 5143"/>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1" name="Text 19"/>
          <p:cNvSpPr/>
          <p:nvPr/>
        </p:nvSpPr>
        <p:spPr>
          <a:xfrm>
            <a:off x="4507992" y="4343400"/>
            <a:ext cx="3200400" cy="365760"/>
          </a:xfrm>
          <a:prstGeom prst="rect">
            <a:avLst/>
          </a:prstGeom>
          <a:noFill/>
          <a:ln/>
        </p:spPr>
        <p:txBody>
          <a:bodyPr wrap="square" rtlCol="0" anchor="ctr"/>
          <a:lstStyle/>
          <a:p>
            <a:pPr indent="0" marL="0">
              <a:buNone/>
            </a:pPr>
            <a:r>
              <a:rPr lang="en-US" sz="1500" b="1" dirty="0">
                <a:solidFill>
                  <a:srgbClr val="B85C2E"/>
                </a:solidFill>
                <a:latin typeface="Cambria" pitchFamily="34" charset="0"/>
                <a:ea typeface="Cambria" pitchFamily="34" charset="-122"/>
                <a:cs typeface="Cambria" pitchFamily="34" charset="-120"/>
              </a:rPr>
              <a:t>Wrong access</a:t>
            </a:r>
            <a:endParaRPr lang="en-US" sz="1500" dirty="0"/>
          </a:p>
        </p:txBody>
      </p:sp>
      <p:sp>
        <p:nvSpPr>
          <p:cNvPr id="22" name="Text 20"/>
          <p:cNvSpPr/>
          <p:nvPr/>
        </p:nvSpPr>
        <p:spPr>
          <a:xfrm>
            <a:off x="4507992" y="4754880"/>
            <a:ext cx="3200400" cy="96012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Need constant internet or assume digital literacy smallholders may not have</a:t>
            </a:r>
            <a:endParaRPr lang="en-US" sz="1200" dirty="0"/>
          </a:p>
        </p:txBody>
      </p:sp>
      <p:sp>
        <p:nvSpPr>
          <p:cNvPr id="23" name="Shape 21"/>
          <p:cNvSpPr/>
          <p:nvPr/>
        </p:nvSpPr>
        <p:spPr>
          <a:xfrm>
            <a:off x="8010144" y="4206240"/>
            <a:ext cx="3502152" cy="1600200"/>
          </a:xfrm>
          <a:prstGeom prst="roundRect">
            <a:avLst>
              <a:gd name="adj" fmla="val 5143"/>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4" name="Text 22"/>
          <p:cNvSpPr/>
          <p:nvPr/>
        </p:nvSpPr>
        <p:spPr>
          <a:xfrm>
            <a:off x="8193024" y="4343400"/>
            <a:ext cx="3200400" cy="365760"/>
          </a:xfrm>
          <a:prstGeom prst="rect">
            <a:avLst/>
          </a:prstGeom>
          <a:noFill/>
          <a:ln/>
        </p:spPr>
        <p:txBody>
          <a:bodyPr wrap="square" rtlCol="0" anchor="ctr"/>
          <a:lstStyle/>
          <a:p>
            <a:pPr indent="0" marL="0">
              <a:buNone/>
            </a:pPr>
            <a:r>
              <a:rPr lang="en-US" sz="1500" b="1" dirty="0">
                <a:solidFill>
                  <a:srgbClr val="B85C2E"/>
                </a:solidFill>
                <a:latin typeface="Cambria" pitchFamily="34" charset="0"/>
                <a:ea typeface="Cambria" pitchFamily="34" charset="-122"/>
                <a:cs typeface="Cambria" pitchFamily="34" charset="-120"/>
              </a:rPr>
              <a:t>Wrong question</a:t>
            </a:r>
            <a:endParaRPr lang="en-US" sz="1500" dirty="0"/>
          </a:p>
        </p:txBody>
      </p:sp>
      <p:sp>
        <p:nvSpPr>
          <p:cNvPr id="25" name="Text 23"/>
          <p:cNvSpPr/>
          <p:nvPr/>
        </p:nvSpPr>
        <p:spPr>
          <a:xfrm>
            <a:off x="8193024" y="4754880"/>
            <a:ext cx="3200400" cy="96012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Multi-class outputs, not the binary 'spray or not' decision the farmer actually makes</a:t>
            </a:r>
            <a:endParaRPr lang="en-US" sz="1200" dirty="0"/>
          </a:p>
        </p:txBody>
      </p:sp>
      <p:sp>
        <p:nvSpPr>
          <p:cNvPr id="26" name="Text 24"/>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27" name="Text 25"/>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3D1C"/>
        </a:solidFill>
      </p:bgPr>
    </p:bg>
    <p:spTree>
      <p:nvGrpSpPr>
        <p:cNvPr id="1" name=""/>
        <p:cNvGrpSpPr/>
        <p:nvPr/>
      </p:nvGrpSpPr>
      <p:grpSpPr>
        <a:xfrm>
          <a:off x="0" y="0"/>
          <a:ext cx="0" cy="0"/>
          <a:chOff x="0" y="0"/>
          <a:chExt cx="0" cy="0"/>
        </a:xfrm>
      </p:grpSpPr>
      <p:sp>
        <p:nvSpPr>
          <p:cNvPr id="2" name="Shape 0"/>
          <p:cNvSpPr/>
          <p:nvPr/>
        </p:nvSpPr>
        <p:spPr>
          <a:xfrm>
            <a:off x="9601200" y="-2011680"/>
            <a:ext cx="5486400" cy="5486400"/>
          </a:xfrm>
          <a:prstGeom prst="ellipse">
            <a:avLst/>
          </a:prstGeom>
          <a:solidFill>
            <a:srgbClr val="2C5F2D"/>
          </a:solidFill>
          <a:ln/>
        </p:spPr>
      </p:sp>
      <p:sp>
        <p:nvSpPr>
          <p:cNvPr id="3" name="Text 1"/>
          <p:cNvSpPr/>
          <p:nvPr/>
        </p:nvSpPr>
        <p:spPr>
          <a:xfrm>
            <a:off x="640080" y="1371600"/>
            <a:ext cx="10058400" cy="365760"/>
          </a:xfrm>
          <a:prstGeom prst="rect">
            <a:avLst/>
          </a:prstGeom>
          <a:noFill/>
          <a:ln/>
        </p:spPr>
        <p:txBody>
          <a:bodyPr wrap="square" rtlCol="0" anchor="ctr"/>
          <a:lstStyle/>
          <a:p>
            <a:pPr indent="0" marL="0">
              <a:buNone/>
            </a:pPr>
            <a:r>
              <a:rPr lang="en-US" sz="1400" b="1" spc="200" kern="0" dirty="0">
                <a:solidFill>
                  <a:srgbClr val="97BC62"/>
                </a:solidFill>
                <a:latin typeface="Calibri" pitchFamily="34" charset="0"/>
                <a:ea typeface="Calibri" pitchFamily="34" charset="-122"/>
                <a:cs typeface="Calibri" pitchFamily="34" charset="-120"/>
              </a:rPr>
              <a:t>THE AIM OF THE RESEARCH</a:t>
            </a:r>
            <a:endParaRPr lang="en-US" sz="1400" dirty="0"/>
          </a:p>
        </p:txBody>
      </p:sp>
      <p:sp>
        <p:nvSpPr>
          <p:cNvPr id="4" name="Text 2"/>
          <p:cNvSpPr/>
          <p:nvPr/>
        </p:nvSpPr>
        <p:spPr>
          <a:xfrm>
            <a:off x="640080" y="1920240"/>
            <a:ext cx="10241280" cy="2560320"/>
          </a:xfrm>
          <a:prstGeom prst="rect">
            <a:avLst/>
          </a:prstGeom>
          <a:noFill/>
          <a:ln/>
        </p:spPr>
        <p:txBody>
          <a:bodyPr wrap="square" rtlCol="0" anchor="t"/>
          <a:lstStyle/>
          <a:p>
            <a:pPr indent="0" marL="0">
              <a:lnSpc>
                <a:spcPct val="105000"/>
              </a:lnSpc>
              <a:buNone/>
            </a:pPr>
            <a:r>
              <a:rPr lang="en-US" sz="2800" b="1" dirty="0">
                <a:solidFill>
                  <a:srgbClr val="FFFFFF"/>
                </a:solidFill>
                <a:latin typeface="Cambria" pitchFamily="34" charset="0"/>
                <a:ea typeface="Cambria" pitchFamily="34" charset="-122"/>
                <a:cs typeface="Cambria" pitchFamily="34" charset="-120"/>
              </a:rPr>
              <a:t>To design, build and deploy an AI system that classifies a coffee leaf as healthy or rust-infected — as a lightweight web app any smallholder can use on a phone for an early, evidence-based rust warning.</a:t>
            </a:r>
            <a:endParaRPr lang="en-US" sz="2800" dirty="0"/>
          </a:p>
        </p:txBody>
      </p:sp>
      <p:sp>
        <p:nvSpPr>
          <p:cNvPr id="5" name="Text 3"/>
          <p:cNvSpPr/>
          <p:nvPr/>
        </p:nvSpPr>
        <p:spPr>
          <a:xfrm>
            <a:off x="640080" y="4846320"/>
            <a:ext cx="9601200" cy="548640"/>
          </a:xfrm>
          <a:prstGeom prst="rect">
            <a:avLst/>
          </a:prstGeom>
          <a:noFill/>
          <a:ln/>
        </p:spPr>
        <p:txBody>
          <a:bodyPr wrap="square" rtlCol="0" anchor="ctr"/>
          <a:lstStyle/>
          <a:p>
            <a:pPr indent="0" marL="0">
              <a:buNone/>
            </a:pPr>
            <a:r>
              <a:rPr lang="en-US" sz="1500" i="1" dirty="0">
                <a:solidFill>
                  <a:srgbClr val="C7D2B6"/>
                </a:solidFill>
                <a:latin typeface="Calibri" pitchFamily="34" charset="0"/>
                <a:ea typeface="Calibri" pitchFamily="34" charset="-122"/>
                <a:cs typeface="Calibri" pitchFamily="34" charset="-120"/>
              </a:rPr>
              <a:t>One sentence, deliberately — so every objective, method and design choice traces back to a single anchor.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OBJECTIVES</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One main objective, four measurable specifics</a:t>
            </a:r>
            <a:endParaRPr lang="en-US" sz="3000" dirty="0"/>
          </a:p>
        </p:txBody>
      </p:sp>
      <p:sp>
        <p:nvSpPr>
          <p:cNvPr id="4" name="Shape 2"/>
          <p:cNvSpPr/>
          <p:nvPr/>
        </p:nvSpPr>
        <p:spPr>
          <a:xfrm>
            <a:off x="640080" y="1691640"/>
            <a:ext cx="10911535" cy="868680"/>
          </a:xfrm>
          <a:prstGeom prst="roundRect">
            <a:avLst>
              <a:gd name="adj" fmla="val 8421"/>
            </a:avLst>
          </a:prstGeom>
          <a:solidFill>
            <a:srgbClr val="173D1C"/>
          </a:solidFill>
          <a:ln/>
        </p:spPr>
      </p:sp>
      <p:sp>
        <p:nvSpPr>
          <p:cNvPr id="5" name="Text 3"/>
          <p:cNvSpPr/>
          <p:nvPr/>
        </p:nvSpPr>
        <p:spPr>
          <a:xfrm>
            <a:off x="868680" y="1691640"/>
            <a:ext cx="10454335" cy="868680"/>
          </a:xfrm>
          <a:prstGeom prst="rect">
            <a:avLst/>
          </a:prstGeom>
          <a:noFill/>
          <a:ln/>
        </p:spPr>
        <p:txBody>
          <a:bodyPr wrap="square" rtlCol="0" anchor="ctr"/>
          <a:lstStyle/>
          <a:p>
            <a:pPr indent="0" marL="0">
              <a:buNone/>
            </a:pPr>
            <a:r>
              <a:rPr lang="en-US" sz="1500" b="1" dirty="0">
                <a:solidFill>
                  <a:srgbClr val="97BC62"/>
                </a:solidFill>
                <a:latin typeface="Calibri" pitchFamily="34" charset="0"/>
                <a:ea typeface="Calibri" pitchFamily="34" charset="-122"/>
                <a:cs typeface="Calibri" pitchFamily="34" charset="-120"/>
              </a:rPr>
              <a:t>MAIN  </a:t>
            </a:r>
            <a:pPr indent="0" marL="0">
              <a:buNone/>
            </a:pPr>
            <a:r>
              <a:rPr lang="en-US" sz="1500" dirty="0">
                <a:solidFill>
                  <a:srgbClr val="FFFFFF"/>
                </a:solidFill>
                <a:latin typeface="Calibri" pitchFamily="34" charset="0"/>
                <a:ea typeface="Calibri" pitchFamily="34" charset="-122"/>
                <a:cs typeface="Calibri" pitchFamily="34" charset="-120"/>
              </a:rPr>
              <a:t>Build an image-recognition rust-detection system suitable for the phones and entry-level laptops Kenyan smallholders actually use.</a:t>
            </a:r>
            <a:endParaRPr lang="en-US" sz="1500" dirty="0"/>
          </a:p>
        </p:txBody>
      </p:sp>
      <p:sp>
        <p:nvSpPr>
          <p:cNvPr id="6" name="Shape 4"/>
          <p:cNvSpPr/>
          <p:nvPr/>
        </p:nvSpPr>
        <p:spPr>
          <a:xfrm>
            <a:off x="640080" y="2743200"/>
            <a:ext cx="5257800" cy="1417320"/>
          </a:xfrm>
          <a:prstGeom prst="roundRect">
            <a:avLst>
              <a:gd name="adj" fmla="val 5806"/>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7" name="Shape 5"/>
          <p:cNvSpPr/>
          <p:nvPr/>
        </p:nvSpPr>
        <p:spPr>
          <a:xfrm>
            <a:off x="841248" y="2944368"/>
            <a:ext cx="502920" cy="502920"/>
          </a:xfrm>
          <a:prstGeom prst="ellipse">
            <a:avLst/>
          </a:prstGeom>
          <a:solidFill>
            <a:srgbClr val="2C5F2D"/>
          </a:solidFill>
          <a:ln/>
        </p:spPr>
      </p:sp>
      <p:sp>
        <p:nvSpPr>
          <p:cNvPr id="8" name="Text 6"/>
          <p:cNvSpPr/>
          <p:nvPr/>
        </p:nvSpPr>
        <p:spPr>
          <a:xfrm>
            <a:off x="841248" y="2944368"/>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a:t>
            </a:r>
            <a:endParaRPr lang="en-US" sz="1800" dirty="0"/>
          </a:p>
        </p:txBody>
      </p:sp>
      <p:sp>
        <p:nvSpPr>
          <p:cNvPr id="9" name="Text 7"/>
          <p:cNvSpPr/>
          <p:nvPr/>
        </p:nvSpPr>
        <p:spPr>
          <a:xfrm>
            <a:off x="1508760" y="2907792"/>
            <a:ext cx="4206240" cy="365760"/>
          </a:xfrm>
          <a:prstGeom prst="rect">
            <a:avLst/>
          </a:prstGeom>
          <a:noFill/>
          <a:ln/>
        </p:spPr>
        <p:txBody>
          <a:bodyPr wrap="square" rtlCol="0" anchor="ctr"/>
          <a:lstStyle/>
          <a:p>
            <a:pPr indent="0" marL="0">
              <a:buNone/>
            </a:pPr>
            <a:r>
              <a:rPr lang="en-US" sz="1550" b="1" dirty="0">
                <a:solidFill>
                  <a:srgbClr val="173D1C"/>
                </a:solidFill>
                <a:latin typeface="Cambria" pitchFamily="34" charset="0"/>
                <a:ea typeface="Cambria" pitchFamily="34" charset="-122"/>
                <a:cs typeface="Cambria" pitchFamily="34" charset="-120"/>
              </a:rPr>
              <a:t>Preprocessing module</a:t>
            </a:r>
            <a:endParaRPr lang="en-US" sz="1550" dirty="0"/>
          </a:p>
        </p:txBody>
      </p:sp>
      <p:sp>
        <p:nvSpPr>
          <p:cNvPr id="10" name="Text 8"/>
          <p:cNvSpPr/>
          <p:nvPr/>
        </p:nvSpPr>
        <p:spPr>
          <a:xfrm>
            <a:off x="1508760" y="3291840"/>
            <a:ext cx="4206240" cy="50292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Validate format, resize to 224×224, normalise to [0,1]</a:t>
            </a:r>
            <a:endParaRPr lang="en-US" sz="1150" dirty="0"/>
          </a:p>
        </p:txBody>
      </p:sp>
      <p:sp>
        <p:nvSpPr>
          <p:cNvPr id="11" name="Text 9"/>
          <p:cNvSpPr/>
          <p:nvPr/>
        </p:nvSpPr>
        <p:spPr>
          <a:xfrm>
            <a:off x="841248" y="3794760"/>
            <a:ext cx="4846320" cy="320040"/>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 </a:t>
            </a:r>
            <a:pPr indent="0" marL="0">
              <a:buNone/>
            </a:pPr>
            <a:r>
              <a:rPr lang="en-US" sz="1100" b="1" i="1" dirty="0">
                <a:solidFill>
                  <a:srgbClr val="B85C2E"/>
                </a:solidFill>
                <a:latin typeface="Calibri" pitchFamily="34" charset="0"/>
                <a:ea typeface="Calibri" pitchFamily="34" charset="-122"/>
                <a:cs typeface="Calibri" pitchFamily="34" charset="-120"/>
              </a:rPr>
              <a:t>Rejects bad files; outputs (224,224,3) tensor</a:t>
            </a:r>
            <a:endParaRPr lang="en-US" sz="1100" dirty="0"/>
          </a:p>
        </p:txBody>
      </p:sp>
      <p:sp>
        <p:nvSpPr>
          <p:cNvPr id="12" name="Shape 10"/>
          <p:cNvSpPr/>
          <p:nvPr/>
        </p:nvSpPr>
        <p:spPr>
          <a:xfrm>
            <a:off x="6217920" y="2743200"/>
            <a:ext cx="5257800" cy="1417320"/>
          </a:xfrm>
          <a:prstGeom prst="roundRect">
            <a:avLst>
              <a:gd name="adj" fmla="val 5806"/>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3" name="Shape 11"/>
          <p:cNvSpPr/>
          <p:nvPr/>
        </p:nvSpPr>
        <p:spPr>
          <a:xfrm>
            <a:off x="6419088" y="2944368"/>
            <a:ext cx="502920" cy="502920"/>
          </a:xfrm>
          <a:prstGeom prst="ellipse">
            <a:avLst/>
          </a:prstGeom>
          <a:solidFill>
            <a:srgbClr val="6F4E37"/>
          </a:solidFill>
          <a:ln/>
        </p:spPr>
      </p:sp>
      <p:sp>
        <p:nvSpPr>
          <p:cNvPr id="14" name="Text 12"/>
          <p:cNvSpPr/>
          <p:nvPr/>
        </p:nvSpPr>
        <p:spPr>
          <a:xfrm>
            <a:off x="6419088" y="2944368"/>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ii</a:t>
            </a:r>
            <a:endParaRPr lang="en-US" sz="1800" dirty="0"/>
          </a:p>
        </p:txBody>
      </p:sp>
      <p:sp>
        <p:nvSpPr>
          <p:cNvPr id="15" name="Text 13"/>
          <p:cNvSpPr/>
          <p:nvPr/>
        </p:nvSpPr>
        <p:spPr>
          <a:xfrm>
            <a:off x="7086600" y="2907792"/>
            <a:ext cx="4206240" cy="365760"/>
          </a:xfrm>
          <a:prstGeom prst="rect">
            <a:avLst/>
          </a:prstGeom>
          <a:noFill/>
          <a:ln/>
        </p:spPr>
        <p:txBody>
          <a:bodyPr wrap="square" rtlCol="0" anchor="ctr"/>
          <a:lstStyle/>
          <a:p>
            <a:pPr indent="0" marL="0">
              <a:buNone/>
            </a:pPr>
            <a:r>
              <a:rPr lang="en-US" sz="1550" b="1" dirty="0">
                <a:solidFill>
                  <a:srgbClr val="173D1C"/>
                </a:solidFill>
                <a:latin typeface="Cambria" pitchFamily="34" charset="0"/>
                <a:ea typeface="Cambria" pitchFamily="34" charset="-122"/>
                <a:cs typeface="Cambria" pitchFamily="34" charset="-120"/>
              </a:rPr>
              <a:t>CNN classifier</a:t>
            </a:r>
            <a:endParaRPr lang="en-US" sz="1550" dirty="0"/>
          </a:p>
        </p:txBody>
      </p:sp>
      <p:sp>
        <p:nvSpPr>
          <p:cNvPr id="16" name="Text 14"/>
          <p:cNvSpPr/>
          <p:nvPr/>
        </p:nvSpPr>
        <p:spPr>
          <a:xfrm>
            <a:off x="7086600" y="3291840"/>
            <a:ext cx="4206240" cy="50292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Train a model to output healthy / rust + confidence</a:t>
            </a:r>
            <a:endParaRPr lang="en-US" sz="1150" dirty="0"/>
          </a:p>
        </p:txBody>
      </p:sp>
      <p:sp>
        <p:nvSpPr>
          <p:cNvPr id="17" name="Text 15"/>
          <p:cNvSpPr/>
          <p:nvPr/>
        </p:nvSpPr>
        <p:spPr>
          <a:xfrm>
            <a:off x="6419088" y="3794760"/>
            <a:ext cx="4846320" cy="320040"/>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 </a:t>
            </a:r>
            <a:pPr indent="0" marL="0">
              <a:buNone/>
            </a:pPr>
            <a:r>
              <a:rPr lang="en-US" sz="1100" b="1" i="1" dirty="0">
                <a:solidFill>
                  <a:srgbClr val="B85C2E"/>
                </a:solidFill>
                <a:latin typeface="Calibri" pitchFamily="34" charset="0"/>
                <a:ea typeface="Calibri" pitchFamily="34" charset="-122"/>
                <a:cs typeface="Calibri" pitchFamily="34" charset="-120"/>
              </a:rPr>
              <a:t>≥ 90% accuracy on held-out JMuBEN test set</a:t>
            </a:r>
            <a:endParaRPr lang="en-US" sz="1100" dirty="0"/>
          </a:p>
        </p:txBody>
      </p:sp>
      <p:sp>
        <p:nvSpPr>
          <p:cNvPr id="18" name="Shape 16"/>
          <p:cNvSpPr/>
          <p:nvPr/>
        </p:nvSpPr>
        <p:spPr>
          <a:xfrm>
            <a:off x="640080" y="4434840"/>
            <a:ext cx="5257800" cy="1417320"/>
          </a:xfrm>
          <a:prstGeom prst="roundRect">
            <a:avLst>
              <a:gd name="adj" fmla="val 5806"/>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9" name="Shape 17"/>
          <p:cNvSpPr/>
          <p:nvPr/>
        </p:nvSpPr>
        <p:spPr>
          <a:xfrm>
            <a:off x="841248" y="4636008"/>
            <a:ext cx="502920" cy="502920"/>
          </a:xfrm>
          <a:prstGeom prst="ellipse">
            <a:avLst/>
          </a:prstGeom>
          <a:solidFill>
            <a:srgbClr val="2C5F2D"/>
          </a:solidFill>
          <a:ln/>
        </p:spPr>
      </p:sp>
      <p:sp>
        <p:nvSpPr>
          <p:cNvPr id="20" name="Text 18"/>
          <p:cNvSpPr/>
          <p:nvPr/>
        </p:nvSpPr>
        <p:spPr>
          <a:xfrm>
            <a:off x="841248" y="4636008"/>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iii</a:t>
            </a:r>
            <a:endParaRPr lang="en-US" sz="1800" dirty="0"/>
          </a:p>
        </p:txBody>
      </p:sp>
      <p:sp>
        <p:nvSpPr>
          <p:cNvPr id="21" name="Text 19"/>
          <p:cNvSpPr/>
          <p:nvPr/>
        </p:nvSpPr>
        <p:spPr>
          <a:xfrm>
            <a:off x="1508760" y="4599432"/>
            <a:ext cx="4206240" cy="365760"/>
          </a:xfrm>
          <a:prstGeom prst="rect">
            <a:avLst/>
          </a:prstGeom>
          <a:noFill/>
          <a:ln/>
        </p:spPr>
        <p:txBody>
          <a:bodyPr wrap="square" rtlCol="0" anchor="ctr"/>
          <a:lstStyle/>
          <a:p>
            <a:pPr indent="0" marL="0">
              <a:buNone/>
            </a:pPr>
            <a:r>
              <a:rPr lang="en-US" sz="1550" b="1" dirty="0">
                <a:solidFill>
                  <a:srgbClr val="173D1C"/>
                </a:solidFill>
                <a:latin typeface="Cambria" pitchFamily="34" charset="0"/>
                <a:ea typeface="Cambria" pitchFamily="34" charset="-122"/>
                <a:cs typeface="Cambria" pitchFamily="34" charset="-120"/>
              </a:rPr>
              <a:t>Web interface</a:t>
            </a:r>
            <a:endParaRPr lang="en-US" sz="1550" dirty="0"/>
          </a:p>
        </p:txBody>
      </p:sp>
      <p:sp>
        <p:nvSpPr>
          <p:cNvPr id="22" name="Text 20"/>
          <p:cNvSpPr/>
          <p:nvPr/>
        </p:nvSpPr>
        <p:spPr>
          <a:xfrm>
            <a:off x="1508760" y="4983480"/>
            <a:ext cx="4206240" cy="50292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Upload, view class + confidence, download report</a:t>
            </a:r>
            <a:endParaRPr lang="en-US" sz="1150" dirty="0"/>
          </a:p>
        </p:txBody>
      </p:sp>
      <p:sp>
        <p:nvSpPr>
          <p:cNvPr id="23" name="Text 21"/>
          <p:cNvSpPr/>
          <p:nvPr/>
        </p:nvSpPr>
        <p:spPr>
          <a:xfrm>
            <a:off x="841248" y="5486400"/>
            <a:ext cx="4846320" cy="320040"/>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 </a:t>
            </a:r>
            <a:pPr indent="0" marL="0">
              <a:buNone/>
            </a:pPr>
            <a:r>
              <a:rPr lang="en-US" sz="1100" b="1" i="1" dirty="0">
                <a:solidFill>
                  <a:srgbClr val="B85C2E"/>
                </a:solidFill>
                <a:latin typeface="Calibri" pitchFamily="34" charset="0"/>
                <a:ea typeface="Calibri" pitchFamily="34" charset="-122"/>
                <a:cs typeface="Calibri" pitchFamily="34" charset="-120"/>
              </a:rPr>
              <a:t>≤ 5 s response on a 4G connection</a:t>
            </a:r>
            <a:endParaRPr lang="en-US" sz="1100" dirty="0"/>
          </a:p>
        </p:txBody>
      </p:sp>
      <p:sp>
        <p:nvSpPr>
          <p:cNvPr id="24" name="Shape 22"/>
          <p:cNvSpPr/>
          <p:nvPr/>
        </p:nvSpPr>
        <p:spPr>
          <a:xfrm>
            <a:off x="6217920" y="4434840"/>
            <a:ext cx="5257800" cy="1417320"/>
          </a:xfrm>
          <a:prstGeom prst="roundRect">
            <a:avLst>
              <a:gd name="adj" fmla="val 5806"/>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5" name="Shape 23"/>
          <p:cNvSpPr/>
          <p:nvPr/>
        </p:nvSpPr>
        <p:spPr>
          <a:xfrm>
            <a:off x="6419088" y="4636008"/>
            <a:ext cx="502920" cy="502920"/>
          </a:xfrm>
          <a:prstGeom prst="ellipse">
            <a:avLst/>
          </a:prstGeom>
          <a:solidFill>
            <a:srgbClr val="6F4E37"/>
          </a:solidFill>
          <a:ln/>
        </p:spPr>
      </p:sp>
      <p:sp>
        <p:nvSpPr>
          <p:cNvPr id="26" name="Text 24"/>
          <p:cNvSpPr/>
          <p:nvPr/>
        </p:nvSpPr>
        <p:spPr>
          <a:xfrm>
            <a:off x="6419088" y="4636008"/>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iv</a:t>
            </a:r>
            <a:endParaRPr lang="en-US" sz="1800" dirty="0"/>
          </a:p>
        </p:txBody>
      </p:sp>
      <p:sp>
        <p:nvSpPr>
          <p:cNvPr id="27" name="Text 25"/>
          <p:cNvSpPr/>
          <p:nvPr/>
        </p:nvSpPr>
        <p:spPr>
          <a:xfrm>
            <a:off x="7086600" y="4599432"/>
            <a:ext cx="4206240" cy="365760"/>
          </a:xfrm>
          <a:prstGeom prst="rect">
            <a:avLst/>
          </a:prstGeom>
          <a:noFill/>
          <a:ln/>
        </p:spPr>
        <p:txBody>
          <a:bodyPr wrap="square" rtlCol="0" anchor="ctr"/>
          <a:lstStyle/>
          <a:p>
            <a:pPr indent="0" marL="0">
              <a:buNone/>
            </a:pPr>
            <a:r>
              <a:rPr lang="en-US" sz="1550" b="1" dirty="0">
                <a:solidFill>
                  <a:srgbClr val="173D1C"/>
                </a:solidFill>
                <a:latin typeface="Cambria" pitchFamily="34" charset="0"/>
                <a:ea typeface="Cambria" pitchFamily="34" charset="-122"/>
                <a:cs typeface="Cambria" pitchFamily="34" charset="-120"/>
              </a:rPr>
              <a:t>Deployment</a:t>
            </a:r>
            <a:endParaRPr lang="en-US" sz="1550" dirty="0"/>
          </a:p>
        </p:txBody>
      </p:sp>
      <p:sp>
        <p:nvSpPr>
          <p:cNvPr id="28" name="Text 26"/>
          <p:cNvSpPr/>
          <p:nvPr/>
        </p:nvSpPr>
        <p:spPr>
          <a:xfrm>
            <a:off x="7086600" y="4983480"/>
            <a:ext cx="4206240" cy="50292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Serve model + UI at a public URL with event logging</a:t>
            </a:r>
            <a:endParaRPr lang="en-US" sz="1150" dirty="0"/>
          </a:p>
        </p:txBody>
      </p:sp>
      <p:sp>
        <p:nvSpPr>
          <p:cNvPr id="29" name="Text 27"/>
          <p:cNvSpPr/>
          <p:nvPr/>
        </p:nvSpPr>
        <p:spPr>
          <a:xfrm>
            <a:off x="6419088" y="5486400"/>
            <a:ext cx="4846320" cy="320040"/>
          </a:xfrm>
          <a:prstGeom prst="rect">
            <a:avLst/>
          </a:prstGeom>
          <a:noFill/>
          <a:ln/>
        </p:spPr>
        <p:txBody>
          <a:bodyPr wrap="square" rtlCol="0" anchor="ctr"/>
          <a:lstStyle/>
          <a:p>
            <a:pPr indent="0" marL="0">
              <a:buNone/>
            </a:pPr>
            <a:r>
              <a:rPr lang="en-US" sz="1100" b="1" dirty="0">
                <a:solidFill>
                  <a:srgbClr val="2C5F2D"/>
                </a:solidFill>
                <a:latin typeface="Calibri" pitchFamily="34" charset="0"/>
                <a:ea typeface="Calibri" pitchFamily="34" charset="-122"/>
                <a:cs typeface="Calibri" pitchFamily="34" charset="-120"/>
              </a:rPr>
              <a:t>✓ </a:t>
            </a:r>
            <a:pPr indent="0" marL="0">
              <a:buNone/>
            </a:pPr>
            <a:r>
              <a:rPr lang="en-US" sz="1100" b="1" i="1" dirty="0">
                <a:solidFill>
                  <a:srgbClr val="B85C2E"/>
                </a:solidFill>
                <a:latin typeface="Calibri" pitchFamily="34" charset="0"/>
                <a:ea typeface="Calibri" pitchFamily="34" charset="-122"/>
                <a:cs typeface="Calibri" pitchFamily="34" charset="-120"/>
              </a:rPr>
              <a:t>Live URL; predictions logged to database</a:t>
            </a:r>
            <a:endParaRPr lang="en-US" sz="1100" dirty="0"/>
          </a:p>
        </p:txBody>
      </p:sp>
      <p:sp>
        <p:nvSpPr>
          <p:cNvPr id="30" name="Text 28"/>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31" name="Text 29"/>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REVIEW OF RELATED WORK</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CNNs are the proven default for plant disease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103120"/>
                <a:gridCol w="822960"/>
                <a:gridCol w="2743200"/>
                <a:gridCol w="3685032"/>
                <a:gridCol w="1554480"/>
              </a:tblGrid>
              <a:tr h="475488">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Study</a:t>
                      </a:r>
                      <a:endParaRPr lang="en-US" sz="125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173D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Year</a:t>
                      </a:r>
                      <a:endParaRPr lang="en-US" sz="125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173D1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Crop / disease</a:t>
                      </a:r>
                      <a:endParaRPr lang="en-US" sz="125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173D1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Architecture / contribution</a:t>
                      </a:r>
                      <a:endParaRPr lang="en-US" sz="125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173D1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Accuracy</a:t>
                      </a:r>
                      <a:endParaRPr lang="en-US" sz="125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173D1C"/>
                    </a:solidFill>
                  </a:tcPr>
                </a:tc>
              </a:tr>
              <a:tr h="475488">
                <a:tc>
                  <a:txBody>
                    <a:bodyPr/>
                    <a:lstStyle/>
                    <a:p>
                      <a:pPr algn="l" indent="0" marL="0">
                        <a:buNone/>
                      </a:pPr>
                      <a:r>
                        <a:rPr lang="en-US" sz="1200" b="1" dirty="0">
                          <a:solidFill>
                            <a:srgbClr val="173D1C"/>
                          </a:solidFill>
                          <a:latin typeface="Calibri" pitchFamily="34" charset="0"/>
                          <a:ea typeface="Calibri" pitchFamily="34" charset="-122"/>
                          <a:cs typeface="Calibri" pitchFamily="34" charset="-120"/>
                        </a:rPr>
                        <a:t>Mohanty et al.</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4261F"/>
                          </a:solidFill>
                          <a:latin typeface="Calibri" pitchFamily="34" charset="0"/>
                          <a:ea typeface="Calibri" pitchFamily="34" charset="-122"/>
                          <a:cs typeface="Calibri" pitchFamily="34" charset="-120"/>
                        </a:rPr>
                        <a:t>2016</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14 crops, 26 diseases</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AlexNet, GoogLeNet</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85C2E"/>
                          </a:solidFill>
                          <a:latin typeface="Calibri" pitchFamily="34" charset="0"/>
                          <a:ea typeface="Calibri" pitchFamily="34" charset="-122"/>
                          <a:cs typeface="Calibri" pitchFamily="34" charset="-120"/>
                        </a:rPr>
                        <a:t>99.4%</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r>
              <a:tr h="475488">
                <a:tc>
                  <a:txBody>
                    <a:bodyPr/>
                    <a:lstStyle/>
                    <a:p>
                      <a:pPr algn="l" indent="0" marL="0">
                        <a:buNone/>
                      </a:pPr>
                      <a:r>
                        <a:rPr lang="en-US" sz="1200" b="1" dirty="0">
                          <a:solidFill>
                            <a:srgbClr val="173D1C"/>
                          </a:solidFill>
                          <a:latin typeface="Calibri" pitchFamily="34" charset="0"/>
                          <a:ea typeface="Calibri" pitchFamily="34" charset="-122"/>
                          <a:cs typeface="Calibri" pitchFamily="34" charset="-120"/>
                        </a:rPr>
                        <a:t>Ferentinos</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ctr" indent="0" marL="0">
                        <a:buNone/>
                      </a:pPr>
                      <a:r>
                        <a:rPr lang="en-US" sz="1200" dirty="0">
                          <a:solidFill>
                            <a:srgbClr val="24261F"/>
                          </a:solidFill>
                          <a:latin typeface="Calibri" pitchFamily="34" charset="0"/>
                          <a:ea typeface="Calibri" pitchFamily="34" charset="-122"/>
                          <a:cs typeface="Calibri" pitchFamily="34" charset="-120"/>
                        </a:rPr>
                        <a:t>2018</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25 species, 58 diseases</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VGG / AlexNet</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ctr" indent="0" marL="0">
                        <a:buNone/>
                      </a:pPr>
                      <a:r>
                        <a:rPr lang="en-US" sz="1200" b="1" dirty="0">
                          <a:solidFill>
                            <a:srgbClr val="B85C2E"/>
                          </a:solidFill>
                          <a:latin typeface="Calibri" pitchFamily="34" charset="0"/>
                          <a:ea typeface="Calibri" pitchFamily="34" charset="-122"/>
                          <a:cs typeface="Calibri" pitchFamily="34" charset="-120"/>
                        </a:rPr>
                        <a:t>99.5%</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r>
              <a:tr h="475488">
                <a:tc>
                  <a:txBody>
                    <a:bodyPr/>
                    <a:lstStyle/>
                    <a:p>
                      <a:pPr algn="l" indent="0" marL="0">
                        <a:buNone/>
                      </a:pPr>
                      <a:r>
                        <a:rPr lang="en-US" sz="1200" b="1" dirty="0">
                          <a:solidFill>
                            <a:srgbClr val="173D1C"/>
                          </a:solidFill>
                          <a:latin typeface="Calibri" pitchFamily="34" charset="0"/>
                          <a:ea typeface="Calibri" pitchFamily="34" charset="-122"/>
                          <a:cs typeface="Calibri" pitchFamily="34" charset="-120"/>
                        </a:rPr>
                        <a:t>Esgario et al.</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4261F"/>
                          </a:solidFill>
                          <a:latin typeface="Calibri" pitchFamily="34" charset="0"/>
                          <a:ea typeface="Calibri" pitchFamily="34" charset="-122"/>
                          <a:cs typeface="Calibri" pitchFamily="34" charset="-120"/>
                        </a:rPr>
                        <a:t>2020</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Coffee, 4 stresses</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ResNet (multi-task)</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85C2E"/>
                          </a:solidFill>
                          <a:latin typeface="Calibri" pitchFamily="34" charset="0"/>
                          <a:ea typeface="Calibri" pitchFamily="34" charset="-122"/>
                          <a:cs typeface="Calibri" pitchFamily="34" charset="-120"/>
                        </a:rPr>
                        <a:t>95.2%</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r>
              <a:tr h="475488">
                <a:tc>
                  <a:txBody>
                    <a:bodyPr/>
                    <a:lstStyle/>
                    <a:p>
                      <a:pPr algn="l" indent="0" marL="0">
                        <a:buNone/>
                      </a:pPr>
                      <a:r>
                        <a:rPr lang="en-US" sz="1200" b="1" dirty="0">
                          <a:solidFill>
                            <a:srgbClr val="173D1C"/>
                          </a:solidFill>
                          <a:latin typeface="Calibri" pitchFamily="34" charset="0"/>
                          <a:ea typeface="Calibri" pitchFamily="34" charset="-122"/>
                          <a:cs typeface="Calibri" pitchFamily="34" charset="-120"/>
                        </a:rPr>
                        <a:t>Patroba et al.</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ctr" indent="0" marL="0">
                        <a:buNone/>
                      </a:pPr>
                      <a:r>
                        <a:rPr lang="en-US" sz="1200" dirty="0">
                          <a:solidFill>
                            <a:srgbClr val="24261F"/>
                          </a:solidFill>
                          <a:latin typeface="Calibri" pitchFamily="34" charset="0"/>
                          <a:ea typeface="Calibri" pitchFamily="34" charset="-122"/>
                          <a:cs typeface="Calibri" pitchFamily="34" charset="-120"/>
                        </a:rPr>
                        <a:t>2021</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Coffee — Kenya</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released JMuBEN (58,555 imgs)</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ctr" indent="0" marL="0">
                        <a:buNone/>
                      </a:pPr>
                      <a:r>
                        <a:rPr lang="en-US" sz="1200" b="1" dirty="0">
                          <a:solidFill>
                            <a:srgbClr val="B85C2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r>
              <a:tr h="475488">
                <a:tc>
                  <a:txBody>
                    <a:bodyPr/>
                    <a:lstStyle/>
                    <a:p>
                      <a:pPr algn="l" indent="0" marL="0">
                        <a:buNone/>
                      </a:pPr>
                      <a:r>
                        <a:rPr lang="en-US" sz="1200" b="1" dirty="0">
                          <a:solidFill>
                            <a:srgbClr val="173D1C"/>
                          </a:solidFill>
                          <a:latin typeface="Calibri" pitchFamily="34" charset="0"/>
                          <a:ea typeface="Calibri" pitchFamily="34" charset="-122"/>
                          <a:cs typeface="Calibri" pitchFamily="34" charset="-120"/>
                        </a:rPr>
                        <a:t>Wachira</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4261F"/>
                          </a:solidFill>
                          <a:latin typeface="Calibri" pitchFamily="34" charset="0"/>
                          <a:ea typeface="Calibri" pitchFamily="34" charset="-122"/>
                          <a:cs typeface="Calibri" pitchFamily="34" charset="-120"/>
                        </a:rPr>
                        <a:t>2022</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Coffee, JMuBEN</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MobileNetV2</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B85C2E"/>
                          </a:solidFill>
                          <a:latin typeface="Calibri" pitchFamily="34" charset="0"/>
                          <a:ea typeface="Calibri" pitchFamily="34" charset="-122"/>
                          <a:cs typeface="Calibri" pitchFamily="34" charset="-120"/>
                        </a:rPr>
                        <a:t>94.1%</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r>
              <a:tr h="475488">
                <a:tc>
                  <a:txBody>
                    <a:bodyPr/>
                    <a:lstStyle/>
                    <a:p>
                      <a:pPr algn="l" indent="0" marL="0">
                        <a:buNone/>
                      </a:pPr>
                      <a:r>
                        <a:rPr lang="en-US" sz="1200" b="1" dirty="0">
                          <a:solidFill>
                            <a:srgbClr val="173D1C"/>
                          </a:solidFill>
                          <a:latin typeface="Calibri" pitchFamily="34" charset="0"/>
                          <a:ea typeface="Calibri" pitchFamily="34" charset="-122"/>
                          <a:cs typeface="Calibri" pitchFamily="34" charset="-120"/>
                        </a:rPr>
                        <a:t>Esgario et al.</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ctr" indent="0" marL="0">
                        <a:buNone/>
                      </a:pPr>
                      <a:r>
                        <a:rPr lang="en-US" sz="1200" dirty="0">
                          <a:solidFill>
                            <a:srgbClr val="24261F"/>
                          </a:solidFill>
                          <a:latin typeface="Calibri" pitchFamily="34" charset="0"/>
                          <a:ea typeface="Calibri" pitchFamily="34" charset="-122"/>
                          <a:cs typeface="Calibri" pitchFamily="34" charset="-120"/>
                        </a:rPr>
                        <a:t>2022</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Coffee — field app</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Mobile CNN</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ctr" indent="0" marL="0">
                        <a:buNone/>
                      </a:pPr>
                      <a:r>
                        <a:rPr lang="en-US" sz="1200" b="1" dirty="0">
                          <a:solidFill>
                            <a:srgbClr val="B85C2E"/>
                          </a:solidFill>
                          <a:latin typeface="Calibri" pitchFamily="34" charset="0"/>
                          <a:ea typeface="Calibri" pitchFamily="34" charset="-122"/>
                          <a:cs typeface="Calibri" pitchFamily="34" charset="-120"/>
                        </a:rPr>
                        <a:t>87% field</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r>
            </a:tbl>
          </a:graphicData>
        </a:graphic>
      </p:graphicFrame>
      <p:sp>
        <p:nvSpPr>
          <p:cNvPr id="5" name="Text 2"/>
          <p:cNvSpPr/>
          <p:nvPr/>
        </p:nvSpPr>
        <p:spPr>
          <a:xfrm>
            <a:off x="640080" y="5440680"/>
            <a:ext cx="10911535" cy="548640"/>
          </a:xfrm>
          <a:prstGeom prst="rect">
            <a:avLst/>
          </a:prstGeom>
          <a:noFill/>
          <a:ln/>
        </p:spPr>
        <p:txBody>
          <a:bodyPr wrap="square" rtlCol="0" anchor="ctr"/>
          <a:lstStyle/>
          <a:p>
            <a:pPr indent="0" marL="0">
              <a:buNone/>
            </a:pPr>
            <a:r>
              <a:rPr lang="en-US" sz="1350" b="1" dirty="0">
                <a:solidFill>
                  <a:srgbClr val="2C5F2D"/>
                </a:solidFill>
                <a:latin typeface="Calibri" pitchFamily="34" charset="0"/>
                <a:ea typeface="Calibri" pitchFamily="34" charset="-122"/>
                <a:cs typeface="Calibri" pitchFamily="34" charset="-120"/>
              </a:rPr>
              <a:t>Takeaway:  </a:t>
            </a:r>
            <a:pPr indent="0" marL="0">
              <a:buNone/>
            </a:pPr>
            <a:r>
              <a:rPr lang="en-US" sz="1350" i="1" dirty="0">
                <a:solidFill>
                  <a:srgbClr val="24261F"/>
                </a:solidFill>
                <a:latin typeface="Calibri" pitchFamily="34" charset="0"/>
                <a:ea typeface="Calibri" pitchFamily="34" charset="-122"/>
                <a:cs typeface="Calibri" pitchFamily="34" charset="-120"/>
              </a:rPr>
              <a:t>accuracy on generic datasets is a solved problem — the open question is a locally-trained, deployed, single-disease tool.</a:t>
            </a:r>
            <a:endParaRPr lang="en-US" sz="1350" dirty="0"/>
          </a:p>
        </p:txBody>
      </p:sp>
      <p:sp>
        <p:nvSpPr>
          <p:cNvPr id="6" name="Text 3"/>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7" name="Text 4"/>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EXISTING PROTOTYPES &amp; SYSTEMS</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Tools exist — but not for this exact need</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926080"/>
                <a:gridCol w="2103120"/>
                <a:gridCol w="2377440"/>
                <a:gridCol w="2194560"/>
                <a:gridCol w="1307592"/>
              </a:tblGrid>
              <a:tr h="45720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System</a:t>
                      </a:r>
                      <a:endParaRPr lang="en-US" sz="125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173D1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Origin</a:t>
                      </a:r>
                      <a:endParaRPr lang="en-US" sz="125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173D1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Crop</a:t>
                      </a:r>
                      <a:endParaRPr lang="en-US" sz="125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173D1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Access</a:t>
                      </a:r>
                      <a:endParaRPr lang="en-US" sz="125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173D1C"/>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Rust support</a:t>
                      </a:r>
                      <a:endParaRPr lang="en-US" sz="125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173D1C"/>
                    </a:solidFill>
                  </a:tcPr>
                </a:tc>
              </a:tr>
              <a:tr h="457200">
                <a:tc>
                  <a:txBody>
                    <a:bodyPr/>
                    <a:lstStyle/>
                    <a:p>
                      <a:pPr algn="l" indent="0" marL="0">
                        <a:buNone/>
                      </a:pPr>
                      <a:r>
                        <a:rPr lang="en-US" sz="1200" b="1" dirty="0">
                          <a:solidFill>
                            <a:srgbClr val="173D1C"/>
                          </a:solidFill>
                          <a:latin typeface="Calibri" pitchFamily="34" charset="0"/>
                          <a:ea typeface="Calibri" pitchFamily="34" charset="-122"/>
                          <a:cs typeface="Calibri" pitchFamily="34" charset="-120"/>
                        </a:rPr>
                        <a:t>PlantVillage Nuru</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USA</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Multi-crop</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Offline app</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Multi-class</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73D1C"/>
                          </a:solidFill>
                          <a:latin typeface="Calibri" pitchFamily="34" charset="0"/>
                          <a:ea typeface="Calibri" pitchFamily="34" charset="-122"/>
                          <a:cs typeface="Calibri" pitchFamily="34" charset="-120"/>
                        </a:rPr>
                        <a:t>Plantix</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Germany</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Broad</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Online</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Limited</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r>
              <a:tr h="457200">
                <a:tc>
                  <a:txBody>
                    <a:bodyPr/>
                    <a:lstStyle/>
                    <a:p>
                      <a:pPr algn="l" indent="0" marL="0">
                        <a:buNone/>
                      </a:pPr>
                      <a:r>
                        <a:rPr lang="en-US" sz="1200" b="1" dirty="0">
                          <a:solidFill>
                            <a:srgbClr val="173D1C"/>
                          </a:solidFill>
                          <a:latin typeface="Calibri" pitchFamily="34" charset="0"/>
                          <a:ea typeface="Calibri" pitchFamily="34" charset="-122"/>
                          <a:cs typeface="Calibri" pitchFamily="34" charset="-120"/>
                        </a:rPr>
                        <a:t>iCow Pichaa</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Kenya</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Maize, beans, coffee</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WhatsApp</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Limited</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173D1C"/>
                          </a:solidFill>
                          <a:latin typeface="Calibri" pitchFamily="34" charset="0"/>
                          <a:ea typeface="Calibri" pitchFamily="34" charset="-122"/>
                          <a:cs typeface="Calibri" pitchFamily="34" charset="-120"/>
                        </a:rPr>
                        <a:t>Makerere Cassava</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Uganda</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Cassava</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Offline app</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4F1EA"/>
                    </a:solidFill>
                  </a:tcPr>
                </a:tc>
              </a:tr>
              <a:tr h="457200">
                <a:tc>
                  <a:txBody>
                    <a:bodyPr/>
                    <a:lstStyle/>
                    <a:p>
                      <a:pPr algn="l" indent="0" marL="0">
                        <a:buNone/>
                      </a:pPr>
                      <a:r>
                        <a:rPr lang="en-US" sz="1200" b="1" dirty="0">
                          <a:solidFill>
                            <a:srgbClr val="173D1C"/>
                          </a:solidFill>
                          <a:latin typeface="Calibri" pitchFamily="34" charset="0"/>
                          <a:ea typeface="Calibri" pitchFamily="34" charset="-122"/>
                          <a:cs typeface="Calibri" pitchFamily="34" charset="-120"/>
                        </a:rPr>
                        <a:t>JMuBEN models</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Kenya (academic)</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Coffee</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Not deployed</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4261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Kahawa AI (this work)</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Kenya (MMU)</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6F4E37"/>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Coffee — rust only</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2C5F2D"/>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Web, mobile-friendly</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6F4E37"/>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Yes — focused</a:t>
                      </a:r>
                      <a:endParaRPr lang="en-US" sz="1200" dirty="0">
                        <a:latin typeface="Calibri" charset="0"/>
                        <a:ea typeface="Calibri" charset="0"/>
                        <a:cs typeface="Calibri" charset="0"/>
                      </a:endParaRPr>
                    </a:p>
                  </a:txBody>
                  <a:tcPr marL="91440" marR="91440" marT="45720" marB="45720" anchor="ctr">
                    <a:lnL w="6350" cap="flat" cmpd="sng" algn="ctr">
                      <a:solidFill>
                        <a:srgbClr val="D8D3C6"/>
                      </a:solidFill>
                      <a:prstDash val="solid"/>
                      <a:round/>
                      <a:headEnd type="none" w="med" len="med"/>
                      <a:tailEnd type="none" w="med" len="med"/>
                    </a:lnL>
                    <a:lnR w="6350" cap="flat" cmpd="sng" algn="ctr">
                      <a:solidFill>
                        <a:srgbClr val="D8D3C6"/>
                      </a:solidFill>
                      <a:prstDash val="solid"/>
                      <a:round/>
                      <a:headEnd type="none" w="med" len="med"/>
                      <a:tailEnd type="none" w="med" len="med"/>
                    </a:lnR>
                    <a:lnT w="6350" cap="flat" cmpd="sng" algn="ctr">
                      <a:solidFill>
                        <a:srgbClr val="D8D3C6"/>
                      </a:solidFill>
                      <a:prstDash val="solid"/>
                      <a:round/>
                      <a:headEnd type="none" w="med" len="med"/>
                      <a:tailEnd type="none" w="med" len="med"/>
                    </a:lnT>
                    <a:lnB w="6350" cap="flat" cmpd="sng" algn="ctr">
                      <a:solidFill>
                        <a:srgbClr val="D8D3C6"/>
                      </a:solidFill>
                      <a:prstDash val="solid"/>
                      <a:round/>
                      <a:headEnd type="none" w="med" len="med"/>
                      <a:tailEnd type="none" w="med" len="med"/>
                    </a:lnB>
                    <a:solidFill>
                      <a:srgbClr val="2C5F2D"/>
                    </a:solidFill>
                  </a:tcPr>
                </a:tc>
              </a:tr>
            </a:tbl>
          </a:graphicData>
        </a:graphic>
      </p:graphicFrame>
      <p:sp>
        <p:nvSpPr>
          <p:cNvPr id="5" name="Text 2"/>
          <p:cNvSpPr/>
          <p:nvPr/>
        </p:nvSpPr>
        <p:spPr>
          <a:xfrm>
            <a:off x="640080" y="5440680"/>
            <a:ext cx="10911535" cy="457200"/>
          </a:xfrm>
          <a:prstGeom prst="rect">
            <a:avLst/>
          </a:prstGeom>
          <a:noFill/>
          <a:ln/>
        </p:spPr>
        <p:txBody>
          <a:bodyPr wrap="square" rtlCol="0" anchor="ctr"/>
          <a:lstStyle/>
          <a:p>
            <a:pPr indent="0" marL="0">
              <a:buNone/>
            </a:pPr>
            <a:r>
              <a:rPr lang="en-US" sz="1350" b="1" dirty="0">
                <a:solidFill>
                  <a:srgbClr val="B85C2E"/>
                </a:solidFill>
                <a:latin typeface="Calibri" pitchFamily="34" charset="0"/>
                <a:ea typeface="Calibri" pitchFamily="34" charset="-122"/>
                <a:cs typeface="Calibri" pitchFamily="34" charset="-120"/>
              </a:rPr>
              <a:t>None combines all four: </a:t>
            </a:r>
            <a:pPr indent="0" marL="0">
              <a:buNone/>
            </a:pPr>
            <a:r>
              <a:rPr lang="en-US" sz="1350" dirty="0">
                <a:solidFill>
                  <a:srgbClr val="24261F"/>
                </a:solidFill>
                <a:latin typeface="Calibri" pitchFamily="34" charset="0"/>
                <a:ea typeface="Calibri" pitchFamily="34" charset="-122"/>
                <a:cs typeface="Calibri" pitchFamily="34" charset="-120"/>
              </a:rPr>
              <a:t>Kenyan-trained  ·  rust-focused  ·  no app install  ·  openly deployed.</a:t>
            </a:r>
            <a:endParaRPr lang="en-US" sz="1350" dirty="0"/>
          </a:p>
        </p:txBody>
      </p:sp>
      <p:sp>
        <p:nvSpPr>
          <p:cNvPr id="6" name="Text 3"/>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7" name="Text 4"/>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RESEARCH GAP</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Four concrete gaps this study fills</a:t>
            </a:r>
            <a:endParaRPr lang="en-US" sz="3000" dirty="0"/>
          </a:p>
        </p:txBody>
      </p:sp>
      <p:sp>
        <p:nvSpPr>
          <p:cNvPr id="4" name="Shape 2"/>
          <p:cNvSpPr/>
          <p:nvPr/>
        </p:nvSpPr>
        <p:spPr>
          <a:xfrm>
            <a:off x="640080" y="1783080"/>
            <a:ext cx="5257800" cy="1874520"/>
          </a:xfrm>
          <a:prstGeom prst="roundRect">
            <a:avLst>
              <a:gd name="adj" fmla="val 439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5" name="Shape 3"/>
          <p:cNvSpPr/>
          <p:nvPr/>
        </p:nvSpPr>
        <p:spPr>
          <a:xfrm>
            <a:off x="896112" y="2075688"/>
            <a:ext cx="502920" cy="502920"/>
          </a:xfrm>
          <a:prstGeom prst="ellipse">
            <a:avLst/>
          </a:prstGeom>
          <a:solidFill>
            <a:srgbClr val="2C5F2D"/>
          </a:solidFill>
          <a:ln/>
        </p:spPr>
      </p:sp>
      <p:sp>
        <p:nvSpPr>
          <p:cNvPr id="6" name="Text 4"/>
          <p:cNvSpPr/>
          <p:nvPr/>
        </p:nvSpPr>
        <p:spPr>
          <a:xfrm>
            <a:off x="896112" y="2075688"/>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600200" y="2039112"/>
            <a:ext cx="4069080" cy="640080"/>
          </a:xfrm>
          <a:prstGeom prst="rect">
            <a:avLst/>
          </a:prstGeom>
          <a:noFill/>
          <a:ln/>
        </p:spPr>
        <p:txBody>
          <a:bodyPr wrap="square" rtlCol="0" anchor="ctr"/>
          <a:lstStyle/>
          <a:p>
            <a:pPr indent="0" marL="0">
              <a:buNone/>
            </a:pPr>
            <a:r>
              <a:rPr lang="en-US" sz="1650" b="1" dirty="0">
                <a:solidFill>
                  <a:srgbClr val="173D1C"/>
                </a:solidFill>
                <a:latin typeface="Cambria" pitchFamily="34" charset="0"/>
                <a:ea typeface="Cambria" pitchFamily="34" charset="-122"/>
                <a:cs typeface="Cambria" pitchFamily="34" charset="-120"/>
              </a:rPr>
              <a:t>Locally-trained, openly-deployed</a:t>
            </a:r>
            <a:endParaRPr lang="en-US" sz="1650" dirty="0"/>
          </a:p>
        </p:txBody>
      </p:sp>
      <p:sp>
        <p:nvSpPr>
          <p:cNvPr id="8" name="Text 6"/>
          <p:cNvSpPr/>
          <p:nvPr/>
        </p:nvSpPr>
        <p:spPr>
          <a:xfrm>
            <a:off x="914400" y="2743200"/>
            <a:ext cx="4709160" cy="822960"/>
          </a:xfrm>
          <a:prstGeom prst="rect">
            <a:avLst/>
          </a:prstGeom>
          <a:noFill/>
          <a:ln/>
        </p:spPr>
        <p:txBody>
          <a:bodyPr wrap="square" rtlCol="0" anchor="ctr"/>
          <a:lstStyle/>
          <a:p>
            <a:pPr indent="0" marL="0">
              <a:buNone/>
            </a:pPr>
            <a:r>
              <a:rPr lang="en-US" sz="1300" dirty="0">
                <a:solidFill>
                  <a:srgbClr val="24261F"/>
                </a:solidFill>
                <a:latin typeface="Calibri" pitchFamily="34" charset="0"/>
                <a:ea typeface="Calibri" pitchFamily="34" charset="-122"/>
                <a:cs typeface="Calibri" pitchFamily="34" charset="-120"/>
              </a:rPr>
              <a:t>JMuBEN models stayed as notebooks. I carry a JMuBEN-trained model all the way to a live URL.</a:t>
            </a:r>
            <a:endParaRPr lang="en-US" sz="1300" dirty="0"/>
          </a:p>
        </p:txBody>
      </p:sp>
      <p:sp>
        <p:nvSpPr>
          <p:cNvPr id="9" name="Shape 7"/>
          <p:cNvSpPr/>
          <p:nvPr/>
        </p:nvSpPr>
        <p:spPr>
          <a:xfrm>
            <a:off x="6217920" y="1783080"/>
            <a:ext cx="5257800" cy="1874520"/>
          </a:xfrm>
          <a:prstGeom prst="roundRect">
            <a:avLst>
              <a:gd name="adj" fmla="val 439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0" name="Shape 8"/>
          <p:cNvSpPr/>
          <p:nvPr/>
        </p:nvSpPr>
        <p:spPr>
          <a:xfrm>
            <a:off x="6473952" y="2075688"/>
            <a:ext cx="502920" cy="502920"/>
          </a:xfrm>
          <a:prstGeom prst="ellipse">
            <a:avLst/>
          </a:prstGeom>
          <a:solidFill>
            <a:srgbClr val="6F4E37"/>
          </a:solidFill>
          <a:ln/>
        </p:spPr>
      </p:sp>
      <p:sp>
        <p:nvSpPr>
          <p:cNvPr id="11" name="Text 9"/>
          <p:cNvSpPr/>
          <p:nvPr/>
        </p:nvSpPr>
        <p:spPr>
          <a:xfrm>
            <a:off x="6473952" y="2075688"/>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178040" y="2039112"/>
            <a:ext cx="4069080" cy="640080"/>
          </a:xfrm>
          <a:prstGeom prst="rect">
            <a:avLst/>
          </a:prstGeom>
          <a:noFill/>
          <a:ln/>
        </p:spPr>
        <p:txBody>
          <a:bodyPr wrap="square" rtlCol="0" anchor="ctr"/>
          <a:lstStyle/>
          <a:p>
            <a:pPr indent="0" marL="0">
              <a:buNone/>
            </a:pPr>
            <a:r>
              <a:rPr lang="en-US" sz="1650" b="1" dirty="0">
                <a:solidFill>
                  <a:srgbClr val="173D1C"/>
                </a:solidFill>
                <a:latin typeface="Cambria" pitchFamily="34" charset="0"/>
                <a:ea typeface="Cambria" pitchFamily="34" charset="-122"/>
                <a:cs typeface="Cambria" pitchFamily="34" charset="-120"/>
              </a:rPr>
              <a:t>Binary focus</a:t>
            </a:r>
            <a:endParaRPr lang="en-US" sz="1650" dirty="0"/>
          </a:p>
        </p:txBody>
      </p:sp>
      <p:sp>
        <p:nvSpPr>
          <p:cNvPr id="13" name="Text 11"/>
          <p:cNvSpPr/>
          <p:nvPr/>
        </p:nvSpPr>
        <p:spPr>
          <a:xfrm>
            <a:off x="6492240" y="2743200"/>
            <a:ext cx="4709160" cy="822960"/>
          </a:xfrm>
          <a:prstGeom prst="rect">
            <a:avLst/>
          </a:prstGeom>
          <a:noFill/>
          <a:ln/>
        </p:spPr>
        <p:txBody>
          <a:bodyPr wrap="square" rtlCol="0" anchor="ctr"/>
          <a:lstStyle/>
          <a:p>
            <a:pPr indent="0" marL="0">
              <a:buNone/>
            </a:pPr>
            <a:r>
              <a:rPr lang="en-US" sz="1300" dirty="0">
                <a:solidFill>
                  <a:srgbClr val="24261F"/>
                </a:solidFill>
                <a:latin typeface="Calibri" pitchFamily="34" charset="0"/>
                <a:ea typeface="Calibri" pitchFamily="34" charset="-122"/>
                <a:cs typeface="Calibri" pitchFamily="34" charset="-120"/>
              </a:rPr>
              <a:t>Farmers decide spray-or-not. A clean rust/not-rust answer beats a five-way classification at the moment of decision.</a:t>
            </a:r>
            <a:endParaRPr lang="en-US" sz="1300" dirty="0"/>
          </a:p>
        </p:txBody>
      </p:sp>
      <p:sp>
        <p:nvSpPr>
          <p:cNvPr id="14" name="Shape 12"/>
          <p:cNvSpPr/>
          <p:nvPr/>
        </p:nvSpPr>
        <p:spPr>
          <a:xfrm>
            <a:off x="640080" y="3931920"/>
            <a:ext cx="5257800" cy="1874520"/>
          </a:xfrm>
          <a:prstGeom prst="roundRect">
            <a:avLst>
              <a:gd name="adj" fmla="val 439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5" name="Shape 13"/>
          <p:cNvSpPr/>
          <p:nvPr/>
        </p:nvSpPr>
        <p:spPr>
          <a:xfrm>
            <a:off x="896112" y="4224528"/>
            <a:ext cx="502920" cy="502920"/>
          </a:xfrm>
          <a:prstGeom prst="ellipse">
            <a:avLst/>
          </a:prstGeom>
          <a:solidFill>
            <a:srgbClr val="2C5F2D"/>
          </a:solidFill>
          <a:ln/>
        </p:spPr>
      </p:sp>
      <p:sp>
        <p:nvSpPr>
          <p:cNvPr id="16" name="Text 14"/>
          <p:cNvSpPr/>
          <p:nvPr/>
        </p:nvSpPr>
        <p:spPr>
          <a:xfrm>
            <a:off x="896112" y="4224528"/>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600200" y="4187952"/>
            <a:ext cx="4069080" cy="640080"/>
          </a:xfrm>
          <a:prstGeom prst="rect">
            <a:avLst/>
          </a:prstGeom>
          <a:noFill/>
          <a:ln/>
        </p:spPr>
        <p:txBody>
          <a:bodyPr wrap="square" rtlCol="0" anchor="ctr"/>
          <a:lstStyle/>
          <a:p>
            <a:pPr indent="0" marL="0">
              <a:buNone/>
            </a:pPr>
            <a:r>
              <a:rPr lang="en-US" sz="1650" b="1" dirty="0">
                <a:solidFill>
                  <a:srgbClr val="173D1C"/>
                </a:solidFill>
                <a:latin typeface="Cambria" pitchFamily="34" charset="0"/>
                <a:ea typeface="Cambria" pitchFamily="34" charset="-122"/>
                <a:cs typeface="Cambria" pitchFamily="34" charset="-120"/>
              </a:rPr>
              <a:t>Smartphone without an app</a:t>
            </a:r>
            <a:endParaRPr lang="en-US" sz="1650" dirty="0"/>
          </a:p>
        </p:txBody>
      </p:sp>
      <p:sp>
        <p:nvSpPr>
          <p:cNvPr id="18" name="Text 16"/>
          <p:cNvSpPr/>
          <p:nvPr/>
        </p:nvSpPr>
        <p:spPr>
          <a:xfrm>
            <a:off x="914400" y="4892040"/>
            <a:ext cx="4709160" cy="822960"/>
          </a:xfrm>
          <a:prstGeom prst="rect">
            <a:avLst/>
          </a:prstGeom>
          <a:noFill/>
          <a:ln/>
        </p:spPr>
        <p:txBody>
          <a:bodyPr wrap="square" rtlCol="0" anchor="ctr"/>
          <a:lstStyle/>
          <a:p>
            <a:pPr indent="0" marL="0">
              <a:buNone/>
            </a:pPr>
            <a:r>
              <a:rPr lang="en-US" sz="1300" dirty="0">
                <a:solidFill>
                  <a:srgbClr val="24261F"/>
                </a:solidFill>
                <a:latin typeface="Calibri" pitchFamily="34" charset="0"/>
                <a:ea typeface="Calibri" pitchFamily="34" charset="-122"/>
                <a:cs typeface="Calibri" pitchFamily="34" charset="-120"/>
              </a:rPr>
              <a:t>No Play-Store install, no WhatsApp bot — just a web URL opened in a mobile browser.</a:t>
            </a:r>
            <a:endParaRPr lang="en-US" sz="1300" dirty="0"/>
          </a:p>
        </p:txBody>
      </p:sp>
      <p:sp>
        <p:nvSpPr>
          <p:cNvPr id="19" name="Shape 17"/>
          <p:cNvSpPr/>
          <p:nvPr/>
        </p:nvSpPr>
        <p:spPr>
          <a:xfrm>
            <a:off x="6217920" y="3931920"/>
            <a:ext cx="5257800" cy="1874520"/>
          </a:xfrm>
          <a:prstGeom prst="roundRect">
            <a:avLst>
              <a:gd name="adj" fmla="val 439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0" name="Shape 18"/>
          <p:cNvSpPr/>
          <p:nvPr/>
        </p:nvSpPr>
        <p:spPr>
          <a:xfrm>
            <a:off x="6473952" y="4224528"/>
            <a:ext cx="502920" cy="502920"/>
          </a:xfrm>
          <a:prstGeom prst="ellipse">
            <a:avLst/>
          </a:prstGeom>
          <a:solidFill>
            <a:srgbClr val="6F4E37"/>
          </a:solidFill>
          <a:ln/>
        </p:spPr>
      </p:sp>
      <p:sp>
        <p:nvSpPr>
          <p:cNvPr id="21" name="Text 19"/>
          <p:cNvSpPr/>
          <p:nvPr/>
        </p:nvSpPr>
        <p:spPr>
          <a:xfrm>
            <a:off x="6473952" y="4224528"/>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178040" y="4187952"/>
            <a:ext cx="4069080" cy="640080"/>
          </a:xfrm>
          <a:prstGeom prst="rect">
            <a:avLst/>
          </a:prstGeom>
          <a:noFill/>
          <a:ln/>
        </p:spPr>
        <p:txBody>
          <a:bodyPr wrap="square" rtlCol="0" anchor="ctr"/>
          <a:lstStyle/>
          <a:p>
            <a:pPr indent="0" marL="0">
              <a:buNone/>
            </a:pPr>
            <a:r>
              <a:rPr lang="en-US" sz="1650" b="1" dirty="0">
                <a:solidFill>
                  <a:srgbClr val="173D1C"/>
                </a:solidFill>
                <a:latin typeface="Cambria" pitchFamily="34" charset="0"/>
                <a:ea typeface="Cambria" pitchFamily="34" charset="-122"/>
                <a:cs typeface="Cambria" pitchFamily="34" charset="-120"/>
              </a:rPr>
              <a:t>Full documentation trail</a:t>
            </a:r>
            <a:endParaRPr lang="en-US" sz="1650" dirty="0"/>
          </a:p>
        </p:txBody>
      </p:sp>
      <p:sp>
        <p:nvSpPr>
          <p:cNvPr id="23" name="Text 21"/>
          <p:cNvSpPr/>
          <p:nvPr/>
        </p:nvSpPr>
        <p:spPr>
          <a:xfrm>
            <a:off x="6492240" y="4892040"/>
            <a:ext cx="4709160" cy="822960"/>
          </a:xfrm>
          <a:prstGeom prst="rect">
            <a:avLst/>
          </a:prstGeom>
          <a:noFill/>
          <a:ln/>
        </p:spPr>
        <p:txBody>
          <a:bodyPr wrap="square" rtlCol="0" anchor="ctr"/>
          <a:lstStyle/>
          <a:p>
            <a:pPr indent="0" marL="0">
              <a:buNone/>
            </a:pPr>
            <a:r>
              <a:rPr lang="en-US" sz="1300" dirty="0">
                <a:solidFill>
                  <a:srgbClr val="24261F"/>
                </a:solidFill>
                <a:latin typeface="Calibri" pitchFamily="34" charset="0"/>
                <a:ea typeface="Calibri" pitchFamily="34" charset="-122"/>
                <a:cs typeface="Calibri" pitchFamily="34" charset="-120"/>
              </a:rPr>
              <a:t>Explicit requirements, design diagrams, tests and deployment steps other students can build on.</a:t>
            </a:r>
            <a:endParaRPr lang="en-US" sz="1300" dirty="0"/>
          </a:p>
        </p:txBody>
      </p:sp>
      <p:sp>
        <p:nvSpPr>
          <p:cNvPr id="24" name="Text 22"/>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25" name="Text 23"/>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RESEARCH METHODOLOGY</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Prototyping model — build, show, refine</a:t>
            </a:r>
            <a:endParaRPr lang="en-US" sz="3000" dirty="0"/>
          </a:p>
        </p:txBody>
      </p:sp>
      <p:sp>
        <p:nvSpPr>
          <p:cNvPr id="4" name="Text 2"/>
          <p:cNvSpPr/>
          <p:nvPr/>
        </p:nvSpPr>
        <p:spPr>
          <a:xfrm>
            <a:off x="640080" y="1691640"/>
            <a:ext cx="10911535" cy="548640"/>
          </a:xfrm>
          <a:prstGeom prst="rect">
            <a:avLst/>
          </a:prstGeom>
          <a:noFill/>
          <a:ln/>
        </p:spPr>
        <p:txBody>
          <a:bodyPr wrap="square" rtlCol="0" anchor="ctr"/>
          <a:lstStyle/>
          <a:p>
            <a:pPr indent="0" marL="0">
              <a:buNone/>
            </a:pPr>
            <a:r>
              <a:rPr lang="en-US" sz="1350" i="1" dirty="0">
                <a:solidFill>
                  <a:srgbClr val="6E6E66"/>
                </a:solidFill>
                <a:latin typeface="Calibri" pitchFamily="34" charset="0"/>
                <a:ea typeface="Calibri" pitchFamily="34" charset="-122"/>
                <a:cs typeface="Calibri" pitchFamily="34" charset="-120"/>
              </a:rPr>
              <a:t>Chosen because a learned model's accuracy cannot be known until a prototype is trained and tested — so the system was built in iterative cycles with user feedback.</a:t>
            </a:r>
            <a:endParaRPr lang="en-US" sz="1350" dirty="0"/>
          </a:p>
        </p:txBody>
      </p:sp>
      <p:sp>
        <p:nvSpPr>
          <p:cNvPr id="5" name="Shape 3"/>
          <p:cNvSpPr/>
          <p:nvPr/>
        </p:nvSpPr>
        <p:spPr>
          <a:xfrm>
            <a:off x="640080" y="2423160"/>
            <a:ext cx="2514600" cy="1188720"/>
          </a:xfrm>
          <a:prstGeom prst="roundRect">
            <a:avLst>
              <a:gd name="adj" fmla="val 6154"/>
            </a:avLst>
          </a:prstGeom>
          <a:solidFill>
            <a:srgbClr val="173D1C"/>
          </a:solidFill>
          <a:ln/>
        </p:spPr>
      </p:sp>
      <p:sp>
        <p:nvSpPr>
          <p:cNvPr id="6" name="Text 4"/>
          <p:cNvSpPr/>
          <p:nvPr/>
        </p:nvSpPr>
        <p:spPr>
          <a:xfrm>
            <a:off x="777240" y="2532888"/>
            <a:ext cx="548640" cy="457200"/>
          </a:xfrm>
          <a:prstGeom prst="rect">
            <a:avLst/>
          </a:prstGeom>
          <a:noFill/>
          <a:ln/>
        </p:spPr>
        <p:txBody>
          <a:bodyPr wrap="square" rtlCol="0" anchor="ctr"/>
          <a:lstStyle/>
          <a:p>
            <a:pPr indent="0" marL="0">
              <a:buNone/>
            </a:pPr>
            <a:r>
              <a:rPr lang="en-US" sz="2200" b="1" dirty="0">
                <a:solidFill>
                  <a:srgbClr val="97BC62"/>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777240" y="2926080"/>
            <a:ext cx="2240280" cy="32004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Requirements</a:t>
            </a:r>
            <a:endParaRPr lang="en-US" sz="1500" dirty="0"/>
          </a:p>
        </p:txBody>
      </p:sp>
      <p:sp>
        <p:nvSpPr>
          <p:cNvPr id="8" name="Text 6"/>
          <p:cNvSpPr/>
          <p:nvPr/>
        </p:nvSpPr>
        <p:spPr>
          <a:xfrm>
            <a:off x="777240" y="3246120"/>
            <a:ext cx="2240280" cy="320040"/>
          </a:xfrm>
          <a:prstGeom prst="rect">
            <a:avLst/>
          </a:prstGeom>
          <a:noFill/>
          <a:ln/>
        </p:spPr>
        <p:txBody>
          <a:bodyPr wrap="square" rtlCol="0" anchor="ctr"/>
          <a:lstStyle/>
          <a:p>
            <a:pPr indent="0" marL="0">
              <a:buNone/>
            </a:pPr>
            <a:r>
              <a:rPr lang="en-US" sz="1100" dirty="0">
                <a:solidFill>
                  <a:srgbClr val="D9E4CC"/>
                </a:solidFill>
                <a:latin typeface="Calibri" pitchFamily="34" charset="0"/>
                <a:ea typeface="Calibri" pitchFamily="34" charset="-122"/>
                <a:cs typeface="Calibri" pitchFamily="34" charset="-120"/>
              </a:rPr>
              <a:t>Interviews + questionnaires</a:t>
            </a:r>
            <a:endParaRPr lang="en-US" sz="1100" dirty="0"/>
          </a:p>
        </p:txBody>
      </p:sp>
      <p:sp>
        <p:nvSpPr>
          <p:cNvPr id="9" name="Text 7"/>
          <p:cNvSpPr/>
          <p:nvPr/>
        </p:nvSpPr>
        <p:spPr>
          <a:xfrm>
            <a:off x="3136392" y="2423160"/>
            <a:ext cx="365760" cy="1188720"/>
          </a:xfrm>
          <a:prstGeom prst="rect">
            <a:avLst/>
          </a:prstGeom>
          <a:noFill/>
          <a:ln/>
        </p:spPr>
        <p:txBody>
          <a:bodyPr wrap="square" rtlCol="0" anchor="ctr"/>
          <a:lstStyle/>
          <a:p>
            <a:pPr algn="ctr" indent="0" marL="0">
              <a:buNone/>
            </a:pPr>
            <a:r>
              <a:rPr lang="en-US" sz="2200" b="1" dirty="0">
                <a:solidFill>
                  <a:srgbClr val="B85C2E"/>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474720" y="2423160"/>
            <a:ext cx="2514600" cy="1188720"/>
          </a:xfrm>
          <a:prstGeom prst="roundRect">
            <a:avLst>
              <a:gd name="adj" fmla="val 6154"/>
            </a:avLst>
          </a:prstGeom>
          <a:solidFill>
            <a:srgbClr val="2C5F2D"/>
          </a:solidFill>
          <a:ln/>
        </p:spPr>
      </p:sp>
      <p:sp>
        <p:nvSpPr>
          <p:cNvPr id="11" name="Text 9"/>
          <p:cNvSpPr/>
          <p:nvPr/>
        </p:nvSpPr>
        <p:spPr>
          <a:xfrm>
            <a:off x="3611880" y="2532888"/>
            <a:ext cx="548640" cy="457200"/>
          </a:xfrm>
          <a:prstGeom prst="rect">
            <a:avLst/>
          </a:prstGeom>
          <a:noFill/>
          <a:ln/>
        </p:spPr>
        <p:txBody>
          <a:bodyPr wrap="square" rtlCol="0" anchor="ctr"/>
          <a:lstStyle/>
          <a:p>
            <a:pPr indent="0" marL="0">
              <a:buNone/>
            </a:pPr>
            <a:r>
              <a:rPr lang="en-US" sz="2200" b="1" dirty="0">
                <a:solidFill>
                  <a:srgbClr val="97BC62"/>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3611880" y="2926080"/>
            <a:ext cx="2240280" cy="32004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Build prototype</a:t>
            </a:r>
            <a:endParaRPr lang="en-US" sz="1500" dirty="0"/>
          </a:p>
        </p:txBody>
      </p:sp>
      <p:sp>
        <p:nvSpPr>
          <p:cNvPr id="13" name="Text 11"/>
          <p:cNvSpPr/>
          <p:nvPr/>
        </p:nvSpPr>
        <p:spPr>
          <a:xfrm>
            <a:off x="3611880" y="3246120"/>
            <a:ext cx="2240280" cy="320040"/>
          </a:xfrm>
          <a:prstGeom prst="rect">
            <a:avLst/>
          </a:prstGeom>
          <a:noFill/>
          <a:ln/>
        </p:spPr>
        <p:txBody>
          <a:bodyPr wrap="square" rtlCol="0" anchor="ctr"/>
          <a:lstStyle/>
          <a:p>
            <a:pPr indent="0" marL="0">
              <a:buNone/>
            </a:pPr>
            <a:r>
              <a:rPr lang="en-US" sz="1100" dirty="0">
                <a:solidFill>
                  <a:srgbClr val="D9E4CC"/>
                </a:solidFill>
                <a:latin typeface="Calibri" pitchFamily="34" charset="0"/>
                <a:ea typeface="Calibri" pitchFamily="34" charset="-122"/>
                <a:cs typeface="Calibri" pitchFamily="34" charset="-120"/>
              </a:rPr>
              <a:t>Train model, code UI</a:t>
            </a:r>
            <a:endParaRPr lang="en-US" sz="1100" dirty="0"/>
          </a:p>
        </p:txBody>
      </p:sp>
      <p:sp>
        <p:nvSpPr>
          <p:cNvPr id="14" name="Text 12"/>
          <p:cNvSpPr/>
          <p:nvPr/>
        </p:nvSpPr>
        <p:spPr>
          <a:xfrm>
            <a:off x="5971032" y="2423160"/>
            <a:ext cx="365760" cy="1188720"/>
          </a:xfrm>
          <a:prstGeom prst="rect">
            <a:avLst/>
          </a:prstGeom>
          <a:noFill/>
          <a:ln/>
        </p:spPr>
        <p:txBody>
          <a:bodyPr wrap="square" rtlCol="0" anchor="ctr"/>
          <a:lstStyle/>
          <a:p>
            <a:pPr algn="ctr" indent="0" marL="0">
              <a:buNone/>
            </a:pPr>
            <a:r>
              <a:rPr lang="en-US" sz="2200" b="1" dirty="0">
                <a:solidFill>
                  <a:srgbClr val="B85C2E"/>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6309360" y="2423160"/>
            <a:ext cx="2514600" cy="1188720"/>
          </a:xfrm>
          <a:prstGeom prst="roundRect">
            <a:avLst>
              <a:gd name="adj" fmla="val 6154"/>
            </a:avLst>
          </a:prstGeom>
          <a:solidFill>
            <a:srgbClr val="173D1C"/>
          </a:solidFill>
          <a:ln/>
        </p:spPr>
      </p:sp>
      <p:sp>
        <p:nvSpPr>
          <p:cNvPr id="16" name="Text 14"/>
          <p:cNvSpPr/>
          <p:nvPr/>
        </p:nvSpPr>
        <p:spPr>
          <a:xfrm>
            <a:off x="6446520" y="2532888"/>
            <a:ext cx="548640" cy="457200"/>
          </a:xfrm>
          <a:prstGeom prst="rect">
            <a:avLst/>
          </a:prstGeom>
          <a:noFill/>
          <a:ln/>
        </p:spPr>
        <p:txBody>
          <a:bodyPr wrap="square" rtlCol="0" anchor="ctr"/>
          <a:lstStyle/>
          <a:p>
            <a:pPr indent="0" marL="0">
              <a:buNone/>
            </a:pPr>
            <a:r>
              <a:rPr lang="en-US" sz="2200" b="1" dirty="0">
                <a:solidFill>
                  <a:srgbClr val="97BC62"/>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6446520" y="2926080"/>
            <a:ext cx="2240280" cy="32004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Test with users</a:t>
            </a:r>
            <a:endParaRPr lang="en-US" sz="1500" dirty="0"/>
          </a:p>
        </p:txBody>
      </p:sp>
      <p:sp>
        <p:nvSpPr>
          <p:cNvPr id="18" name="Text 16"/>
          <p:cNvSpPr/>
          <p:nvPr/>
        </p:nvSpPr>
        <p:spPr>
          <a:xfrm>
            <a:off x="6446520" y="3246120"/>
            <a:ext cx="2240280" cy="320040"/>
          </a:xfrm>
          <a:prstGeom prst="rect">
            <a:avLst/>
          </a:prstGeom>
          <a:noFill/>
          <a:ln/>
        </p:spPr>
        <p:txBody>
          <a:bodyPr wrap="square" rtlCol="0" anchor="ctr"/>
          <a:lstStyle/>
          <a:p>
            <a:pPr indent="0" marL="0">
              <a:buNone/>
            </a:pPr>
            <a:r>
              <a:rPr lang="en-US" sz="1100" dirty="0">
                <a:solidFill>
                  <a:srgbClr val="D9E4CC"/>
                </a:solidFill>
                <a:latin typeface="Calibri" pitchFamily="34" charset="0"/>
                <a:ea typeface="Calibri" pitchFamily="34" charset="-122"/>
                <a:cs typeface="Calibri" pitchFamily="34" charset="-120"/>
              </a:rPr>
              <a:t>Farmers &amp; officers</a:t>
            </a:r>
            <a:endParaRPr lang="en-US" sz="1100" dirty="0"/>
          </a:p>
        </p:txBody>
      </p:sp>
      <p:sp>
        <p:nvSpPr>
          <p:cNvPr id="19" name="Text 17"/>
          <p:cNvSpPr/>
          <p:nvPr/>
        </p:nvSpPr>
        <p:spPr>
          <a:xfrm>
            <a:off x="8805672" y="2423160"/>
            <a:ext cx="365760" cy="1188720"/>
          </a:xfrm>
          <a:prstGeom prst="rect">
            <a:avLst/>
          </a:prstGeom>
          <a:noFill/>
          <a:ln/>
        </p:spPr>
        <p:txBody>
          <a:bodyPr wrap="square" rtlCol="0" anchor="ctr"/>
          <a:lstStyle/>
          <a:p>
            <a:pPr algn="ctr" indent="0" marL="0">
              <a:buNone/>
            </a:pPr>
            <a:r>
              <a:rPr lang="en-US" sz="2200" b="1" dirty="0">
                <a:solidFill>
                  <a:srgbClr val="B85C2E"/>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9144000" y="2423160"/>
            <a:ext cx="2514600" cy="1188720"/>
          </a:xfrm>
          <a:prstGeom prst="roundRect">
            <a:avLst>
              <a:gd name="adj" fmla="val 6154"/>
            </a:avLst>
          </a:prstGeom>
          <a:solidFill>
            <a:srgbClr val="2C5F2D"/>
          </a:solidFill>
          <a:ln/>
        </p:spPr>
      </p:sp>
      <p:sp>
        <p:nvSpPr>
          <p:cNvPr id="21" name="Text 19"/>
          <p:cNvSpPr/>
          <p:nvPr/>
        </p:nvSpPr>
        <p:spPr>
          <a:xfrm>
            <a:off x="9281160" y="2532888"/>
            <a:ext cx="548640" cy="457200"/>
          </a:xfrm>
          <a:prstGeom prst="rect">
            <a:avLst/>
          </a:prstGeom>
          <a:noFill/>
          <a:ln/>
        </p:spPr>
        <p:txBody>
          <a:bodyPr wrap="square" rtlCol="0" anchor="ctr"/>
          <a:lstStyle/>
          <a:p>
            <a:pPr indent="0" marL="0">
              <a:buNone/>
            </a:pPr>
            <a:r>
              <a:rPr lang="en-US" sz="2200" b="1" dirty="0">
                <a:solidFill>
                  <a:srgbClr val="97BC62"/>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9281160" y="2926080"/>
            <a:ext cx="2240280" cy="32004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Refine</a:t>
            </a:r>
            <a:endParaRPr lang="en-US" sz="1500" dirty="0"/>
          </a:p>
        </p:txBody>
      </p:sp>
      <p:sp>
        <p:nvSpPr>
          <p:cNvPr id="23" name="Text 21"/>
          <p:cNvSpPr/>
          <p:nvPr/>
        </p:nvSpPr>
        <p:spPr>
          <a:xfrm>
            <a:off x="9281160" y="3246120"/>
            <a:ext cx="2240280" cy="320040"/>
          </a:xfrm>
          <a:prstGeom prst="rect">
            <a:avLst/>
          </a:prstGeom>
          <a:noFill/>
          <a:ln/>
        </p:spPr>
        <p:txBody>
          <a:bodyPr wrap="square" rtlCol="0" anchor="ctr"/>
          <a:lstStyle/>
          <a:p>
            <a:pPr indent="0" marL="0">
              <a:buNone/>
            </a:pPr>
            <a:r>
              <a:rPr lang="en-US" sz="1100" dirty="0">
                <a:solidFill>
                  <a:srgbClr val="D9E4CC"/>
                </a:solidFill>
                <a:latin typeface="Calibri" pitchFamily="34" charset="0"/>
                <a:ea typeface="Calibri" pitchFamily="34" charset="-122"/>
                <a:cs typeface="Calibri" pitchFamily="34" charset="-120"/>
              </a:rPr>
              <a:t>Feed back into next cycle</a:t>
            </a:r>
            <a:endParaRPr lang="en-US" sz="1100" dirty="0"/>
          </a:p>
        </p:txBody>
      </p:sp>
      <p:sp>
        <p:nvSpPr>
          <p:cNvPr id="24" name="Shape 22"/>
          <p:cNvSpPr/>
          <p:nvPr/>
        </p:nvSpPr>
        <p:spPr>
          <a:xfrm>
            <a:off x="914400" y="3703320"/>
            <a:ext cx="7955280" cy="0"/>
          </a:xfrm>
          <a:prstGeom prst="line">
            <a:avLst/>
          </a:prstGeom>
          <a:noFill/>
          <a:ln w="15875">
            <a:solidFill>
              <a:srgbClr val="B85C2E"/>
            </a:solidFill>
            <a:prstDash val="dash"/>
            <a:headEnd type="triangle"/>
            <a:tailEnd type="triangle"/>
          </a:ln>
        </p:spPr>
      </p:sp>
      <p:sp>
        <p:nvSpPr>
          <p:cNvPr id="25" name="Text 23"/>
          <p:cNvSpPr/>
          <p:nvPr/>
        </p:nvSpPr>
        <p:spPr>
          <a:xfrm>
            <a:off x="640080" y="3749040"/>
            <a:ext cx="10881360" cy="274320"/>
          </a:xfrm>
          <a:prstGeom prst="rect">
            <a:avLst/>
          </a:prstGeom>
          <a:noFill/>
          <a:ln/>
        </p:spPr>
        <p:txBody>
          <a:bodyPr wrap="square" rtlCol="0" anchor="ctr"/>
          <a:lstStyle/>
          <a:p>
            <a:pPr algn="ctr" indent="0" marL="0">
              <a:buNone/>
            </a:pPr>
            <a:r>
              <a:rPr lang="en-US" sz="1100" i="1" dirty="0">
                <a:solidFill>
                  <a:srgbClr val="B85C2E"/>
                </a:solidFill>
                <a:latin typeface="Calibri" pitchFamily="34" charset="0"/>
                <a:ea typeface="Calibri" pitchFamily="34" charset="-122"/>
                <a:cs typeface="Calibri" pitchFamily="34" charset="-120"/>
              </a:rPr>
              <a:t>iterate until acceptance criteria are met</a:t>
            </a:r>
            <a:endParaRPr lang="en-US" sz="1100" dirty="0"/>
          </a:p>
        </p:txBody>
      </p:sp>
      <p:sp>
        <p:nvSpPr>
          <p:cNvPr id="26" name="Text 24"/>
          <p:cNvSpPr/>
          <p:nvPr/>
        </p:nvSpPr>
        <p:spPr>
          <a:xfrm>
            <a:off x="640080" y="4251960"/>
            <a:ext cx="10881360" cy="320040"/>
          </a:xfrm>
          <a:prstGeom prst="rect">
            <a:avLst/>
          </a:prstGeom>
          <a:noFill/>
          <a:ln/>
        </p:spPr>
        <p:txBody>
          <a:bodyPr wrap="square" rtlCol="0" anchor="ctr"/>
          <a:lstStyle/>
          <a:p>
            <a:pPr indent="0" marL="0">
              <a:buNone/>
            </a:pPr>
            <a:r>
              <a:rPr lang="en-US" sz="1600" b="1" dirty="0">
                <a:solidFill>
                  <a:srgbClr val="6F4E37"/>
                </a:solidFill>
                <a:latin typeface="Cambria" pitchFamily="34" charset="0"/>
                <a:ea typeface="Cambria" pitchFamily="34" charset="-122"/>
                <a:cs typeface="Cambria" pitchFamily="34" charset="-120"/>
              </a:rPr>
              <a:t>Data collection &amp; analysis</a:t>
            </a:r>
            <a:endParaRPr lang="en-US" sz="1600" dirty="0"/>
          </a:p>
        </p:txBody>
      </p:sp>
      <p:sp>
        <p:nvSpPr>
          <p:cNvPr id="27" name="Shape 25"/>
          <p:cNvSpPr/>
          <p:nvPr/>
        </p:nvSpPr>
        <p:spPr>
          <a:xfrm>
            <a:off x="640080" y="4617720"/>
            <a:ext cx="3502152" cy="1234440"/>
          </a:xfrm>
          <a:prstGeom prst="roundRect">
            <a:avLst>
              <a:gd name="adj" fmla="val 666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8" name="Text 26"/>
          <p:cNvSpPr/>
          <p:nvPr/>
        </p:nvSpPr>
        <p:spPr>
          <a:xfrm>
            <a:off x="822960" y="4709160"/>
            <a:ext cx="3200400" cy="320040"/>
          </a:xfrm>
          <a:prstGeom prst="rect">
            <a:avLst/>
          </a:prstGeom>
          <a:noFill/>
          <a:ln/>
        </p:spPr>
        <p:txBody>
          <a:bodyPr wrap="square" rtlCol="0" anchor="ctr"/>
          <a:lstStyle/>
          <a:p>
            <a:pPr indent="0" marL="0">
              <a:buNone/>
            </a:pPr>
            <a:r>
              <a:rPr lang="en-US" sz="1400" b="1" dirty="0">
                <a:solidFill>
                  <a:srgbClr val="173D1C"/>
                </a:solidFill>
                <a:latin typeface="Cambria" pitchFamily="34" charset="0"/>
                <a:ea typeface="Cambria" pitchFamily="34" charset="-122"/>
                <a:cs typeface="Cambria" pitchFamily="34" charset="-120"/>
              </a:rPr>
              <a:t>Interviews</a:t>
            </a:r>
            <a:endParaRPr lang="en-US" sz="1400" dirty="0"/>
          </a:p>
        </p:txBody>
      </p:sp>
      <p:sp>
        <p:nvSpPr>
          <p:cNvPr id="29" name="Text 27"/>
          <p:cNvSpPr/>
          <p:nvPr/>
        </p:nvSpPr>
        <p:spPr>
          <a:xfrm>
            <a:off x="822960" y="5029200"/>
            <a:ext cx="3200400" cy="73152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12 smallholder farmers + 3 extension officers (semi-structured)</a:t>
            </a:r>
            <a:endParaRPr lang="en-US" sz="1150" dirty="0"/>
          </a:p>
        </p:txBody>
      </p:sp>
      <p:sp>
        <p:nvSpPr>
          <p:cNvPr id="30" name="Shape 28"/>
          <p:cNvSpPr/>
          <p:nvPr/>
        </p:nvSpPr>
        <p:spPr>
          <a:xfrm>
            <a:off x="4325112" y="4617720"/>
            <a:ext cx="3502152" cy="1234440"/>
          </a:xfrm>
          <a:prstGeom prst="roundRect">
            <a:avLst>
              <a:gd name="adj" fmla="val 666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31" name="Text 29"/>
          <p:cNvSpPr/>
          <p:nvPr/>
        </p:nvSpPr>
        <p:spPr>
          <a:xfrm>
            <a:off x="4507992" y="4709160"/>
            <a:ext cx="3200400" cy="320040"/>
          </a:xfrm>
          <a:prstGeom prst="rect">
            <a:avLst/>
          </a:prstGeom>
          <a:noFill/>
          <a:ln/>
        </p:spPr>
        <p:txBody>
          <a:bodyPr wrap="square" rtlCol="0" anchor="ctr"/>
          <a:lstStyle/>
          <a:p>
            <a:pPr indent="0" marL="0">
              <a:buNone/>
            </a:pPr>
            <a:r>
              <a:rPr lang="en-US" sz="1400" b="1" dirty="0">
                <a:solidFill>
                  <a:srgbClr val="173D1C"/>
                </a:solidFill>
                <a:latin typeface="Cambria" pitchFamily="34" charset="0"/>
                <a:ea typeface="Cambria" pitchFamily="34" charset="-122"/>
                <a:cs typeface="Cambria" pitchFamily="34" charset="-120"/>
              </a:rPr>
              <a:t>Images</a:t>
            </a:r>
            <a:endParaRPr lang="en-US" sz="1400" dirty="0"/>
          </a:p>
        </p:txBody>
      </p:sp>
      <p:sp>
        <p:nvSpPr>
          <p:cNvPr id="32" name="Text 30"/>
          <p:cNvSpPr/>
          <p:nvPr/>
        </p:nvSpPr>
        <p:spPr>
          <a:xfrm>
            <a:off x="4507992" y="5029200"/>
            <a:ext cx="3200400" cy="73152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JMuBEN dataset (Kirinyaga) + locally-collected leaf photos</a:t>
            </a:r>
            <a:endParaRPr lang="en-US" sz="1150" dirty="0"/>
          </a:p>
        </p:txBody>
      </p:sp>
      <p:sp>
        <p:nvSpPr>
          <p:cNvPr id="33" name="Shape 31"/>
          <p:cNvSpPr/>
          <p:nvPr/>
        </p:nvSpPr>
        <p:spPr>
          <a:xfrm>
            <a:off x="8010144" y="4617720"/>
            <a:ext cx="3502152" cy="1234440"/>
          </a:xfrm>
          <a:prstGeom prst="roundRect">
            <a:avLst>
              <a:gd name="adj" fmla="val 666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34" name="Text 32"/>
          <p:cNvSpPr/>
          <p:nvPr/>
        </p:nvSpPr>
        <p:spPr>
          <a:xfrm>
            <a:off x="8193024" y="4709160"/>
            <a:ext cx="3200400" cy="320040"/>
          </a:xfrm>
          <a:prstGeom prst="rect">
            <a:avLst/>
          </a:prstGeom>
          <a:noFill/>
          <a:ln/>
        </p:spPr>
        <p:txBody>
          <a:bodyPr wrap="square" rtlCol="0" anchor="ctr"/>
          <a:lstStyle/>
          <a:p>
            <a:pPr indent="0" marL="0">
              <a:buNone/>
            </a:pPr>
            <a:r>
              <a:rPr lang="en-US" sz="1400" b="1" dirty="0">
                <a:solidFill>
                  <a:srgbClr val="173D1C"/>
                </a:solidFill>
                <a:latin typeface="Cambria" pitchFamily="34" charset="0"/>
                <a:ea typeface="Cambria" pitchFamily="34" charset="-122"/>
                <a:cs typeface="Cambria" pitchFamily="34" charset="-120"/>
              </a:rPr>
              <a:t>Analysis</a:t>
            </a:r>
            <a:endParaRPr lang="en-US" sz="1400" dirty="0"/>
          </a:p>
        </p:txBody>
      </p:sp>
      <p:sp>
        <p:nvSpPr>
          <p:cNvPr id="35" name="Text 33"/>
          <p:cNvSpPr/>
          <p:nvPr/>
        </p:nvSpPr>
        <p:spPr>
          <a:xfrm>
            <a:off x="8193024" y="5029200"/>
            <a:ext cx="3200400" cy="73152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Accuracy, precision, recall, F1, confusion matrix; thematic coding of interviews</a:t>
            </a:r>
            <a:endParaRPr lang="en-US" sz="1150" dirty="0"/>
          </a:p>
        </p:txBody>
      </p:sp>
      <p:sp>
        <p:nvSpPr>
          <p:cNvPr id="36" name="Text 34"/>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37" name="Text 35"/>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DATA &amp; DATASET</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Kenyan images, balanced for a fair model</a:t>
            </a:r>
            <a:endParaRPr lang="en-US" sz="3000" dirty="0"/>
          </a:p>
        </p:txBody>
      </p:sp>
      <p:sp>
        <p:nvSpPr>
          <p:cNvPr id="4" name="Shape 2"/>
          <p:cNvSpPr/>
          <p:nvPr/>
        </p:nvSpPr>
        <p:spPr>
          <a:xfrm>
            <a:off x="640080" y="1783080"/>
            <a:ext cx="5074920" cy="4114800"/>
          </a:xfrm>
          <a:prstGeom prst="roundRect">
            <a:avLst>
              <a:gd name="adj" fmla="val 200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5" name="Text 3"/>
          <p:cNvSpPr/>
          <p:nvPr/>
        </p:nvSpPr>
        <p:spPr>
          <a:xfrm>
            <a:off x="868680" y="1920240"/>
            <a:ext cx="4572000" cy="365760"/>
          </a:xfrm>
          <a:prstGeom prst="rect">
            <a:avLst/>
          </a:prstGeom>
          <a:noFill/>
          <a:ln/>
        </p:spPr>
        <p:txBody>
          <a:bodyPr wrap="square" rtlCol="0" anchor="ctr"/>
          <a:lstStyle/>
          <a:p>
            <a:pPr indent="0" marL="0">
              <a:buNone/>
            </a:pPr>
            <a:r>
              <a:rPr lang="en-US" sz="1250" b="1" dirty="0">
                <a:solidFill>
                  <a:srgbClr val="173D1C"/>
                </a:solidFill>
                <a:latin typeface="Calibri" pitchFamily="34" charset="0"/>
                <a:ea typeface="Calibri" pitchFamily="34" charset="-122"/>
                <a:cs typeface="Calibri" pitchFamily="34" charset="-120"/>
              </a:rPr>
              <a:t>Balanced training subset (per class)</a:t>
            </a:r>
            <a:endParaRPr lang="en-US" sz="1250" dirty="0"/>
          </a:p>
        </p:txBody>
      </p:sp>
      <p:graphicFrame>
        <p:nvGraphicFramePr>
          <p:cNvPr id="6" name="Chart 0" descr=""/>
          <p:cNvGraphicFramePr/>
          <p:nvPr/>
        </p:nvGraphicFramePr>
        <p:xfrm>
          <a:off x="777240" y="2331720"/>
          <a:ext cx="4800600" cy="33832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989320" y="1783080"/>
            <a:ext cx="502920" cy="502920"/>
          </a:xfrm>
          <a:prstGeom prst="ellipse">
            <a:avLst/>
          </a:prstGeom>
          <a:solidFill>
            <a:srgbClr val="2C5F2D"/>
          </a:solidFill>
          <a:ln/>
        </p:spPr>
      </p:sp>
      <p:sp>
        <p:nvSpPr>
          <p:cNvPr id="8" name="Text 5"/>
          <p:cNvSpPr/>
          <p:nvPr/>
        </p:nvSpPr>
        <p:spPr>
          <a:xfrm>
            <a:off x="5989320" y="17830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6"/>
          <p:cNvSpPr/>
          <p:nvPr/>
        </p:nvSpPr>
        <p:spPr>
          <a:xfrm>
            <a:off x="6629400" y="1764792"/>
            <a:ext cx="4937760" cy="32004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JMuBEN dataset</a:t>
            </a:r>
            <a:endParaRPr lang="en-US" sz="1500" dirty="0"/>
          </a:p>
        </p:txBody>
      </p:sp>
      <p:sp>
        <p:nvSpPr>
          <p:cNvPr id="10" name="Text 7"/>
          <p:cNvSpPr/>
          <p:nvPr/>
        </p:nvSpPr>
        <p:spPr>
          <a:xfrm>
            <a:off x="6629400" y="2084832"/>
            <a:ext cx="4983480" cy="68580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58,555 Arabica leaf images from Mutira plantation, Kirinyaga County — the primary training source</a:t>
            </a:r>
            <a:endParaRPr lang="en-US" sz="1200" dirty="0"/>
          </a:p>
        </p:txBody>
      </p:sp>
      <p:sp>
        <p:nvSpPr>
          <p:cNvPr id="11" name="Shape 8"/>
          <p:cNvSpPr/>
          <p:nvPr/>
        </p:nvSpPr>
        <p:spPr>
          <a:xfrm>
            <a:off x="5989320" y="2834640"/>
            <a:ext cx="502920" cy="502920"/>
          </a:xfrm>
          <a:prstGeom prst="ellipse">
            <a:avLst/>
          </a:prstGeom>
          <a:solidFill>
            <a:srgbClr val="6F4E37"/>
          </a:solidFill>
          <a:ln/>
        </p:spPr>
      </p:sp>
      <p:sp>
        <p:nvSpPr>
          <p:cNvPr id="12" name="Text 9"/>
          <p:cNvSpPr/>
          <p:nvPr/>
        </p:nvSpPr>
        <p:spPr>
          <a:xfrm>
            <a:off x="5989320" y="283464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0"/>
          <p:cNvSpPr/>
          <p:nvPr/>
        </p:nvSpPr>
        <p:spPr>
          <a:xfrm>
            <a:off x="6629400" y="2816352"/>
            <a:ext cx="4937760" cy="32004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Class balancing</a:t>
            </a:r>
            <a:endParaRPr lang="en-US" sz="1500" dirty="0"/>
          </a:p>
        </p:txBody>
      </p:sp>
      <p:sp>
        <p:nvSpPr>
          <p:cNvPr id="14" name="Text 11"/>
          <p:cNvSpPr/>
          <p:nvPr/>
        </p:nvSpPr>
        <p:spPr>
          <a:xfrm>
            <a:off x="6629400" y="3136392"/>
            <a:ext cx="4983480" cy="68580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Original release is rust-heavy; sub-set both classes to 10,500 each to prevent bias</a:t>
            </a:r>
            <a:endParaRPr lang="en-US" sz="1200" dirty="0"/>
          </a:p>
        </p:txBody>
      </p:sp>
      <p:sp>
        <p:nvSpPr>
          <p:cNvPr id="15" name="Shape 12"/>
          <p:cNvSpPr/>
          <p:nvPr/>
        </p:nvSpPr>
        <p:spPr>
          <a:xfrm>
            <a:off x="5989320" y="3886200"/>
            <a:ext cx="502920" cy="502920"/>
          </a:xfrm>
          <a:prstGeom prst="ellipse">
            <a:avLst/>
          </a:prstGeom>
          <a:solidFill>
            <a:srgbClr val="2C5F2D"/>
          </a:solidFill>
          <a:ln/>
        </p:spPr>
      </p:sp>
      <p:sp>
        <p:nvSpPr>
          <p:cNvPr id="16" name="Text 13"/>
          <p:cNvSpPr/>
          <p:nvPr/>
        </p:nvSpPr>
        <p:spPr>
          <a:xfrm>
            <a:off x="5989320" y="388620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p:nvPr/>
        </p:nvSpPr>
        <p:spPr>
          <a:xfrm>
            <a:off x="6629400" y="3867912"/>
            <a:ext cx="4937760" cy="32004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Local collection</a:t>
            </a:r>
            <a:endParaRPr lang="en-US" sz="1500" dirty="0"/>
          </a:p>
        </p:txBody>
      </p:sp>
      <p:sp>
        <p:nvSpPr>
          <p:cNvPr id="18" name="Text 15"/>
          <p:cNvSpPr/>
          <p:nvPr/>
        </p:nvSpPr>
        <p:spPr>
          <a:xfrm>
            <a:off x="6629400" y="4187952"/>
            <a:ext cx="4983480" cy="68580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Additional leaf photos gathered on Kenyan farms (incl. red-spider-mite, held for future multi-class)</a:t>
            </a:r>
            <a:endParaRPr lang="en-US" sz="1200" dirty="0"/>
          </a:p>
        </p:txBody>
      </p:sp>
      <p:sp>
        <p:nvSpPr>
          <p:cNvPr id="19" name="Shape 16"/>
          <p:cNvSpPr/>
          <p:nvPr/>
        </p:nvSpPr>
        <p:spPr>
          <a:xfrm>
            <a:off x="5989320" y="4937760"/>
            <a:ext cx="502920" cy="502920"/>
          </a:xfrm>
          <a:prstGeom prst="ellipse">
            <a:avLst/>
          </a:prstGeom>
          <a:solidFill>
            <a:srgbClr val="6F4E37"/>
          </a:solidFill>
          <a:ln/>
        </p:spPr>
      </p:sp>
      <p:sp>
        <p:nvSpPr>
          <p:cNvPr id="20" name="Text 17"/>
          <p:cNvSpPr/>
          <p:nvPr/>
        </p:nvSpPr>
        <p:spPr>
          <a:xfrm>
            <a:off x="5989320" y="493776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8"/>
          <p:cNvSpPr/>
          <p:nvPr/>
        </p:nvSpPr>
        <p:spPr>
          <a:xfrm>
            <a:off x="6629400" y="4919472"/>
            <a:ext cx="4937760" cy="32004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Augmentation</a:t>
            </a:r>
            <a:endParaRPr lang="en-US" sz="1500" dirty="0"/>
          </a:p>
        </p:txBody>
      </p:sp>
      <p:sp>
        <p:nvSpPr>
          <p:cNvPr id="22" name="Text 19"/>
          <p:cNvSpPr/>
          <p:nvPr/>
        </p:nvSpPr>
        <p:spPr>
          <a:xfrm>
            <a:off x="6629400" y="5239512"/>
            <a:ext cx="4983480" cy="68580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Flips, rotation ≤20°, zoom &amp; shear to expand effective training data</a:t>
            </a:r>
            <a:endParaRPr lang="en-US" sz="1200" dirty="0"/>
          </a:p>
        </p:txBody>
      </p:sp>
      <p:sp>
        <p:nvSpPr>
          <p:cNvPr id="23" name="Text 20"/>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24" name="Text 21"/>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A three-tier architecture</a:t>
            </a:r>
            <a:endParaRPr lang="en-US" sz="3000" dirty="0"/>
          </a:p>
        </p:txBody>
      </p:sp>
      <p:sp>
        <p:nvSpPr>
          <p:cNvPr id="4" name="Shape 2"/>
          <p:cNvSpPr/>
          <p:nvPr/>
        </p:nvSpPr>
        <p:spPr>
          <a:xfrm>
            <a:off x="640080" y="1783080"/>
            <a:ext cx="6949440" cy="1234440"/>
          </a:xfrm>
          <a:prstGeom prst="roundRect">
            <a:avLst>
              <a:gd name="adj" fmla="val 5926"/>
            </a:avLst>
          </a:prstGeom>
          <a:solidFill>
            <a:srgbClr val="2C5F2D"/>
          </a:solidFill>
          <a:ln/>
        </p:spPr>
      </p:sp>
      <p:sp>
        <p:nvSpPr>
          <p:cNvPr id="5" name="Text 3"/>
          <p:cNvSpPr/>
          <p:nvPr/>
        </p:nvSpPr>
        <p:spPr>
          <a:xfrm>
            <a:off x="914400" y="1920240"/>
            <a:ext cx="6400800" cy="274320"/>
          </a:xfrm>
          <a:prstGeom prst="rect">
            <a:avLst/>
          </a:prstGeom>
          <a:noFill/>
          <a:ln/>
        </p:spPr>
        <p:txBody>
          <a:bodyPr wrap="square" rtlCol="0" anchor="ctr"/>
          <a:lstStyle/>
          <a:p>
            <a:pPr indent="0" marL="0">
              <a:buNone/>
            </a:pPr>
            <a:r>
              <a:rPr lang="en-US" sz="1100" b="1" spc="150" kern="0" dirty="0">
                <a:solidFill>
                  <a:srgbClr val="97BC62"/>
                </a:solidFill>
                <a:latin typeface="Calibri" pitchFamily="34" charset="0"/>
                <a:ea typeface="Calibri" pitchFamily="34" charset="-122"/>
                <a:cs typeface="Calibri" pitchFamily="34" charset="-120"/>
              </a:rPr>
              <a:t>PRESENTATION TIER</a:t>
            </a:r>
            <a:endParaRPr lang="en-US" sz="1100" dirty="0"/>
          </a:p>
        </p:txBody>
      </p:sp>
      <p:sp>
        <p:nvSpPr>
          <p:cNvPr id="6" name="Text 4"/>
          <p:cNvSpPr/>
          <p:nvPr/>
        </p:nvSpPr>
        <p:spPr>
          <a:xfrm>
            <a:off x="914400" y="2167128"/>
            <a:ext cx="64008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Browser front-end</a:t>
            </a:r>
            <a:endParaRPr lang="en-US" sz="1800" dirty="0"/>
          </a:p>
        </p:txBody>
      </p:sp>
      <p:sp>
        <p:nvSpPr>
          <p:cNvPr id="7" name="Text 5"/>
          <p:cNvSpPr/>
          <p:nvPr/>
        </p:nvSpPr>
        <p:spPr>
          <a:xfrm>
            <a:off x="914400" y="2560320"/>
            <a:ext cx="6492240" cy="411480"/>
          </a:xfrm>
          <a:prstGeom prst="rect">
            <a:avLst/>
          </a:prstGeom>
          <a:noFill/>
          <a:ln/>
        </p:spPr>
        <p:txBody>
          <a:bodyPr wrap="square" rtlCol="0" anchor="ctr"/>
          <a:lstStyle/>
          <a:p>
            <a:pPr indent="0" marL="0">
              <a:buNone/>
            </a:pPr>
            <a:r>
              <a:rPr lang="en-US" sz="1150" dirty="0">
                <a:solidFill>
                  <a:srgbClr val="E4EAD9"/>
                </a:solidFill>
                <a:latin typeface="Calibri" pitchFamily="34" charset="0"/>
                <a:ea typeface="Calibri" pitchFamily="34" charset="-122"/>
                <a:cs typeface="Calibri" pitchFamily="34" charset="-120"/>
              </a:rPr>
              <a:t>HTML · CSS · vanilla JS · installable PWA · English &amp; Swahili</a:t>
            </a:r>
            <a:endParaRPr lang="en-US" sz="1150" dirty="0"/>
          </a:p>
        </p:txBody>
      </p:sp>
      <p:sp>
        <p:nvSpPr>
          <p:cNvPr id="8" name="Text 6"/>
          <p:cNvSpPr/>
          <p:nvPr/>
        </p:nvSpPr>
        <p:spPr>
          <a:xfrm>
            <a:off x="3840480" y="2953512"/>
            <a:ext cx="548640" cy="292608"/>
          </a:xfrm>
          <a:prstGeom prst="rect">
            <a:avLst/>
          </a:prstGeom>
          <a:noFill/>
          <a:ln/>
        </p:spPr>
        <p:txBody>
          <a:bodyPr wrap="square" rtlCol="0" anchor="ctr"/>
          <a:lstStyle/>
          <a:p>
            <a:pPr algn="ctr" indent="0" marL="0">
              <a:buNone/>
            </a:pPr>
            <a:r>
              <a:rPr lang="en-US" sz="2000" b="1" dirty="0">
                <a:solidFill>
                  <a:srgbClr val="B85C2E"/>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640080" y="3310128"/>
            <a:ext cx="6949440" cy="1234440"/>
          </a:xfrm>
          <a:prstGeom prst="roundRect">
            <a:avLst>
              <a:gd name="adj" fmla="val 5926"/>
            </a:avLst>
          </a:prstGeom>
          <a:solidFill>
            <a:srgbClr val="173D1C"/>
          </a:solidFill>
          <a:ln/>
        </p:spPr>
      </p:sp>
      <p:sp>
        <p:nvSpPr>
          <p:cNvPr id="10" name="Text 8"/>
          <p:cNvSpPr/>
          <p:nvPr/>
        </p:nvSpPr>
        <p:spPr>
          <a:xfrm>
            <a:off x="914400" y="3447288"/>
            <a:ext cx="6400800" cy="274320"/>
          </a:xfrm>
          <a:prstGeom prst="rect">
            <a:avLst/>
          </a:prstGeom>
          <a:noFill/>
          <a:ln/>
        </p:spPr>
        <p:txBody>
          <a:bodyPr wrap="square" rtlCol="0" anchor="ctr"/>
          <a:lstStyle/>
          <a:p>
            <a:pPr indent="0" marL="0">
              <a:buNone/>
            </a:pPr>
            <a:r>
              <a:rPr lang="en-US" sz="1100" b="1" spc="150" kern="0" dirty="0">
                <a:solidFill>
                  <a:srgbClr val="97BC62"/>
                </a:solidFill>
                <a:latin typeface="Calibri" pitchFamily="34" charset="0"/>
                <a:ea typeface="Calibri" pitchFamily="34" charset="-122"/>
                <a:cs typeface="Calibri" pitchFamily="34" charset="-120"/>
              </a:rPr>
              <a:t>APPLICATION TIER</a:t>
            </a:r>
            <a:endParaRPr lang="en-US" sz="1100" dirty="0"/>
          </a:p>
        </p:txBody>
      </p:sp>
      <p:sp>
        <p:nvSpPr>
          <p:cNvPr id="11" name="Text 9"/>
          <p:cNvSpPr/>
          <p:nvPr/>
        </p:nvSpPr>
        <p:spPr>
          <a:xfrm>
            <a:off x="914400" y="3694176"/>
            <a:ext cx="64008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FastAPI back-end</a:t>
            </a:r>
            <a:endParaRPr lang="en-US" sz="1800" dirty="0"/>
          </a:p>
        </p:txBody>
      </p:sp>
      <p:sp>
        <p:nvSpPr>
          <p:cNvPr id="12" name="Text 10"/>
          <p:cNvSpPr/>
          <p:nvPr/>
        </p:nvSpPr>
        <p:spPr>
          <a:xfrm>
            <a:off x="914400" y="4087368"/>
            <a:ext cx="6492240" cy="411480"/>
          </a:xfrm>
          <a:prstGeom prst="rect">
            <a:avLst/>
          </a:prstGeom>
          <a:noFill/>
          <a:ln/>
        </p:spPr>
        <p:txBody>
          <a:bodyPr wrap="square" rtlCol="0" anchor="ctr"/>
          <a:lstStyle/>
          <a:p>
            <a:pPr indent="0" marL="0">
              <a:buNone/>
            </a:pPr>
            <a:r>
              <a:rPr lang="en-US" sz="1150" dirty="0">
                <a:solidFill>
                  <a:srgbClr val="E4EAD9"/>
                </a:solidFill>
                <a:latin typeface="Calibri" pitchFamily="34" charset="0"/>
                <a:ea typeface="Calibri" pitchFamily="34" charset="-122"/>
                <a:cs typeface="Calibri" pitchFamily="34" charset="-120"/>
              </a:rPr>
              <a:t>Request handling · Pillow preprocessing · model inference · LLM+RAG advisory · logging</a:t>
            </a:r>
            <a:endParaRPr lang="en-US" sz="1150" dirty="0"/>
          </a:p>
        </p:txBody>
      </p:sp>
      <p:sp>
        <p:nvSpPr>
          <p:cNvPr id="13" name="Text 11"/>
          <p:cNvSpPr/>
          <p:nvPr/>
        </p:nvSpPr>
        <p:spPr>
          <a:xfrm>
            <a:off x="3840480" y="4480560"/>
            <a:ext cx="548640" cy="292608"/>
          </a:xfrm>
          <a:prstGeom prst="rect">
            <a:avLst/>
          </a:prstGeom>
          <a:noFill/>
          <a:ln/>
        </p:spPr>
        <p:txBody>
          <a:bodyPr wrap="square" rtlCol="0" anchor="ctr"/>
          <a:lstStyle/>
          <a:p>
            <a:pPr algn="ctr" indent="0" marL="0">
              <a:buNone/>
            </a:pPr>
            <a:r>
              <a:rPr lang="en-US" sz="2000" b="1" dirty="0">
                <a:solidFill>
                  <a:srgbClr val="B85C2E"/>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640080" y="4837176"/>
            <a:ext cx="6949440" cy="1234440"/>
          </a:xfrm>
          <a:prstGeom prst="roundRect">
            <a:avLst>
              <a:gd name="adj" fmla="val 5926"/>
            </a:avLst>
          </a:prstGeom>
          <a:solidFill>
            <a:srgbClr val="6F4E37"/>
          </a:solidFill>
          <a:ln/>
        </p:spPr>
      </p:sp>
      <p:sp>
        <p:nvSpPr>
          <p:cNvPr id="15" name="Text 13"/>
          <p:cNvSpPr/>
          <p:nvPr/>
        </p:nvSpPr>
        <p:spPr>
          <a:xfrm>
            <a:off x="914400" y="4974336"/>
            <a:ext cx="6400800" cy="274320"/>
          </a:xfrm>
          <a:prstGeom prst="rect">
            <a:avLst/>
          </a:prstGeom>
          <a:noFill/>
          <a:ln/>
        </p:spPr>
        <p:txBody>
          <a:bodyPr wrap="square" rtlCol="0" anchor="ctr"/>
          <a:lstStyle/>
          <a:p>
            <a:pPr indent="0" marL="0">
              <a:buNone/>
            </a:pPr>
            <a:r>
              <a:rPr lang="en-US" sz="1100" b="1" spc="150" kern="0" dirty="0">
                <a:solidFill>
                  <a:srgbClr val="97BC62"/>
                </a:solidFill>
                <a:latin typeface="Calibri" pitchFamily="34" charset="0"/>
                <a:ea typeface="Calibri" pitchFamily="34" charset="-122"/>
                <a:cs typeface="Calibri" pitchFamily="34" charset="-120"/>
              </a:rPr>
              <a:t>DATA TIER</a:t>
            </a:r>
            <a:endParaRPr lang="en-US" sz="1100" dirty="0"/>
          </a:p>
        </p:txBody>
      </p:sp>
      <p:sp>
        <p:nvSpPr>
          <p:cNvPr id="16" name="Text 14"/>
          <p:cNvSpPr/>
          <p:nvPr/>
        </p:nvSpPr>
        <p:spPr>
          <a:xfrm>
            <a:off x="914400" y="5221224"/>
            <a:ext cx="64008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Storage</a:t>
            </a:r>
            <a:endParaRPr lang="en-US" sz="1800" dirty="0"/>
          </a:p>
        </p:txBody>
      </p:sp>
      <p:sp>
        <p:nvSpPr>
          <p:cNvPr id="17" name="Text 15"/>
          <p:cNvSpPr/>
          <p:nvPr/>
        </p:nvSpPr>
        <p:spPr>
          <a:xfrm>
            <a:off x="914400" y="5614416"/>
            <a:ext cx="6492240" cy="411480"/>
          </a:xfrm>
          <a:prstGeom prst="rect">
            <a:avLst/>
          </a:prstGeom>
          <a:noFill/>
          <a:ln/>
        </p:spPr>
        <p:txBody>
          <a:bodyPr wrap="square" rtlCol="0" anchor="ctr"/>
          <a:lstStyle/>
          <a:p>
            <a:pPr indent="0" marL="0">
              <a:buNone/>
            </a:pPr>
            <a:r>
              <a:rPr lang="en-US" sz="1150" dirty="0">
                <a:solidFill>
                  <a:srgbClr val="E4EAD9"/>
                </a:solidFill>
                <a:latin typeface="Calibri" pitchFamily="34" charset="0"/>
                <a:ea typeface="Calibri" pitchFamily="34" charset="-122"/>
                <a:cs typeface="Calibri" pitchFamily="34" charset="-120"/>
              </a:rPr>
              <a:t>SQLite session &amp; prediction logs · transient image files · RAG knowledge base</a:t>
            </a:r>
            <a:endParaRPr lang="en-US" sz="1150" dirty="0"/>
          </a:p>
        </p:txBody>
      </p:sp>
      <p:sp>
        <p:nvSpPr>
          <p:cNvPr id="18" name="Shape 16"/>
          <p:cNvSpPr/>
          <p:nvPr/>
        </p:nvSpPr>
        <p:spPr>
          <a:xfrm>
            <a:off x="7955280" y="1783080"/>
            <a:ext cx="3611880" cy="4343400"/>
          </a:xfrm>
          <a:prstGeom prst="roundRect">
            <a:avLst>
              <a:gd name="adj" fmla="val 2278"/>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9" name="Text 17"/>
          <p:cNvSpPr/>
          <p:nvPr/>
        </p:nvSpPr>
        <p:spPr>
          <a:xfrm>
            <a:off x="8138160" y="1920240"/>
            <a:ext cx="3291840" cy="365760"/>
          </a:xfrm>
          <a:prstGeom prst="rect">
            <a:avLst/>
          </a:prstGeom>
          <a:noFill/>
          <a:ln/>
        </p:spPr>
        <p:txBody>
          <a:bodyPr wrap="square" rtlCol="0" anchor="ctr"/>
          <a:lstStyle/>
          <a:p>
            <a:pPr indent="0" marL="0">
              <a:buNone/>
            </a:pPr>
            <a:r>
              <a:rPr lang="en-US" sz="1600" b="1" dirty="0">
                <a:solidFill>
                  <a:srgbClr val="173D1C"/>
                </a:solidFill>
                <a:latin typeface="Cambria" pitchFamily="34" charset="0"/>
                <a:ea typeface="Cambria" pitchFamily="34" charset="-122"/>
                <a:cs typeface="Cambria" pitchFamily="34" charset="-120"/>
              </a:rPr>
              <a:t>One request</a:t>
            </a:r>
            <a:endParaRPr lang="en-US" sz="1600" dirty="0"/>
          </a:p>
        </p:txBody>
      </p:sp>
      <p:sp>
        <p:nvSpPr>
          <p:cNvPr id="20" name="Shape 18"/>
          <p:cNvSpPr/>
          <p:nvPr/>
        </p:nvSpPr>
        <p:spPr>
          <a:xfrm>
            <a:off x="8183880" y="2377440"/>
            <a:ext cx="310896" cy="310896"/>
          </a:xfrm>
          <a:prstGeom prst="ellipse">
            <a:avLst/>
          </a:prstGeom>
          <a:solidFill>
            <a:srgbClr val="2C5F2D"/>
          </a:solidFill>
          <a:ln/>
        </p:spPr>
      </p:sp>
      <p:sp>
        <p:nvSpPr>
          <p:cNvPr id="21" name="Text 19"/>
          <p:cNvSpPr/>
          <p:nvPr/>
        </p:nvSpPr>
        <p:spPr>
          <a:xfrm>
            <a:off x="8183880" y="237744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2" name="Text 20"/>
          <p:cNvSpPr/>
          <p:nvPr/>
        </p:nvSpPr>
        <p:spPr>
          <a:xfrm>
            <a:off x="8613648" y="2331720"/>
            <a:ext cx="2834640" cy="41148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Farmer uploads leaf photo</a:t>
            </a:r>
            <a:endParaRPr lang="en-US" sz="1200" dirty="0"/>
          </a:p>
        </p:txBody>
      </p:sp>
      <p:sp>
        <p:nvSpPr>
          <p:cNvPr id="23" name="Shape 21"/>
          <p:cNvSpPr/>
          <p:nvPr/>
        </p:nvSpPr>
        <p:spPr>
          <a:xfrm>
            <a:off x="8183880" y="2980944"/>
            <a:ext cx="310896" cy="310896"/>
          </a:xfrm>
          <a:prstGeom prst="ellipse">
            <a:avLst/>
          </a:prstGeom>
          <a:solidFill>
            <a:srgbClr val="6F4E37"/>
          </a:solidFill>
          <a:ln/>
        </p:spPr>
      </p:sp>
      <p:sp>
        <p:nvSpPr>
          <p:cNvPr id="24" name="Text 22"/>
          <p:cNvSpPr/>
          <p:nvPr/>
        </p:nvSpPr>
        <p:spPr>
          <a:xfrm>
            <a:off x="8183880" y="2980944"/>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3"/>
          <p:cNvSpPr/>
          <p:nvPr/>
        </p:nvSpPr>
        <p:spPr>
          <a:xfrm>
            <a:off x="8613648" y="2935224"/>
            <a:ext cx="2834640" cy="41148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Validate &amp; resize 224×224</a:t>
            </a:r>
            <a:endParaRPr lang="en-US" sz="1200" dirty="0"/>
          </a:p>
        </p:txBody>
      </p:sp>
      <p:sp>
        <p:nvSpPr>
          <p:cNvPr id="26" name="Shape 24"/>
          <p:cNvSpPr/>
          <p:nvPr/>
        </p:nvSpPr>
        <p:spPr>
          <a:xfrm>
            <a:off x="8183880" y="3584448"/>
            <a:ext cx="310896" cy="310896"/>
          </a:xfrm>
          <a:prstGeom prst="ellipse">
            <a:avLst/>
          </a:prstGeom>
          <a:solidFill>
            <a:srgbClr val="2C5F2D"/>
          </a:solidFill>
          <a:ln/>
        </p:spPr>
      </p:sp>
      <p:sp>
        <p:nvSpPr>
          <p:cNvPr id="27" name="Text 25"/>
          <p:cNvSpPr/>
          <p:nvPr/>
        </p:nvSpPr>
        <p:spPr>
          <a:xfrm>
            <a:off x="8183880" y="3584448"/>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Text 26"/>
          <p:cNvSpPr/>
          <p:nvPr/>
        </p:nvSpPr>
        <p:spPr>
          <a:xfrm>
            <a:off x="8613648" y="3538728"/>
            <a:ext cx="2834640" cy="41148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MobileNetV2 predicts</a:t>
            </a:r>
            <a:endParaRPr lang="en-US" sz="1200" dirty="0"/>
          </a:p>
        </p:txBody>
      </p:sp>
      <p:sp>
        <p:nvSpPr>
          <p:cNvPr id="29" name="Shape 27"/>
          <p:cNvSpPr/>
          <p:nvPr/>
        </p:nvSpPr>
        <p:spPr>
          <a:xfrm>
            <a:off x="8183880" y="4187952"/>
            <a:ext cx="310896" cy="310896"/>
          </a:xfrm>
          <a:prstGeom prst="ellipse">
            <a:avLst/>
          </a:prstGeom>
          <a:solidFill>
            <a:srgbClr val="6F4E37"/>
          </a:solidFill>
          <a:ln/>
        </p:spPr>
      </p:sp>
      <p:sp>
        <p:nvSpPr>
          <p:cNvPr id="30" name="Text 28"/>
          <p:cNvSpPr/>
          <p:nvPr/>
        </p:nvSpPr>
        <p:spPr>
          <a:xfrm>
            <a:off x="8183880" y="4187952"/>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1" name="Text 29"/>
          <p:cNvSpPr/>
          <p:nvPr/>
        </p:nvSpPr>
        <p:spPr>
          <a:xfrm>
            <a:off x="8613648" y="4142232"/>
            <a:ext cx="2834640" cy="41148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Healthy / Rust + confidence</a:t>
            </a:r>
            <a:endParaRPr lang="en-US" sz="1200" dirty="0"/>
          </a:p>
        </p:txBody>
      </p:sp>
      <p:sp>
        <p:nvSpPr>
          <p:cNvPr id="32" name="Shape 30"/>
          <p:cNvSpPr/>
          <p:nvPr/>
        </p:nvSpPr>
        <p:spPr>
          <a:xfrm>
            <a:off x="8183880" y="4791456"/>
            <a:ext cx="310896" cy="310896"/>
          </a:xfrm>
          <a:prstGeom prst="ellipse">
            <a:avLst/>
          </a:prstGeom>
          <a:solidFill>
            <a:srgbClr val="2C5F2D"/>
          </a:solidFill>
          <a:ln/>
        </p:spPr>
      </p:sp>
      <p:sp>
        <p:nvSpPr>
          <p:cNvPr id="33" name="Text 31"/>
          <p:cNvSpPr/>
          <p:nvPr/>
        </p:nvSpPr>
        <p:spPr>
          <a:xfrm>
            <a:off x="8183880" y="4791456"/>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4" name="Text 32"/>
          <p:cNvSpPr/>
          <p:nvPr/>
        </p:nvSpPr>
        <p:spPr>
          <a:xfrm>
            <a:off x="8613648" y="4745736"/>
            <a:ext cx="2834640" cy="41148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Advisory in EN / SW</a:t>
            </a:r>
            <a:endParaRPr lang="en-US" sz="1200" dirty="0"/>
          </a:p>
        </p:txBody>
      </p:sp>
      <p:sp>
        <p:nvSpPr>
          <p:cNvPr id="35" name="Shape 33"/>
          <p:cNvSpPr/>
          <p:nvPr/>
        </p:nvSpPr>
        <p:spPr>
          <a:xfrm>
            <a:off x="8183880" y="5394960"/>
            <a:ext cx="310896" cy="310896"/>
          </a:xfrm>
          <a:prstGeom prst="ellipse">
            <a:avLst/>
          </a:prstGeom>
          <a:solidFill>
            <a:srgbClr val="6F4E37"/>
          </a:solidFill>
          <a:ln/>
        </p:spPr>
      </p:sp>
      <p:sp>
        <p:nvSpPr>
          <p:cNvPr id="36" name="Text 34"/>
          <p:cNvSpPr/>
          <p:nvPr/>
        </p:nvSpPr>
        <p:spPr>
          <a:xfrm>
            <a:off x="8183880" y="5394960"/>
            <a:ext cx="310896"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7" name="Text 35"/>
          <p:cNvSpPr/>
          <p:nvPr/>
        </p:nvSpPr>
        <p:spPr>
          <a:xfrm>
            <a:off x="8613648" y="5349240"/>
            <a:ext cx="2834640" cy="411480"/>
          </a:xfrm>
          <a:prstGeom prst="rect">
            <a:avLst/>
          </a:prstGeom>
          <a:noFill/>
          <a:ln/>
        </p:spPr>
        <p:txBody>
          <a:bodyPr wrap="square" rtlCol="0" anchor="ctr"/>
          <a:lstStyle/>
          <a:p>
            <a:pPr indent="0" marL="0">
              <a:buNone/>
            </a:pPr>
            <a:r>
              <a:rPr lang="en-US" sz="1200" dirty="0">
                <a:solidFill>
                  <a:srgbClr val="24261F"/>
                </a:solidFill>
                <a:latin typeface="Calibri" pitchFamily="34" charset="0"/>
                <a:ea typeface="Calibri" pitchFamily="34" charset="-122"/>
                <a:cs typeface="Calibri" pitchFamily="34" charset="-120"/>
              </a:rPr>
              <a:t>Event logged</a:t>
            </a:r>
            <a:endParaRPr lang="en-US" sz="1200" dirty="0"/>
          </a:p>
        </p:txBody>
      </p:sp>
      <p:sp>
        <p:nvSpPr>
          <p:cNvPr id="38" name="Text 36"/>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39" name="Text 37"/>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THE CLASSIFICATION ALGORITHM</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From uploaded image to logged verdict</a:t>
            </a:r>
            <a:endParaRPr lang="en-US" sz="3000" dirty="0"/>
          </a:p>
        </p:txBody>
      </p:sp>
      <p:sp>
        <p:nvSpPr>
          <p:cNvPr id="4" name="Shape 2"/>
          <p:cNvSpPr/>
          <p:nvPr/>
        </p:nvSpPr>
        <p:spPr>
          <a:xfrm>
            <a:off x="640080" y="1783080"/>
            <a:ext cx="5257800" cy="1234440"/>
          </a:xfrm>
          <a:prstGeom prst="roundRect">
            <a:avLst>
              <a:gd name="adj" fmla="val 666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5" name="Shape 3"/>
          <p:cNvSpPr/>
          <p:nvPr/>
        </p:nvSpPr>
        <p:spPr>
          <a:xfrm>
            <a:off x="841248" y="2148840"/>
            <a:ext cx="502920" cy="502920"/>
          </a:xfrm>
          <a:prstGeom prst="ellipse">
            <a:avLst/>
          </a:prstGeom>
          <a:solidFill>
            <a:srgbClr val="2C5F2D"/>
          </a:solidFill>
          <a:ln/>
        </p:spPr>
      </p:sp>
      <p:sp>
        <p:nvSpPr>
          <p:cNvPr id="6" name="Text 4"/>
          <p:cNvSpPr/>
          <p:nvPr/>
        </p:nvSpPr>
        <p:spPr>
          <a:xfrm>
            <a:off x="841248" y="214884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08760" y="1947672"/>
            <a:ext cx="4206240" cy="36576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Rate-limit &amp; validate</a:t>
            </a:r>
            <a:endParaRPr lang="en-US" sz="1500" dirty="0"/>
          </a:p>
        </p:txBody>
      </p:sp>
      <p:sp>
        <p:nvSpPr>
          <p:cNvPr id="8" name="Text 6"/>
          <p:cNvSpPr/>
          <p:nvPr/>
        </p:nvSpPr>
        <p:spPr>
          <a:xfrm>
            <a:off x="1508760" y="2313432"/>
            <a:ext cx="4206240" cy="59436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Reject non-images and files over 10 MB with a clear message</a:t>
            </a:r>
            <a:endParaRPr lang="en-US" sz="1150" dirty="0"/>
          </a:p>
        </p:txBody>
      </p:sp>
      <p:sp>
        <p:nvSpPr>
          <p:cNvPr id="9" name="Shape 7"/>
          <p:cNvSpPr/>
          <p:nvPr/>
        </p:nvSpPr>
        <p:spPr>
          <a:xfrm>
            <a:off x="6217920" y="1783080"/>
            <a:ext cx="5257800" cy="1234440"/>
          </a:xfrm>
          <a:prstGeom prst="roundRect">
            <a:avLst>
              <a:gd name="adj" fmla="val 666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0" name="Shape 8"/>
          <p:cNvSpPr/>
          <p:nvPr/>
        </p:nvSpPr>
        <p:spPr>
          <a:xfrm>
            <a:off x="6419088" y="2148840"/>
            <a:ext cx="502920" cy="502920"/>
          </a:xfrm>
          <a:prstGeom prst="ellipse">
            <a:avLst/>
          </a:prstGeom>
          <a:solidFill>
            <a:srgbClr val="6F4E37"/>
          </a:solidFill>
          <a:ln/>
        </p:spPr>
      </p:sp>
      <p:sp>
        <p:nvSpPr>
          <p:cNvPr id="11" name="Text 9"/>
          <p:cNvSpPr/>
          <p:nvPr/>
        </p:nvSpPr>
        <p:spPr>
          <a:xfrm>
            <a:off x="6419088" y="214884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086600" y="1947672"/>
            <a:ext cx="4206240" cy="36576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Preprocess (Pillow)</a:t>
            </a:r>
            <a:endParaRPr lang="en-US" sz="1500" dirty="0"/>
          </a:p>
        </p:txBody>
      </p:sp>
      <p:sp>
        <p:nvSpPr>
          <p:cNvPr id="13" name="Text 11"/>
          <p:cNvSpPr/>
          <p:nvPr/>
        </p:nvSpPr>
        <p:spPr>
          <a:xfrm>
            <a:off x="7086600" y="2313432"/>
            <a:ext cx="4206240" cy="59436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Convert to RGB, resize 224×224, MobileNet normalisation</a:t>
            </a:r>
            <a:endParaRPr lang="en-US" sz="1150" dirty="0"/>
          </a:p>
        </p:txBody>
      </p:sp>
      <p:sp>
        <p:nvSpPr>
          <p:cNvPr id="14" name="Shape 12"/>
          <p:cNvSpPr/>
          <p:nvPr/>
        </p:nvSpPr>
        <p:spPr>
          <a:xfrm>
            <a:off x="640080" y="3246120"/>
            <a:ext cx="5257800" cy="1234440"/>
          </a:xfrm>
          <a:prstGeom prst="roundRect">
            <a:avLst>
              <a:gd name="adj" fmla="val 666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5" name="Shape 13"/>
          <p:cNvSpPr/>
          <p:nvPr/>
        </p:nvSpPr>
        <p:spPr>
          <a:xfrm>
            <a:off x="841248" y="3611880"/>
            <a:ext cx="502920" cy="502920"/>
          </a:xfrm>
          <a:prstGeom prst="ellipse">
            <a:avLst/>
          </a:prstGeom>
          <a:solidFill>
            <a:srgbClr val="2C5F2D"/>
          </a:solidFill>
          <a:ln/>
        </p:spPr>
      </p:sp>
      <p:sp>
        <p:nvSpPr>
          <p:cNvPr id="16" name="Text 14"/>
          <p:cNvSpPr/>
          <p:nvPr/>
        </p:nvSpPr>
        <p:spPr>
          <a:xfrm>
            <a:off x="841248" y="36118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08760" y="3410712"/>
            <a:ext cx="4206240" cy="36576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Predict</a:t>
            </a:r>
            <a:endParaRPr lang="en-US" sz="1500" dirty="0"/>
          </a:p>
        </p:txBody>
      </p:sp>
      <p:sp>
        <p:nvSpPr>
          <p:cNvPr id="18" name="Text 16"/>
          <p:cNvSpPr/>
          <p:nvPr/>
        </p:nvSpPr>
        <p:spPr>
          <a:xfrm>
            <a:off x="1508760" y="3776472"/>
            <a:ext cx="4206240" cy="59436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Single sigmoid output → p(rust); p(healthy) = 1 − p(rust)</a:t>
            </a:r>
            <a:endParaRPr lang="en-US" sz="1150" dirty="0"/>
          </a:p>
        </p:txBody>
      </p:sp>
      <p:sp>
        <p:nvSpPr>
          <p:cNvPr id="19" name="Shape 17"/>
          <p:cNvSpPr/>
          <p:nvPr/>
        </p:nvSpPr>
        <p:spPr>
          <a:xfrm>
            <a:off x="6217920" y="3246120"/>
            <a:ext cx="5257800" cy="1234440"/>
          </a:xfrm>
          <a:prstGeom prst="roundRect">
            <a:avLst>
              <a:gd name="adj" fmla="val 666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0" name="Shape 18"/>
          <p:cNvSpPr/>
          <p:nvPr/>
        </p:nvSpPr>
        <p:spPr>
          <a:xfrm>
            <a:off x="6419088" y="3611880"/>
            <a:ext cx="502920" cy="502920"/>
          </a:xfrm>
          <a:prstGeom prst="ellipse">
            <a:avLst/>
          </a:prstGeom>
          <a:solidFill>
            <a:srgbClr val="6F4E37"/>
          </a:solidFill>
          <a:ln/>
        </p:spPr>
      </p:sp>
      <p:sp>
        <p:nvSpPr>
          <p:cNvPr id="21" name="Text 19"/>
          <p:cNvSpPr/>
          <p:nvPr/>
        </p:nvSpPr>
        <p:spPr>
          <a:xfrm>
            <a:off x="6419088" y="36118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086600" y="3410712"/>
            <a:ext cx="4206240" cy="36576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Decision rule</a:t>
            </a:r>
            <a:endParaRPr lang="en-US" sz="1500" dirty="0"/>
          </a:p>
        </p:txBody>
      </p:sp>
      <p:sp>
        <p:nvSpPr>
          <p:cNvPr id="23" name="Text 21"/>
          <p:cNvSpPr/>
          <p:nvPr/>
        </p:nvSpPr>
        <p:spPr>
          <a:xfrm>
            <a:off x="7086600" y="3776472"/>
            <a:ext cx="4206240" cy="59436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p(rust) ≥ 0.50 → Rust-infected; else Healthy, with confidence = p×100</a:t>
            </a:r>
            <a:endParaRPr lang="en-US" sz="1150" dirty="0"/>
          </a:p>
        </p:txBody>
      </p:sp>
      <p:sp>
        <p:nvSpPr>
          <p:cNvPr id="24" name="Shape 22"/>
          <p:cNvSpPr/>
          <p:nvPr/>
        </p:nvSpPr>
        <p:spPr>
          <a:xfrm>
            <a:off x="640080" y="4709160"/>
            <a:ext cx="5257800" cy="1234440"/>
          </a:xfrm>
          <a:prstGeom prst="roundRect">
            <a:avLst>
              <a:gd name="adj" fmla="val 666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5" name="Shape 23"/>
          <p:cNvSpPr/>
          <p:nvPr/>
        </p:nvSpPr>
        <p:spPr>
          <a:xfrm>
            <a:off x="841248" y="5074920"/>
            <a:ext cx="502920" cy="502920"/>
          </a:xfrm>
          <a:prstGeom prst="ellipse">
            <a:avLst/>
          </a:prstGeom>
          <a:solidFill>
            <a:srgbClr val="2C5F2D"/>
          </a:solidFill>
          <a:ln/>
        </p:spPr>
      </p:sp>
      <p:sp>
        <p:nvSpPr>
          <p:cNvPr id="26" name="Text 24"/>
          <p:cNvSpPr/>
          <p:nvPr/>
        </p:nvSpPr>
        <p:spPr>
          <a:xfrm>
            <a:off x="841248" y="507492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5"/>
          <p:cNvSpPr/>
          <p:nvPr/>
        </p:nvSpPr>
        <p:spPr>
          <a:xfrm>
            <a:off x="1508760" y="4873752"/>
            <a:ext cx="4206240" cy="36576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Low-confidence guard</a:t>
            </a:r>
            <a:endParaRPr lang="en-US" sz="1500" dirty="0"/>
          </a:p>
        </p:txBody>
      </p:sp>
      <p:sp>
        <p:nvSpPr>
          <p:cNvPr id="28" name="Text 26"/>
          <p:cNvSpPr/>
          <p:nvPr/>
        </p:nvSpPr>
        <p:spPr>
          <a:xfrm>
            <a:off x="1508760" y="5239512"/>
            <a:ext cx="4206240" cy="59436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p(healthy) &lt; 0.90 → advise consulting an agronomist</a:t>
            </a:r>
            <a:endParaRPr lang="en-US" sz="1150" dirty="0"/>
          </a:p>
        </p:txBody>
      </p:sp>
      <p:sp>
        <p:nvSpPr>
          <p:cNvPr id="29" name="Shape 27"/>
          <p:cNvSpPr/>
          <p:nvPr/>
        </p:nvSpPr>
        <p:spPr>
          <a:xfrm>
            <a:off x="6217920" y="4709160"/>
            <a:ext cx="5257800" cy="1234440"/>
          </a:xfrm>
          <a:prstGeom prst="roundRect">
            <a:avLst>
              <a:gd name="adj" fmla="val 666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30" name="Shape 28"/>
          <p:cNvSpPr/>
          <p:nvPr/>
        </p:nvSpPr>
        <p:spPr>
          <a:xfrm>
            <a:off x="6419088" y="5074920"/>
            <a:ext cx="502920" cy="502920"/>
          </a:xfrm>
          <a:prstGeom prst="ellipse">
            <a:avLst/>
          </a:prstGeom>
          <a:solidFill>
            <a:srgbClr val="6F4E37"/>
          </a:solidFill>
          <a:ln/>
        </p:spPr>
      </p:sp>
      <p:sp>
        <p:nvSpPr>
          <p:cNvPr id="31" name="Text 29"/>
          <p:cNvSpPr/>
          <p:nvPr/>
        </p:nvSpPr>
        <p:spPr>
          <a:xfrm>
            <a:off x="6419088" y="507492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2" name="Text 30"/>
          <p:cNvSpPr/>
          <p:nvPr/>
        </p:nvSpPr>
        <p:spPr>
          <a:xfrm>
            <a:off x="7086600" y="4873752"/>
            <a:ext cx="4206240" cy="36576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Log event</a:t>
            </a:r>
            <a:endParaRPr lang="en-US" sz="1500" dirty="0"/>
          </a:p>
        </p:txBody>
      </p:sp>
      <p:sp>
        <p:nvSpPr>
          <p:cNvPr id="33" name="Text 31"/>
          <p:cNvSpPr/>
          <p:nvPr/>
        </p:nvSpPr>
        <p:spPr>
          <a:xfrm>
            <a:off x="7086600" y="5239512"/>
            <a:ext cx="4206240" cy="59436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Session, timestamp, class, confidence, latency → SQLite</a:t>
            </a:r>
            <a:endParaRPr lang="en-US" sz="1150" dirty="0"/>
          </a:p>
        </p:txBody>
      </p:sp>
      <p:sp>
        <p:nvSpPr>
          <p:cNvPr id="34" name="Text 32"/>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35" name="Text 33"/>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73D1C"/>
        </a:solidFill>
      </p:bgPr>
    </p:bg>
    <p:spTree>
      <p:nvGrpSpPr>
        <p:cNvPr id="1" name=""/>
        <p:cNvGrpSpPr/>
        <p:nvPr/>
      </p:nvGrpSpPr>
      <p:grpSpPr>
        <a:xfrm>
          <a:off x="0" y="0"/>
          <a:ext cx="0" cy="0"/>
          <a:chOff x="0" y="0"/>
          <a:chExt cx="0" cy="0"/>
        </a:xfrm>
      </p:grpSpPr>
      <p:sp>
        <p:nvSpPr>
          <p:cNvPr id="2" name="Text 0"/>
          <p:cNvSpPr/>
          <p:nvPr/>
        </p:nvSpPr>
        <p:spPr>
          <a:xfrm>
            <a:off x="640080" y="502920"/>
            <a:ext cx="10058400" cy="32004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THE MODEL</a:t>
            </a:r>
            <a:endParaRPr lang="en-US" sz="1200" dirty="0"/>
          </a:p>
        </p:txBody>
      </p:sp>
      <p:sp>
        <p:nvSpPr>
          <p:cNvPr id="3" name="Text 1"/>
          <p:cNvSpPr/>
          <p:nvPr/>
        </p:nvSpPr>
        <p:spPr>
          <a:xfrm>
            <a:off x="640080" y="777240"/>
            <a:ext cx="100584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MobileNetV2 + transfer learning</a:t>
            </a:r>
            <a:endParaRPr lang="en-US" sz="3000" dirty="0"/>
          </a:p>
        </p:txBody>
      </p:sp>
      <p:sp>
        <p:nvSpPr>
          <p:cNvPr id="4" name="Text 2"/>
          <p:cNvSpPr/>
          <p:nvPr/>
        </p:nvSpPr>
        <p:spPr>
          <a:xfrm>
            <a:off x="640080" y="1783080"/>
            <a:ext cx="5120640" cy="365760"/>
          </a:xfrm>
          <a:prstGeom prst="rect">
            <a:avLst/>
          </a:prstGeom>
          <a:noFill/>
          <a:ln/>
        </p:spPr>
        <p:txBody>
          <a:bodyPr wrap="square" rtlCol="0" anchor="ctr"/>
          <a:lstStyle/>
          <a:p>
            <a:pPr indent="0" marL="0">
              <a:buNone/>
            </a:pPr>
            <a:r>
              <a:rPr lang="en-US" sz="1800" b="1" dirty="0">
                <a:solidFill>
                  <a:srgbClr val="97BC62"/>
                </a:solidFill>
                <a:latin typeface="Cambria" pitchFamily="34" charset="0"/>
                <a:ea typeface="Cambria" pitchFamily="34" charset="-122"/>
                <a:cs typeface="Cambria" pitchFamily="34" charset="-120"/>
              </a:rPr>
              <a:t>Why MobileNetV2?</a:t>
            </a:r>
            <a:endParaRPr lang="en-US" sz="1800" dirty="0"/>
          </a:p>
        </p:txBody>
      </p:sp>
      <p:sp>
        <p:nvSpPr>
          <p:cNvPr id="5" name="Text 3"/>
          <p:cNvSpPr/>
          <p:nvPr/>
        </p:nvSpPr>
        <p:spPr>
          <a:xfrm>
            <a:off x="640080" y="2240280"/>
            <a:ext cx="5212080" cy="2011680"/>
          </a:xfrm>
          <a:prstGeom prst="rect">
            <a:avLst/>
          </a:prstGeom>
          <a:noFill/>
          <a:ln/>
        </p:spPr>
        <p:txBody>
          <a:bodyPr wrap="square" rtlCol="0" anchor="ctr"/>
          <a:lstStyle/>
          <a:p>
            <a:pPr marL="342900" indent="-342900">
              <a:spcAft>
                <a:spcPts val="1000"/>
              </a:spcAft>
              <a:buSzPct val="100000"/>
              <a:buChar char="•"/>
            </a:pPr>
            <a:r>
              <a:rPr lang="en-US" sz="1350" dirty="0">
                <a:solidFill>
                  <a:srgbClr val="E4EAD9"/>
                </a:solidFill>
                <a:latin typeface="Calibri" pitchFamily="34" charset="0"/>
                <a:ea typeface="Calibri" pitchFamily="34" charset="-122"/>
                <a:cs typeface="Calibri" pitchFamily="34" charset="-120"/>
              </a:rPr>
              <a:t>Lightweight — ~23 MB on disk, runs on a CPU host and entry-level devices</a:t>
            </a:r>
            <a:endParaRPr lang="en-US" sz="1350" dirty="0"/>
          </a:p>
          <a:p>
            <a:pPr marL="342900" indent="-342900">
              <a:spcAft>
                <a:spcPts val="1000"/>
              </a:spcAft>
              <a:buSzPct val="100000"/>
              <a:buChar char="•"/>
            </a:pPr>
            <a:r>
              <a:rPr lang="en-US" sz="1350" dirty="0">
                <a:solidFill>
                  <a:srgbClr val="E4EAD9"/>
                </a:solidFill>
                <a:latin typeface="Calibri" pitchFamily="34" charset="0"/>
                <a:ea typeface="Calibri" pitchFamily="34" charset="-122"/>
                <a:cs typeface="Calibri" pitchFamily="34" charset="-120"/>
              </a:rPr>
              <a:t>Pre-trained on ImageNet — strong features without a huge dataset</a:t>
            </a:r>
            <a:endParaRPr lang="en-US" sz="1350" dirty="0"/>
          </a:p>
          <a:p>
            <a:pPr marL="342900" indent="-342900">
              <a:spcAft>
                <a:spcPts val="1000"/>
              </a:spcAft>
              <a:buSzPct val="100000"/>
              <a:buChar char="•"/>
            </a:pPr>
            <a:r>
              <a:rPr lang="en-US" sz="1350" dirty="0">
                <a:solidFill>
                  <a:srgbClr val="E4EAD9"/>
                </a:solidFill>
                <a:latin typeface="Calibri" pitchFamily="34" charset="0"/>
                <a:ea typeface="Calibri" pitchFamily="34" charset="-122"/>
                <a:cs typeface="Calibri" pitchFamily="34" charset="-120"/>
              </a:rPr>
              <a:t>Proven on JMuBEN by prior Kenyan work (Wachira, 2022)</a:t>
            </a:r>
            <a:endParaRPr lang="en-US" sz="1350" dirty="0"/>
          </a:p>
        </p:txBody>
      </p:sp>
      <p:sp>
        <p:nvSpPr>
          <p:cNvPr id="6" name="Text 4"/>
          <p:cNvSpPr/>
          <p:nvPr/>
        </p:nvSpPr>
        <p:spPr>
          <a:xfrm>
            <a:off x="640080" y="4434840"/>
            <a:ext cx="5303520" cy="1005840"/>
          </a:xfrm>
          <a:prstGeom prst="rect">
            <a:avLst/>
          </a:prstGeom>
          <a:noFill/>
          <a:ln/>
        </p:spPr>
        <p:txBody>
          <a:bodyPr wrap="square" rtlCol="0" anchor="ctr"/>
          <a:lstStyle/>
          <a:p>
            <a:pPr indent="0" marL="0">
              <a:buNone/>
            </a:pPr>
            <a:r>
              <a:rPr lang="en-US" sz="1250" b="1" dirty="0">
                <a:solidFill>
                  <a:srgbClr val="97BC62"/>
                </a:solidFill>
                <a:latin typeface="Calibri" pitchFamily="34" charset="0"/>
                <a:ea typeface="Calibri" pitchFamily="34" charset="-122"/>
                <a:cs typeface="Calibri" pitchFamily="34" charset="-120"/>
              </a:rPr>
              <a:t>Custom head:  </a:t>
            </a:r>
            <a:pPr indent="0" marL="0">
              <a:buNone/>
            </a:pPr>
            <a:r>
              <a:rPr lang="en-US" sz="1250" dirty="0">
                <a:solidFill>
                  <a:srgbClr val="FFFFFF"/>
                </a:solidFill>
                <a:latin typeface="Calibri" pitchFamily="34" charset="0"/>
                <a:ea typeface="Calibri" pitchFamily="34" charset="-122"/>
                <a:cs typeface="Calibri" pitchFamily="34" charset="-120"/>
              </a:rPr>
              <a:t>GlobalAvgPool → Dropout 0.3 → Dense 128 (ReLU) → Dropout 0.2 → Dense 1 (sigmoid)</a:t>
            </a:r>
            <a:endParaRPr lang="en-US" sz="1250" dirty="0"/>
          </a:p>
        </p:txBody>
      </p:sp>
      <p:sp>
        <p:nvSpPr>
          <p:cNvPr id="7" name="Shape 5"/>
          <p:cNvSpPr/>
          <p:nvPr/>
        </p:nvSpPr>
        <p:spPr>
          <a:xfrm>
            <a:off x="6309360" y="1783080"/>
            <a:ext cx="5257800" cy="4206240"/>
          </a:xfrm>
          <a:prstGeom prst="roundRect">
            <a:avLst>
              <a:gd name="adj" fmla="val 1957"/>
            </a:avLst>
          </a:prstGeom>
          <a:solidFill>
            <a:srgbClr val="20492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8" name="Text 6"/>
          <p:cNvSpPr/>
          <p:nvPr/>
        </p:nvSpPr>
        <p:spPr>
          <a:xfrm>
            <a:off x="6537960" y="1920240"/>
            <a:ext cx="4846320" cy="36576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Two-phase training</a:t>
            </a:r>
            <a:endParaRPr lang="en-US" sz="1700" dirty="0"/>
          </a:p>
        </p:txBody>
      </p:sp>
      <p:sp>
        <p:nvSpPr>
          <p:cNvPr id="9" name="Shape 7"/>
          <p:cNvSpPr/>
          <p:nvPr/>
        </p:nvSpPr>
        <p:spPr>
          <a:xfrm>
            <a:off x="6537960" y="2423160"/>
            <a:ext cx="4800600" cy="1143000"/>
          </a:xfrm>
          <a:prstGeom prst="roundRect">
            <a:avLst>
              <a:gd name="adj" fmla="val 5600"/>
            </a:avLst>
          </a:prstGeom>
          <a:solidFill>
            <a:srgbClr val="2C5F2D"/>
          </a:solidFill>
          <a:ln/>
        </p:spPr>
      </p:sp>
      <p:sp>
        <p:nvSpPr>
          <p:cNvPr id="10" name="Text 8"/>
          <p:cNvSpPr/>
          <p:nvPr/>
        </p:nvSpPr>
        <p:spPr>
          <a:xfrm>
            <a:off x="6766560" y="2542032"/>
            <a:ext cx="4389120" cy="36576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Phase 1 — feature extraction</a:t>
            </a:r>
            <a:endParaRPr lang="en-US" sz="1450" dirty="0"/>
          </a:p>
        </p:txBody>
      </p:sp>
      <p:sp>
        <p:nvSpPr>
          <p:cNvPr id="11" name="Text 9"/>
          <p:cNvSpPr/>
          <p:nvPr/>
        </p:nvSpPr>
        <p:spPr>
          <a:xfrm>
            <a:off x="6766560" y="2926080"/>
            <a:ext cx="4434840" cy="548640"/>
          </a:xfrm>
          <a:prstGeom prst="rect">
            <a:avLst/>
          </a:prstGeom>
          <a:noFill/>
          <a:ln/>
        </p:spPr>
        <p:txBody>
          <a:bodyPr wrap="square" rtlCol="0" anchor="ctr"/>
          <a:lstStyle/>
          <a:p>
            <a:pPr indent="0" marL="0">
              <a:buNone/>
            </a:pPr>
            <a:r>
              <a:rPr lang="en-US" sz="1200" dirty="0">
                <a:solidFill>
                  <a:srgbClr val="EFF3E8"/>
                </a:solidFill>
                <a:latin typeface="Calibri" pitchFamily="34" charset="0"/>
                <a:ea typeface="Calibri" pitchFamily="34" charset="-122"/>
                <a:cs typeface="Calibri" pitchFamily="34" charset="-120"/>
              </a:rPr>
              <a:t>Freeze MobileNetV2 base; train only the new head (≤ 15 epochs)</a:t>
            </a:r>
            <a:endParaRPr lang="en-US" sz="1200" dirty="0"/>
          </a:p>
        </p:txBody>
      </p:sp>
      <p:sp>
        <p:nvSpPr>
          <p:cNvPr id="12" name="Shape 10"/>
          <p:cNvSpPr/>
          <p:nvPr/>
        </p:nvSpPr>
        <p:spPr>
          <a:xfrm>
            <a:off x="6537960" y="3703320"/>
            <a:ext cx="4800600" cy="1143000"/>
          </a:xfrm>
          <a:prstGeom prst="roundRect">
            <a:avLst>
              <a:gd name="adj" fmla="val 5600"/>
            </a:avLst>
          </a:prstGeom>
          <a:solidFill>
            <a:srgbClr val="6F4E37"/>
          </a:solidFill>
          <a:ln/>
        </p:spPr>
      </p:sp>
      <p:sp>
        <p:nvSpPr>
          <p:cNvPr id="13" name="Text 11"/>
          <p:cNvSpPr/>
          <p:nvPr/>
        </p:nvSpPr>
        <p:spPr>
          <a:xfrm>
            <a:off x="6766560" y="3822192"/>
            <a:ext cx="4389120" cy="365760"/>
          </a:xfrm>
          <a:prstGeom prst="rect">
            <a:avLst/>
          </a:prstGeom>
          <a:noFill/>
          <a:ln/>
        </p:spPr>
        <p:txBody>
          <a:bodyPr wrap="square"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Phase 2 — fine-tuning</a:t>
            </a:r>
            <a:endParaRPr lang="en-US" sz="1450" dirty="0"/>
          </a:p>
        </p:txBody>
      </p:sp>
      <p:sp>
        <p:nvSpPr>
          <p:cNvPr id="14" name="Text 12"/>
          <p:cNvSpPr/>
          <p:nvPr/>
        </p:nvSpPr>
        <p:spPr>
          <a:xfrm>
            <a:off x="6766560" y="4206240"/>
            <a:ext cx="4434840" cy="548640"/>
          </a:xfrm>
          <a:prstGeom prst="rect">
            <a:avLst/>
          </a:prstGeom>
          <a:noFill/>
          <a:ln/>
        </p:spPr>
        <p:txBody>
          <a:bodyPr wrap="square" rtlCol="0" anchor="ctr"/>
          <a:lstStyle/>
          <a:p>
            <a:pPr indent="0" marL="0">
              <a:buNone/>
            </a:pPr>
            <a:r>
              <a:rPr lang="en-US" sz="1200" dirty="0">
                <a:solidFill>
                  <a:srgbClr val="EFF3E8"/>
                </a:solidFill>
                <a:latin typeface="Calibri" pitchFamily="34" charset="0"/>
                <a:ea typeface="Calibri" pitchFamily="34" charset="-122"/>
                <a:cs typeface="Calibri" pitchFamily="34" charset="-120"/>
              </a:rPr>
              <a:t>Unfreeze last 30 layers; train at a lower learning rate (10 epochs)</a:t>
            </a:r>
            <a:endParaRPr lang="en-US" sz="1200" dirty="0"/>
          </a:p>
        </p:txBody>
      </p:sp>
      <p:sp>
        <p:nvSpPr>
          <p:cNvPr id="15" name="Text 13"/>
          <p:cNvSpPr/>
          <p:nvPr/>
        </p:nvSpPr>
        <p:spPr>
          <a:xfrm>
            <a:off x="6537960" y="5120640"/>
            <a:ext cx="4846320" cy="640080"/>
          </a:xfrm>
          <a:prstGeom prst="rect">
            <a:avLst/>
          </a:prstGeom>
          <a:noFill/>
          <a:ln/>
        </p:spPr>
        <p:txBody>
          <a:bodyPr wrap="square" rtlCol="0" anchor="ctr"/>
          <a:lstStyle/>
          <a:p>
            <a:pPr indent="0" marL="0">
              <a:buNone/>
            </a:pPr>
            <a:r>
              <a:rPr lang="en-US" sz="1150" i="1" dirty="0">
                <a:solidFill>
                  <a:srgbClr val="97BC62"/>
                </a:solidFill>
                <a:latin typeface="Calibri" pitchFamily="34" charset="0"/>
                <a:ea typeface="Calibri" pitchFamily="34" charset="-122"/>
                <a:cs typeface="Calibri" pitchFamily="34" charset="-120"/>
              </a:rPr>
              <a:t>Adam optimiser · binary cross-entropy loss · saved as coffee_rust_model.h5</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THE AI ADVISORY LAYER</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Beyond a label — grounded, plain-language advice</a:t>
            </a:r>
            <a:endParaRPr lang="en-US" sz="3000" dirty="0"/>
          </a:p>
        </p:txBody>
      </p:sp>
      <p:sp>
        <p:nvSpPr>
          <p:cNvPr id="4" name="Text 2"/>
          <p:cNvSpPr/>
          <p:nvPr/>
        </p:nvSpPr>
        <p:spPr>
          <a:xfrm>
            <a:off x="640080" y="1691640"/>
            <a:ext cx="10911535" cy="640080"/>
          </a:xfrm>
          <a:prstGeom prst="rect">
            <a:avLst/>
          </a:prstGeom>
          <a:noFill/>
          <a:ln/>
        </p:spPr>
        <p:txBody>
          <a:bodyPr wrap="square" rtlCol="0" anchor="ctr"/>
          <a:lstStyle/>
          <a:p>
            <a:pPr indent="0" marL="0">
              <a:buNone/>
            </a:pPr>
            <a:r>
              <a:rPr lang="en-US" sz="1400" dirty="0">
                <a:solidFill>
                  <a:srgbClr val="24261F"/>
                </a:solidFill>
                <a:latin typeface="Calibri" pitchFamily="34" charset="0"/>
                <a:ea typeface="Calibri" pitchFamily="34" charset="-122"/>
                <a:cs typeface="Calibri" pitchFamily="34" charset="-120"/>
              </a:rPr>
              <a:t>A classification says what the leaf shows, not what to do. A language model, grounded by retrieval-augmented generation over a curated coffee knowledge base, answers follow-up questions in the farmer's own language.</a:t>
            </a:r>
            <a:endParaRPr lang="en-US" sz="1400" dirty="0"/>
          </a:p>
        </p:txBody>
      </p:sp>
      <p:sp>
        <p:nvSpPr>
          <p:cNvPr id="5" name="Shape 3"/>
          <p:cNvSpPr/>
          <p:nvPr/>
        </p:nvSpPr>
        <p:spPr>
          <a:xfrm>
            <a:off x="640080" y="2514600"/>
            <a:ext cx="2606040" cy="1737360"/>
          </a:xfrm>
          <a:prstGeom prst="roundRect">
            <a:avLst>
              <a:gd name="adj" fmla="val 4737"/>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6" name="Shape 4"/>
          <p:cNvSpPr/>
          <p:nvPr/>
        </p:nvSpPr>
        <p:spPr>
          <a:xfrm>
            <a:off x="822960" y="2651760"/>
            <a:ext cx="502920" cy="502920"/>
          </a:xfrm>
          <a:prstGeom prst="ellipse">
            <a:avLst/>
          </a:prstGeom>
          <a:solidFill>
            <a:srgbClr val="2C5F2D"/>
          </a:solidFill>
          <a:ln/>
        </p:spPr>
      </p:sp>
      <p:sp>
        <p:nvSpPr>
          <p:cNvPr id="7" name="Text 5"/>
          <p:cNvSpPr/>
          <p:nvPr/>
        </p:nvSpPr>
        <p:spPr>
          <a:xfrm>
            <a:off x="822960" y="265176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417320" y="2697480"/>
            <a:ext cx="1737360" cy="41148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Question</a:t>
            </a:r>
            <a:endParaRPr lang="en-US" sz="1500" dirty="0"/>
          </a:p>
        </p:txBody>
      </p:sp>
      <p:sp>
        <p:nvSpPr>
          <p:cNvPr id="9" name="Text 7"/>
          <p:cNvSpPr/>
          <p:nvPr/>
        </p:nvSpPr>
        <p:spPr>
          <a:xfrm>
            <a:off x="822960" y="3246120"/>
            <a:ext cx="2286000" cy="91440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Farmer asks a follow-up (EN / SW — language auto-detected)</a:t>
            </a:r>
            <a:endParaRPr lang="en-US" sz="1150" dirty="0"/>
          </a:p>
        </p:txBody>
      </p:sp>
      <p:sp>
        <p:nvSpPr>
          <p:cNvPr id="10" name="Text 8"/>
          <p:cNvSpPr/>
          <p:nvPr/>
        </p:nvSpPr>
        <p:spPr>
          <a:xfrm>
            <a:off x="3145536" y="2514600"/>
            <a:ext cx="320040" cy="1737360"/>
          </a:xfrm>
          <a:prstGeom prst="rect">
            <a:avLst/>
          </a:prstGeom>
          <a:noFill/>
          <a:ln/>
        </p:spPr>
        <p:txBody>
          <a:bodyPr wrap="square" rtlCol="0" anchor="ctr"/>
          <a:lstStyle/>
          <a:p>
            <a:pPr algn="ctr" indent="0" marL="0">
              <a:buNone/>
            </a:pPr>
            <a:r>
              <a:rPr lang="en-US" sz="2000" b="1" dirty="0">
                <a:solidFill>
                  <a:srgbClr val="B85C2E"/>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3401568" y="2514600"/>
            <a:ext cx="2606040" cy="1737360"/>
          </a:xfrm>
          <a:prstGeom prst="roundRect">
            <a:avLst>
              <a:gd name="adj" fmla="val 4737"/>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2" name="Shape 10"/>
          <p:cNvSpPr/>
          <p:nvPr/>
        </p:nvSpPr>
        <p:spPr>
          <a:xfrm>
            <a:off x="3584448" y="2651760"/>
            <a:ext cx="502920" cy="502920"/>
          </a:xfrm>
          <a:prstGeom prst="ellipse">
            <a:avLst/>
          </a:prstGeom>
          <a:solidFill>
            <a:srgbClr val="6F4E37"/>
          </a:solidFill>
          <a:ln/>
        </p:spPr>
      </p:sp>
      <p:sp>
        <p:nvSpPr>
          <p:cNvPr id="13" name="Text 11"/>
          <p:cNvSpPr/>
          <p:nvPr/>
        </p:nvSpPr>
        <p:spPr>
          <a:xfrm>
            <a:off x="3584448" y="265176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4178808" y="2697480"/>
            <a:ext cx="1737360" cy="41148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Retrieve</a:t>
            </a:r>
            <a:endParaRPr lang="en-US" sz="1500" dirty="0"/>
          </a:p>
        </p:txBody>
      </p:sp>
      <p:sp>
        <p:nvSpPr>
          <p:cNvPr id="15" name="Text 13"/>
          <p:cNvSpPr/>
          <p:nvPr/>
        </p:nvSpPr>
        <p:spPr>
          <a:xfrm>
            <a:off x="3584448" y="3246120"/>
            <a:ext cx="2286000" cy="91440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Embed question, search knowledge-base index for closest passages</a:t>
            </a:r>
            <a:endParaRPr lang="en-US" sz="1150" dirty="0"/>
          </a:p>
        </p:txBody>
      </p:sp>
      <p:sp>
        <p:nvSpPr>
          <p:cNvPr id="16" name="Text 14"/>
          <p:cNvSpPr/>
          <p:nvPr/>
        </p:nvSpPr>
        <p:spPr>
          <a:xfrm>
            <a:off x="5907024" y="2514600"/>
            <a:ext cx="320040" cy="1737360"/>
          </a:xfrm>
          <a:prstGeom prst="rect">
            <a:avLst/>
          </a:prstGeom>
          <a:noFill/>
          <a:ln/>
        </p:spPr>
        <p:txBody>
          <a:bodyPr wrap="square" rtlCol="0" anchor="ctr"/>
          <a:lstStyle/>
          <a:p>
            <a:pPr algn="ctr" indent="0" marL="0">
              <a:buNone/>
            </a:pPr>
            <a:r>
              <a:rPr lang="en-US" sz="2000" b="1" dirty="0">
                <a:solidFill>
                  <a:srgbClr val="B85C2E"/>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6163056" y="2514600"/>
            <a:ext cx="2606040" cy="1737360"/>
          </a:xfrm>
          <a:prstGeom prst="roundRect">
            <a:avLst>
              <a:gd name="adj" fmla="val 4737"/>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8" name="Shape 16"/>
          <p:cNvSpPr/>
          <p:nvPr/>
        </p:nvSpPr>
        <p:spPr>
          <a:xfrm>
            <a:off x="6345936" y="2651760"/>
            <a:ext cx="502920" cy="502920"/>
          </a:xfrm>
          <a:prstGeom prst="ellipse">
            <a:avLst/>
          </a:prstGeom>
          <a:solidFill>
            <a:srgbClr val="2C5F2D"/>
          </a:solidFill>
          <a:ln/>
        </p:spPr>
      </p:sp>
      <p:sp>
        <p:nvSpPr>
          <p:cNvPr id="19" name="Text 17"/>
          <p:cNvSpPr/>
          <p:nvPr/>
        </p:nvSpPr>
        <p:spPr>
          <a:xfrm>
            <a:off x="6345936" y="265176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8"/>
          <p:cNvSpPr/>
          <p:nvPr/>
        </p:nvSpPr>
        <p:spPr>
          <a:xfrm>
            <a:off x="6940296" y="2697480"/>
            <a:ext cx="1737360" cy="41148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Ground</a:t>
            </a:r>
            <a:endParaRPr lang="en-US" sz="1500" dirty="0"/>
          </a:p>
        </p:txBody>
      </p:sp>
      <p:sp>
        <p:nvSpPr>
          <p:cNvPr id="21" name="Text 19"/>
          <p:cNvSpPr/>
          <p:nvPr/>
        </p:nvSpPr>
        <p:spPr>
          <a:xfrm>
            <a:off x="6345936" y="3246120"/>
            <a:ext cx="2286000" cy="91440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Attach retrieved passages to the prompt as evidence</a:t>
            </a:r>
            <a:endParaRPr lang="en-US" sz="1150" dirty="0"/>
          </a:p>
        </p:txBody>
      </p:sp>
      <p:sp>
        <p:nvSpPr>
          <p:cNvPr id="22" name="Text 20"/>
          <p:cNvSpPr/>
          <p:nvPr/>
        </p:nvSpPr>
        <p:spPr>
          <a:xfrm>
            <a:off x="8668512" y="2514600"/>
            <a:ext cx="320040" cy="1737360"/>
          </a:xfrm>
          <a:prstGeom prst="rect">
            <a:avLst/>
          </a:prstGeom>
          <a:noFill/>
          <a:ln/>
        </p:spPr>
        <p:txBody>
          <a:bodyPr wrap="square" rtlCol="0" anchor="ctr"/>
          <a:lstStyle/>
          <a:p>
            <a:pPr algn="ctr" indent="0" marL="0">
              <a:buNone/>
            </a:pPr>
            <a:r>
              <a:rPr lang="en-US" sz="2000" b="1" dirty="0">
                <a:solidFill>
                  <a:srgbClr val="B85C2E"/>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8924544" y="2514600"/>
            <a:ext cx="2606040" cy="1737360"/>
          </a:xfrm>
          <a:prstGeom prst="roundRect">
            <a:avLst>
              <a:gd name="adj" fmla="val 4737"/>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4" name="Shape 22"/>
          <p:cNvSpPr/>
          <p:nvPr/>
        </p:nvSpPr>
        <p:spPr>
          <a:xfrm>
            <a:off x="9107424" y="2651760"/>
            <a:ext cx="502920" cy="502920"/>
          </a:xfrm>
          <a:prstGeom prst="ellipse">
            <a:avLst/>
          </a:prstGeom>
          <a:solidFill>
            <a:srgbClr val="6F4E37"/>
          </a:solidFill>
          <a:ln/>
        </p:spPr>
      </p:sp>
      <p:sp>
        <p:nvSpPr>
          <p:cNvPr id="25" name="Text 23"/>
          <p:cNvSpPr/>
          <p:nvPr/>
        </p:nvSpPr>
        <p:spPr>
          <a:xfrm>
            <a:off x="9107424" y="265176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6" name="Text 24"/>
          <p:cNvSpPr/>
          <p:nvPr/>
        </p:nvSpPr>
        <p:spPr>
          <a:xfrm>
            <a:off x="9701784" y="2697480"/>
            <a:ext cx="1737360" cy="411480"/>
          </a:xfrm>
          <a:prstGeom prst="rect">
            <a:avLst/>
          </a:prstGeom>
          <a:noFill/>
          <a:ln/>
        </p:spPr>
        <p:txBody>
          <a:bodyPr wrap="square" rtlCol="0" anchor="ctr"/>
          <a:lstStyle/>
          <a:p>
            <a:pPr indent="0" marL="0">
              <a:buNone/>
            </a:pPr>
            <a:r>
              <a:rPr lang="en-US" sz="1500" b="1" dirty="0">
                <a:solidFill>
                  <a:srgbClr val="173D1C"/>
                </a:solidFill>
                <a:latin typeface="Cambria" pitchFamily="34" charset="0"/>
                <a:ea typeface="Cambria" pitchFamily="34" charset="-122"/>
                <a:cs typeface="Cambria" pitchFamily="34" charset="-120"/>
              </a:rPr>
              <a:t>Answer</a:t>
            </a:r>
            <a:endParaRPr lang="en-US" sz="1500" dirty="0"/>
          </a:p>
        </p:txBody>
      </p:sp>
      <p:sp>
        <p:nvSpPr>
          <p:cNvPr id="27" name="Text 25"/>
          <p:cNvSpPr/>
          <p:nvPr/>
        </p:nvSpPr>
        <p:spPr>
          <a:xfrm>
            <a:off x="9107424" y="3246120"/>
            <a:ext cx="2286000" cy="91440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Groq-hosted LLM replies from evidence — or says 'I don't know'</a:t>
            </a:r>
            <a:endParaRPr lang="en-US" sz="1150" dirty="0"/>
          </a:p>
        </p:txBody>
      </p:sp>
      <p:sp>
        <p:nvSpPr>
          <p:cNvPr id="28" name="Shape 26"/>
          <p:cNvSpPr/>
          <p:nvPr/>
        </p:nvSpPr>
        <p:spPr>
          <a:xfrm>
            <a:off x="640080" y="4572000"/>
            <a:ext cx="10911535" cy="1234440"/>
          </a:xfrm>
          <a:prstGeom prst="roundRect">
            <a:avLst>
              <a:gd name="adj" fmla="val 5926"/>
            </a:avLst>
          </a:prstGeom>
          <a:solidFill>
            <a:srgbClr val="173D1C"/>
          </a:solidFill>
          <a:ln/>
        </p:spPr>
      </p:sp>
      <p:sp>
        <p:nvSpPr>
          <p:cNvPr id="29" name="Text 27"/>
          <p:cNvSpPr/>
          <p:nvPr/>
        </p:nvSpPr>
        <p:spPr>
          <a:xfrm>
            <a:off x="914400" y="4709160"/>
            <a:ext cx="4572000" cy="365760"/>
          </a:xfrm>
          <a:prstGeom prst="rect">
            <a:avLst/>
          </a:prstGeom>
          <a:noFill/>
          <a:ln/>
        </p:spPr>
        <p:txBody>
          <a:bodyPr wrap="square" rtlCol="0" anchor="ctr"/>
          <a:lstStyle/>
          <a:p>
            <a:pPr indent="0" marL="0">
              <a:buNone/>
            </a:pPr>
            <a:r>
              <a:rPr lang="en-US" sz="1500" b="1" dirty="0">
                <a:solidFill>
                  <a:srgbClr val="97BC62"/>
                </a:solidFill>
                <a:latin typeface="Cambria" pitchFamily="34" charset="0"/>
                <a:ea typeface="Cambria" pitchFamily="34" charset="-122"/>
                <a:cs typeface="Cambria" pitchFamily="34" charset="-120"/>
              </a:rPr>
              <a:t>Anti-hallucination guard</a:t>
            </a:r>
            <a:endParaRPr lang="en-US" sz="1500" dirty="0"/>
          </a:p>
        </p:txBody>
      </p:sp>
      <p:sp>
        <p:nvSpPr>
          <p:cNvPr id="30" name="Text 28"/>
          <p:cNvSpPr/>
          <p:nvPr/>
        </p:nvSpPr>
        <p:spPr>
          <a:xfrm>
            <a:off x="914400" y="5074920"/>
            <a:ext cx="10362895" cy="685800"/>
          </a:xfrm>
          <a:prstGeom prst="rect">
            <a:avLst/>
          </a:prstGeom>
          <a:noFill/>
          <a:ln/>
        </p:spPr>
        <p:txBody>
          <a:bodyPr wrap="square" rtlCol="0" anchor="ctr"/>
          <a:lstStyle/>
          <a:p>
            <a:pPr indent="0" marL="0">
              <a:buNone/>
            </a:pPr>
            <a:r>
              <a:rPr lang="en-US" sz="1300" dirty="0">
                <a:solidFill>
                  <a:srgbClr val="E4EAD9"/>
                </a:solidFill>
                <a:latin typeface="Calibri" pitchFamily="34" charset="0"/>
                <a:ea typeface="Calibri" pitchFamily="34" charset="-122"/>
                <a:cs typeface="Calibri" pitchFamily="34" charset="-120"/>
              </a:rPr>
              <a:t>If nothing in the knowledge base is relevant, the model is instructed to say it does not know — rather than invent an answer. Groq is used for speed, with a smaller local model as an offline fallback.</a:t>
            </a:r>
            <a:endParaRPr lang="en-US" sz="1300" dirty="0"/>
          </a:p>
        </p:txBody>
      </p:sp>
      <p:sp>
        <p:nvSpPr>
          <p:cNvPr id="31" name="Text 29"/>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32" name="Text 30"/>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THE DEPLOYED SYSTEM</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Not a prototype on paper — a live web app</a:t>
            </a:r>
            <a:endParaRPr lang="en-US" sz="3000" dirty="0"/>
          </a:p>
        </p:txBody>
      </p:sp>
      <p:sp>
        <p:nvSpPr>
          <p:cNvPr id="4" name="Shape 2"/>
          <p:cNvSpPr/>
          <p:nvPr/>
        </p:nvSpPr>
        <p:spPr>
          <a:xfrm>
            <a:off x="640080" y="1737360"/>
            <a:ext cx="5257800" cy="1143000"/>
          </a:xfrm>
          <a:prstGeom prst="roundRect">
            <a:avLst>
              <a:gd name="adj" fmla="val 720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5" name="Text 3"/>
          <p:cNvSpPr/>
          <p:nvPr/>
        </p:nvSpPr>
        <p:spPr>
          <a:xfrm>
            <a:off x="868680" y="1865376"/>
            <a:ext cx="4800600" cy="365760"/>
          </a:xfrm>
          <a:prstGeom prst="rect">
            <a:avLst/>
          </a:prstGeom>
          <a:noFill/>
          <a:ln/>
        </p:spPr>
        <p:txBody>
          <a:bodyPr wrap="square" rtlCol="0" anchor="ctr"/>
          <a:lstStyle/>
          <a:p>
            <a:pPr indent="0" marL="0">
              <a:buNone/>
            </a:pPr>
            <a:r>
              <a:rPr lang="en-US" sz="1500" b="1" dirty="0">
                <a:solidFill>
                  <a:srgbClr val="B85C2E"/>
                </a:solidFill>
                <a:latin typeface="Cambria" pitchFamily="34" charset="0"/>
                <a:ea typeface="Cambria" pitchFamily="34" charset="-122"/>
                <a:cs typeface="Cambria" pitchFamily="34" charset="-120"/>
              </a:rPr>
              <a:t>Instant verdict</a:t>
            </a:r>
            <a:endParaRPr lang="en-US" sz="1500" dirty="0"/>
          </a:p>
        </p:txBody>
      </p:sp>
      <p:sp>
        <p:nvSpPr>
          <p:cNvPr id="6" name="Text 4"/>
          <p:cNvSpPr/>
          <p:nvPr/>
        </p:nvSpPr>
        <p:spPr>
          <a:xfrm>
            <a:off x="868680" y="2240280"/>
            <a:ext cx="4800600" cy="54864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Green 'Healthy' or red 'Rust-infected' with a confidence bar</a:t>
            </a:r>
            <a:endParaRPr lang="en-US" sz="1150" dirty="0"/>
          </a:p>
        </p:txBody>
      </p:sp>
      <p:sp>
        <p:nvSpPr>
          <p:cNvPr id="7" name="Shape 5"/>
          <p:cNvSpPr/>
          <p:nvPr/>
        </p:nvSpPr>
        <p:spPr>
          <a:xfrm>
            <a:off x="6217920" y="1737360"/>
            <a:ext cx="5257800" cy="1143000"/>
          </a:xfrm>
          <a:prstGeom prst="roundRect">
            <a:avLst>
              <a:gd name="adj" fmla="val 720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8" name="Text 6"/>
          <p:cNvSpPr/>
          <p:nvPr/>
        </p:nvSpPr>
        <p:spPr>
          <a:xfrm>
            <a:off x="6446520" y="1865376"/>
            <a:ext cx="4800600" cy="365760"/>
          </a:xfrm>
          <a:prstGeom prst="rect">
            <a:avLst/>
          </a:prstGeom>
          <a:noFill/>
          <a:ln/>
        </p:spPr>
        <p:txBody>
          <a:bodyPr wrap="square" rtlCol="0" anchor="ctr"/>
          <a:lstStyle/>
          <a:p>
            <a:pPr indent="0" marL="0">
              <a:buNone/>
            </a:pPr>
            <a:r>
              <a:rPr lang="en-US" sz="1500" b="1" dirty="0">
                <a:solidFill>
                  <a:srgbClr val="B85C2E"/>
                </a:solidFill>
                <a:latin typeface="Cambria" pitchFamily="34" charset="0"/>
                <a:ea typeface="Cambria" pitchFamily="34" charset="-122"/>
                <a:cs typeface="Cambria" pitchFamily="34" charset="-120"/>
              </a:rPr>
              <a:t>Bilingual</a:t>
            </a:r>
            <a:endParaRPr lang="en-US" sz="1500" dirty="0"/>
          </a:p>
        </p:txBody>
      </p:sp>
      <p:sp>
        <p:nvSpPr>
          <p:cNvPr id="9" name="Text 7"/>
          <p:cNvSpPr/>
          <p:nvPr/>
        </p:nvSpPr>
        <p:spPr>
          <a:xfrm>
            <a:off x="6446520" y="2240280"/>
            <a:ext cx="4800600" cy="54864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Full interface &amp; advisory in English and Swahili</a:t>
            </a:r>
            <a:endParaRPr lang="en-US" sz="1150" dirty="0"/>
          </a:p>
        </p:txBody>
      </p:sp>
      <p:sp>
        <p:nvSpPr>
          <p:cNvPr id="10" name="Shape 8"/>
          <p:cNvSpPr/>
          <p:nvPr/>
        </p:nvSpPr>
        <p:spPr>
          <a:xfrm>
            <a:off x="640080" y="3081528"/>
            <a:ext cx="5257800" cy="1143000"/>
          </a:xfrm>
          <a:prstGeom prst="roundRect">
            <a:avLst>
              <a:gd name="adj" fmla="val 720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1" name="Text 9"/>
          <p:cNvSpPr/>
          <p:nvPr/>
        </p:nvSpPr>
        <p:spPr>
          <a:xfrm>
            <a:off x="868680" y="3209544"/>
            <a:ext cx="4800600" cy="365760"/>
          </a:xfrm>
          <a:prstGeom prst="rect">
            <a:avLst/>
          </a:prstGeom>
          <a:noFill/>
          <a:ln/>
        </p:spPr>
        <p:txBody>
          <a:bodyPr wrap="square" rtlCol="0" anchor="ctr"/>
          <a:lstStyle/>
          <a:p>
            <a:pPr indent="0" marL="0">
              <a:buNone/>
            </a:pPr>
            <a:r>
              <a:rPr lang="en-US" sz="1500" b="1" dirty="0">
                <a:solidFill>
                  <a:srgbClr val="B85C2E"/>
                </a:solidFill>
                <a:latin typeface="Cambria" pitchFamily="34" charset="0"/>
                <a:ea typeface="Cambria" pitchFamily="34" charset="-122"/>
                <a:cs typeface="Cambria" pitchFamily="34" charset="-120"/>
              </a:rPr>
              <a:t>Installable PWA</a:t>
            </a:r>
            <a:endParaRPr lang="en-US" sz="1500" dirty="0"/>
          </a:p>
        </p:txBody>
      </p:sp>
      <p:sp>
        <p:nvSpPr>
          <p:cNvPr id="12" name="Text 10"/>
          <p:cNvSpPr/>
          <p:nvPr/>
        </p:nvSpPr>
        <p:spPr>
          <a:xfrm>
            <a:off x="868680" y="3584448"/>
            <a:ext cx="4800600" cy="54864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Adds to home screen; re-opens on poor networks</a:t>
            </a:r>
            <a:endParaRPr lang="en-US" sz="1150" dirty="0"/>
          </a:p>
        </p:txBody>
      </p:sp>
      <p:sp>
        <p:nvSpPr>
          <p:cNvPr id="13" name="Shape 11"/>
          <p:cNvSpPr/>
          <p:nvPr/>
        </p:nvSpPr>
        <p:spPr>
          <a:xfrm>
            <a:off x="6217920" y="3081528"/>
            <a:ext cx="5257800" cy="1143000"/>
          </a:xfrm>
          <a:prstGeom prst="roundRect">
            <a:avLst>
              <a:gd name="adj" fmla="val 720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4" name="Text 12"/>
          <p:cNvSpPr/>
          <p:nvPr/>
        </p:nvSpPr>
        <p:spPr>
          <a:xfrm>
            <a:off x="6446520" y="3209544"/>
            <a:ext cx="4800600" cy="365760"/>
          </a:xfrm>
          <a:prstGeom prst="rect">
            <a:avLst/>
          </a:prstGeom>
          <a:noFill/>
          <a:ln/>
        </p:spPr>
        <p:txBody>
          <a:bodyPr wrap="square" rtlCol="0" anchor="ctr"/>
          <a:lstStyle/>
          <a:p>
            <a:pPr indent="0" marL="0">
              <a:buNone/>
            </a:pPr>
            <a:r>
              <a:rPr lang="en-US" sz="1500" b="1" dirty="0">
                <a:solidFill>
                  <a:srgbClr val="B85C2E"/>
                </a:solidFill>
                <a:latin typeface="Cambria" pitchFamily="34" charset="0"/>
                <a:ea typeface="Cambria" pitchFamily="34" charset="-122"/>
                <a:cs typeface="Cambria" pitchFamily="34" charset="-120"/>
              </a:rPr>
              <a:t>Secure accounts</a:t>
            </a:r>
            <a:endParaRPr lang="en-US" sz="1500" dirty="0"/>
          </a:p>
        </p:txBody>
      </p:sp>
      <p:sp>
        <p:nvSpPr>
          <p:cNvPr id="15" name="Text 13"/>
          <p:cNvSpPr/>
          <p:nvPr/>
        </p:nvSpPr>
        <p:spPr>
          <a:xfrm>
            <a:off x="6446520" y="3584448"/>
            <a:ext cx="4800600" cy="54864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Optional login to keep history; hardened against common web attacks</a:t>
            </a:r>
            <a:endParaRPr lang="en-US" sz="1150" dirty="0"/>
          </a:p>
        </p:txBody>
      </p:sp>
      <p:sp>
        <p:nvSpPr>
          <p:cNvPr id="16" name="Shape 14"/>
          <p:cNvSpPr/>
          <p:nvPr/>
        </p:nvSpPr>
        <p:spPr>
          <a:xfrm>
            <a:off x="640080" y="4425696"/>
            <a:ext cx="5257800" cy="1143000"/>
          </a:xfrm>
          <a:prstGeom prst="roundRect">
            <a:avLst>
              <a:gd name="adj" fmla="val 720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7" name="Text 15"/>
          <p:cNvSpPr/>
          <p:nvPr/>
        </p:nvSpPr>
        <p:spPr>
          <a:xfrm>
            <a:off x="868680" y="4553712"/>
            <a:ext cx="4800600" cy="365760"/>
          </a:xfrm>
          <a:prstGeom prst="rect">
            <a:avLst/>
          </a:prstGeom>
          <a:noFill/>
          <a:ln/>
        </p:spPr>
        <p:txBody>
          <a:bodyPr wrap="square" rtlCol="0" anchor="ctr"/>
          <a:lstStyle/>
          <a:p>
            <a:pPr indent="0" marL="0">
              <a:buNone/>
            </a:pPr>
            <a:r>
              <a:rPr lang="en-US" sz="1500" b="1" dirty="0">
                <a:solidFill>
                  <a:srgbClr val="B85C2E"/>
                </a:solidFill>
                <a:latin typeface="Cambria" pitchFamily="34" charset="0"/>
                <a:ea typeface="Cambria" pitchFamily="34" charset="-122"/>
                <a:cs typeface="Cambria" pitchFamily="34" charset="-120"/>
              </a:rPr>
              <a:t>Downloadable report</a:t>
            </a:r>
            <a:endParaRPr lang="en-US" sz="1500" dirty="0"/>
          </a:p>
        </p:txBody>
      </p:sp>
      <p:sp>
        <p:nvSpPr>
          <p:cNvPr id="18" name="Text 16"/>
          <p:cNvSpPr/>
          <p:nvPr/>
        </p:nvSpPr>
        <p:spPr>
          <a:xfrm>
            <a:off x="868680" y="4928616"/>
            <a:ext cx="4800600" cy="54864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One-page PDF the farmer can save or share</a:t>
            </a:r>
            <a:endParaRPr lang="en-US" sz="1150" dirty="0"/>
          </a:p>
        </p:txBody>
      </p:sp>
      <p:sp>
        <p:nvSpPr>
          <p:cNvPr id="19" name="Shape 17"/>
          <p:cNvSpPr/>
          <p:nvPr/>
        </p:nvSpPr>
        <p:spPr>
          <a:xfrm>
            <a:off x="6217920" y="4425696"/>
            <a:ext cx="5257800" cy="1143000"/>
          </a:xfrm>
          <a:prstGeom prst="roundRect">
            <a:avLst>
              <a:gd name="adj" fmla="val 720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0" name="Text 18"/>
          <p:cNvSpPr/>
          <p:nvPr/>
        </p:nvSpPr>
        <p:spPr>
          <a:xfrm>
            <a:off x="6446520" y="4553712"/>
            <a:ext cx="4800600" cy="365760"/>
          </a:xfrm>
          <a:prstGeom prst="rect">
            <a:avLst/>
          </a:prstGeom>
          <a:noFill/>
          <a:ln/>
        </p:spPr>
        <p:txBody>
          <a:bodyPr wrap="square" rtlCol="0" anchor="ctr"/>
          <a:lstStyle/>
          <a:p>
            <a:pPr indent="0" marL="0">
              <a:buNone/>
            </a:pPr>
            <a:r>
              <a:rPr lang="en-US" sz="1500" b="1" dirty="0">
                <a:solidFill>
                  <a:srgbClr val="B85C2E"/>
                </a:solidFill>
                <a:latin typeface="Cambria" pitchFamily="34" charset="0"/>
                <a:ea typeface="Cambria" pitchFamily="34" charset="-122"/>
                <a:cs typeface="Cambria" pitchFamily="34" charset="-120"/>
              </a:rPr>
              <a:t>Event logging</a:t>
            </a:r>
            <a:endParaRPr lang="en-US" sz="1500" dirty="0"/>
          </a:p>
        </p:txBody>
      </p:sp>
      <p:sp>
        <p:nvSpPr>
          <p:cNvPr id="21" name="Text 19"/>
          <p:cNvSpPr/>
          <p:nvPr/>
        </p:nvSpPr>
        <p:spPr>
          <a:xfrm>
            <a:off x="6446520" y="4928616"/>
            <a:ext cx="4800600" cy="54864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Every prediction stored — a by-product rust-surveillance dataset</a:t>
            </a:r>
            <a:endParaRPr lang="en-US" sz="1150" dirty="0"/>
          </a:p>
        </p:txBody>
      </p:sp>
      <p:sp>
        <p:nvSpPr>
          <p:cNvPr id="22" name="Shape 20"/>
          <p:cNvSpPr/>
          <p:nvPr/>
        </p:nvSpPr>
        <p:spPr>
          <a:xfrm>
            <a:off x="640080" y="5806440"/>
            <a:ext cx="10911535" cy="502920"/>
          </a:xfrm>
          <a:prstGeom prst="roundRect">
            <a:avLst>
              <a:gd name="adj" fmla="val 12727"/>
            </a:avLst>
          </a:prstGeom>
          <a:solidFill>
            <a:srgbClr val="173D1C"/>
          </a:solidFill>
          <a:ln/>
        </p:spPr>
      </p:sp>
      <p:sp>
        <p:nvSpPr>
          <p:cNvPr id="23" name="Text 21"/>
          <p:cNvSpPr/>
          <p:nvPr/>
        </p:nvSpPr>
        <p:spPr>
          <a:xfrm>
            <a:off x="868680" y="5806440"/>
            <a:ext cx="10454335" cy="502920"/>
          </a:xfrm>
          <a:prstGeom prst="rect">
            <a:avLst/>
          </a:prstGeom>
          <a:noFill/>
          <a:ln/>
        </p:spPr>
        <p:txBody>
          <a:bodyPr wrap="square" rtlCol="0" anchor="ctr"/>
          <a:lstStyle/>
          <a:p>
            <a:pPr indent="0" marL="0">
              <a:buNone/>
            </a:pPr>
            <a:r>
              <a:rPr lang="en-US" sz="1250" b="1" dirty="0">
                <a:solidFill>
                  <a:srgbClr val="97BC62"/>
                </a:solidFill>
                <a:latin typeface="Calibri" pitchFamily="34" charset="0"/>
                <a:ea typeface="Calibri" pitchFamily="34" charset="-122"/>
                <a:cs typeface="Calibri" pitchFamily="34" charset="-120"/>
              </a:rPr>
              <a:t>Deployed:  </a:t>
            </a:r>
            <a:pPr indent="0" marL="0">
              <a:buNone/>
            </a:pPr>
            <a:r>
              <a:rPr lang="en-US" sz="1250" dirty="0">
                <a:solidFill>
                  <a:srgbClr val="FFFFFF"/>
                </a:solidFill>
                <a:latin typeface="Calibri" pitchFamily="34" charset="0"/>
                <a:ea typeface="Calibri" pitchFamily="34" charset="-122"/>
                <a:cs typeface="Calibri" pitchFamily="34" charset="-120"/>
              </a:rPr>
              <a:t>FastAPI + Gunicorn on a cloud host over HTTPS  ·  app 'kahawa-smart-api' (Fly.io, Johannesburg region — nearest to Kenya)</a:t>
            </a:r>
            <a:endParaRPr lang="en-US" sz="1250" dirty="0"/>
          </a:p>
        </p:txBody>
      </p:sp>
      <p:sp>
        <p:nvSpPr>
          <p:cNvPr id="24" name="Text 22"/>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25" name="Text 23"/>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TESTING &amp; EVALUATION</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Does it work — and is it useful?</a:t>
            </a:r>
            <a:endParaRPr lang="en-US" sz="3000" dirty="0"/>
          </a:p>
        </p:txBody>
      </p:sp>
      <p:sp>
        <p:nvSpPr>
          <p:cNvPr id="4" name="Text 2"/>
          <p:cNvSpPr/>
          <p:nvPr/>
        </p:nvSpPr>
        <p:spPr>
          <a:xfrm>
            <a:off x="640080" y="1737360"/>
            <a:ext cx="5303520" cy="365760"/>
          </a:xfrm>
          <a:prstGeom prst="rect">
            <a:avLst/>
          </a:prstGeom>
          <a:noFill/>
          <a:ln/>
        </p:spPr>
        <p:txBody>
          <a:bodyPr wrap="square" rtlCol="0" anchor="ctr"/>
          <a:lstStyle/>
          <a:p>
            <a:pPr indent="0" marL="0">
              <a:buNone/>
            </a:pPr>
            <a:r>
              <a:rPr lang="en-US" sz="1600" b="1" dirty="0">
                <a:solidFill>
                  <a:srgbClr val="6F4E37"/>
                </a:solidFill>
                <a:latin typeface="Cambria" pitchFamily="34" charset="0"/>
                <a:ea typeface="Cambria" pitchFamily="34" charset="-122"/>
                <a:cs typeface="Cambria" pitchFamily="34" charset="-120"/>
              </a:rPr>
              <a:t>Testing — does it work correctly?</a:t>
            </a:r>
            <a:endParaRPr lang="en-US" sz="1600" dirty="0"/>
          </a:p>
        </p:txBody>
      </p:sp>
      <p:sp>
        <p:nvSpPr>
          <p:cNvPr id="5" name="Shape 3"/>
          <p:cNvSpPr/>
          <p:nvPr/>
        </p:nvSpPr>
        <p:spPr>
          <a:xfrm>
            <a:off x="640080" y="2194560"/>
            <a:ext cx="5257800" cy="777240"/>
          </a:xfrm>
          <a:prstGeom prst="roundRect">
            <a:avLst>
              <a:gd name="adj" fmla="val 10588"/>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6" name="Shape 4"/>
          <p:cNvSpPr/>
          <p:nvPr/>
        </p:nvSpPr>
        <p:spPr>
          <a:xfrm>
            <a:off x="804672" y="2331720"/>
            <a:ext cx="502920" cy="502920"/>
          </a:xfrm>
          <a:prstGeom prst="ellipse">
            <a:avLst/>
          </a:prstGeom>
          <a:solidFill>
            <a:srgbClr val="2C5F2D"/>
          </a:solidFill>
          <a:ln/>
        </p:spPr>
      </p:sp>
      <p:sp>
        <p:nvSpPr>
          <p:cNvPr id="7" name="Text 5"/>
          <p:cNvSpPr/>
          <p:nvPr/>
        </p:nvSpPr>
        <p:spPr>
          <a:xfrm>
            <a:off x="804672" y="233172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463040" y="2194560"/>
            <a:ext cx="4297680" cy="777240"/>
          </a:xfrm>
          <a:prstGeom prst="rect">
            <a:avLst/>
          </a:prstGeom>
          <a:noFill/>
          <a:ln/>
        </p:spPr>
        <p:txBody>
          <a:bodyPr wrap="square" rtlCol="0" anchor="ctr"/>
          <a:lstStyle/>
          <a:p>
            <a:pPr indent="0" marL="0">
              <a:buNone/>
            </a:pPr>
            <a:r>
              <a:rPr lang="en-US" sz="1300" b="1" dirty="0">
                <a:solidFill>
                  <a:srgbClr val="173D1C"/>
                </a:solidFill>
                <a:latin typeface="Calibri" pitchFamily="34" charset="0"/>
                <a:ea typeface="Calibri" pitchFamily="34" charset="-122"/>
                <a:cs typeface="Calibri" pitchFamily="34" charset="-120"/>
              </a:rPr>
              <a:t>Unit — </a:t>
            </a:r>
            <a:pPr indent="0" marL="0">
              <a:buNone/>
            </a:pPr>
            <a:r>
              <a:rPr lang="en-US" sz="1300" dirty="0">
                <a:solidFill>
                  <a:srgbClr val="24261F"/>
                </a:solidFill>
                <a:latin typeface="Calibri" pitchFamily="34" charset="0"/>
                <a:ea typeface="Calibri" pitchFamily="34" charset="-122"/>
                <a:cs typeface="Calibri" pitchFamily="34" charset="-120"/>
              </a:rPr>
              <a:t>individual functions</a:t>
            </a:r>
            <a:endParaRPr lang="en-US" sz="1300" dirty="0"/>
          </a:p>
        </p:txBody>
      </p:sp>
      <p:sp>
        <p:nvSpPr>
          <p:cNvPr id="9" name="Shape 7"/>
          <p:cNvSpPr/>
          <p:nvPr/>
        </p:nvSpPr>
        <p:spPr>
          <a:xfrm>
            <a:off x="640080" y="3090672"/>
            <a:ext cx="5257800" cy="777240"/>
          </a:xfrm>
          <a:prstGeom prst="roundRect">
            <a:avLst>
              <a:gd name="adj" fmla="val 10588"/>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0" name="Shape 8"/>
          <p:cNvSpPr/>
          <p:nvPr/>
        </p:nvSpPr>
        <p:spPr>
          <a:xfrm>
            <a:off x="804672" y="3227832"/>
            <a:ext cx="502920" cy="502920"/>
          </a:xfrm>
          <a:prstGeom prst="ellipse">
            <a:avLst/>
          </a:prstGeom>
          <a:solidFill>
            <a:srgbClr val="6F4E37"/>
          </a:solidFill>
          <a:ln/>
        </p:spPr>
      </p:sp>
      <p:sp>
        <p:nvSpPr>
          <p:cNvPr id="11" name="Text 9"/>
          <p:cNvSpPr/>
          <p:nvPr/>
        </p:nvSpPr>
        <p:spPr>
          <a:xfrm>
            <a:off x="804672" y="3227832"/>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463040" y="3090672"/>
            <a:ext cx="4297680" cy="777240"/>
          </a:xfrm>
          <a:prstGeom prst="rect">
            <a:avLst/>
          </a:prstGeom>
          <a:noFill/>
          <a:ln/>
        </p:spPr>
        <p:txBody>
          <a:bodyPr wrap="square" rtlCol="0" anchor="ctr"/>
          <a:lstStyle/>
          <a:p>
            <a:pPr indent="0" marL="0">
              <a:buNone/>
            </a:pPr>
            <a:r>
              <a:rPr lang="en-US" sz="1300" b="1" dirty="0">
                <a:solidFill>
                  <a:srgbClr val="173D1C"/>
                </a:solidFill>
                <a:latin typeface="Calibri" pitchFamily="34" charset="0"/>
                <a:ea typeface="Calibri" pitchFamily="34" charset="-122"/>
                <a:cs typeface="Calibri" pitchFamily="34" charset="-120"/>
              </a:rPr>
              <a:t>Integration — </a:t>
            </a:r>
            <a:pPr indent="0" marL="0">
              <a:buNone/>
            </a:pPr>
            <a:r>
              <a:rPr lang="en-US" sz="1300" dirty="0">
                <a:solidFill>
                  <a:srgbClr val="24261F"/>
                </a:solidFill>
                <a:latin typeface="Calibri" pitchFamily="34" charset="0"/>
                <a:ea typeface="Calibri" pitchFamily="34" charset="-122"/>
                <a:cs typeface="Calibri" pitchFamily="34" charset="-120"/>
              </a:rPr>
              <a:t>modules together</a:t>
            </a:r>
            <a:endParaRPr lang="en-US" sz="1300" dirty="0"/>
          </a:p>
        </p:txBody>
      </p:sp>
      <p:sp>
        <p:nvSpPr>
          <p:cNvPr id="13" name="Shape 11"/>
          <p:cNvSpPr/>
          <p:nvPr/>
        </p:nvSpPr>
        <p:spPr>
          <a:xfrm>
            <a:off x="640080" y="3986784"/>
            <a:ext cx="5257800" cy="777240"/>
          </a:xfrm>
          <a:prstGeom prst="roundRect">
            <a:avLst>
              <a:gd name="adj" fmla="val 10588"/>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4" name="Shape 12"/>
          <p:cNvSpPr/>
          <p:nvPr/>
        </p:nvSpPr>
        <p:spPr>
          <a:xfrm>
            <a:off x="804672" y="4123944"/>
            <a:ext cx="502920" cy="502920"/>
          </a:xfrm>
          <a:prstGeom prst="ellipse">
            <a:avLst/>
          </a:prstGeom>
          <a:solidFill>
            <a:srgbClr val="2C5F2D"/>
          </a:solidFill>
          <a:ln/>
        </p:spPr>
      </p:sp>
      <p:sp>
        <p:nvSpPr>
          <p:cNvPr id="15" name="Text 13"/>
          <p:cNvSpPr/>
          <p:nvPr/>
        </p:nvSpPr>
        <p:spPr>
          <a:xfrm>
            <a:off x="804672" y="4123944"/>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463040" y="3986784"/>
            <a:ext cx="4297680" cy="777240"/>
          </a:xfrm>
          <a:prstGeom prst="rect">
            <a:avLst/>
          </a:prstGeom>
          <a:noFill/>
          <a:ln/>
        </p:spPr>
        <p:txBody>
          <a:bodyPr wrap="square" rtlCol="0" anchor="ctr"/>
          <a:lstStyle/>
          <a:p>
            <a:pPr indent="0" marL="0">
              <a:buNone/>
            </a:pPr>
            <a:r>
              <a:rPr lang="en-US" sz="1300" b="1" dirty="0">
                <a:solidFill>
                  <a:srgbClr val="173D1C"/>
                </a:solidFill>
                <a:latin typeface="Calibri" pitchFamily="34" charset="0"/>
                <a:ea typeface="Calibri" pitchFamily="34" charset="-122"/>
                <a:cs typeface="Calibri" pitchFamily="34" charset="-120"/>
              </a:rPr>
              <a:t>System — </a:t>
            </a:r>
            <a:pPr indent="0" marL="0">
              <a:buNone/>
            </a:pPr>
            <a:r>
              <a:rPr lang="en-US" sz="1300" dirty="0">
                <a:solidFill>
                  <a:srgbClr val="24261F"/>
                </a:solidFill>
                <a:latin typeface="Calibri" pitchFamily="34" charset="0"/>
                <a:ea typeface="Calibri" pitchFamily="34" charset="-122"/>
                <a:cs typeface="Calibri" pitchFamily="34" charset="-120"/>
              </a:rPr>
              <a:t>end-to-end flow</a:t>
            </a:r>
            <a:endParaRPr lang="en-US" sz="1300" dirty="0"/>
          </a:p>
        </p:txBody>
      </p:sp>
      <p:sp>
        <p:nvSpPr>
          <p:cNvPr id="17" name="Shape 15"/>
          <p:cNvSpPr/>
          <p:nvPr/>
        </p:nvSpPr>
        <p:spPr>
          <a:xfrm>
            <a:off x="640080" y="4882896"/>
            <a:ext cx="5257800" cy="777240"/>
          </a:xfrm>
          <a:prstGeom prst="roundRect">
            <a:avLst>
              <a:gd name="adj" fmla="val 10588"/>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8" name="Shape 16"/>
          <p:cNvSpPr/>
          <p:nvPr/>
        </p:nvSpPr>
        <p:spPr>
          <a:xfrm>
            <a:off x="804672" y="5020056"/>
            <a:ext cx="502920" cy="502920"/>
          </a:xfrm>
          <a:prstGeom prst="ellipse">
            <a:avLst/>
          </a:prstGeom>
          <a:solidFill>
            <a:srgbClr val="6F4E37"/>
          </a:solidFill>
          <a:ln/>
        </p:spPr>
      </p:sp>
      <p:sp>
        <p:nvSpPr>
          <p:cNvPr id="19" name="Text 17"/>
          <p:cNvSpPr/>
          <p:nvPr/>
        </p:nvSpPr>
        <p:spPr>
          <a:xfrm>
            <a:off x="804672" y="5020056"/>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8"/>
          <p:cNvSpPr/>
          <p:nvPr/>
        </p:nvSpPr>
        <p:spPr>
          <a:xfrm>
            <a:off x="1463040" y="4882896"/>
            <a:ext cx="4297680" cy="777240"/>
          </a:xfrm>
          <a:prstGeom prst="rect">
            <a:avLst/>
          </a:prstGeom>
          <a:noFill/>
          <a:ln/>
        </p:spPr>
        <p:txBody>
          <a:bodyPr wrap="square" rtlCol="0" anchor="ctr"/>
          <a:lstStyle/>
          <a:p>
            <a:pPr indent="0" marL="0">
              <a:buNone/>
            </a:pPr>
            <a:r>
              <a:rPr lang="en-US" sz="1300" b="1" dirty="0">
                <a:solidFill>
                  <a:srgbClr val="173D1C"/>
                </a:solidFill>
                <a:latin typeface="Calibri" pitchFamily="34" charset="0"/>
                <a:ea typeface="Calibri" pitchFamily="34" charset="-122"/>
                <a:cs typeface="Calibri" pitchFamily="34" charset="-120"/>
              </a:rPr>
              <a:t>User acceptance — </a:t>
            </a:r>
            <a:pPr indent="0" marL="0">
              <a:buNone/>
            </a:pPr>
            <a:r>
              <a:rPr lang="en-US" sz="1300" dirty="0">
                <a:solidFill>
                  <a:srgbClr val="24261F"/>
                </a:solidFill>
                <a:latin typeface="Calibri" pitchFamily="34" charset="0"/>
                <a:ea typeface="Calibri" pitchFamily="34" charset="-122"/>
                <a:cs typeface="Calibri" pitchFamily="34" charset="-120"/>
              </a:rPr>
              <a:t>15 real participants</a:t>
            </a:r>
            <a:endParaRPr lang="en-US" sz="1300" dirty="0"/>
          </a:p>
        </p:txBody>
      </p:sp>
      <p:sp>
        <p:nvSpPr>
          <p:cNvPr id="21" name="Text 19"/>
          <p:cNvSpPr/>
          <p:nvPr/>
        </p:nvSpPr>
        <p:spPr>
          <a:xfrm>
            <a:off x="6446520" y="1737360"/>
            <a:ext cx="5120640" cy="365760"/>
          </a:xfrm>
          <a:prstGeom prst="rect">
            <a:avLst/>
          </a:prstGeom>
          <a:noFill/>
          <a:ln/>
        </p:spPr>
        <p:txBody>
          <a:bodyPr wrap="square" rtlCol="0" anchor="ctr"/>
          <a:lstStyle/>
          <a:p>
            <a:pPr indent="0" marL="0">
              <a:buNone/>
            </a:pPr>
            <a:r>
              <a:rPr lang="en-US" sz="1600" b="1" dirty="0">
                <a:solidFill>
                  <a:srgbClr val="6F4E37"/>
                </a:solidFill>
                <a:latin typeface="Cambria" pitchFamily="34" charset="0"/>
                <a:ea typeface="Cambria" pitchFamily="34" charset="-122"/>
                <a:cs typeface="Cambria" pitchFamily="34" charset="-120"/>
              </a:rPr>
              <a:t>Evaluation — is it useful?</a:t>
            </a:r>
            <a:endParaRPr lang="en-US" sz="1600" dirty="0"/>
          </a:p>
        </p:txBody>
      </p:sp>
      <p:sp>
        <p:nvSpPr>
          <p:cNvPr id="22" name="Shape 20"/>
          <p:cNvSpPr/>
          <p:nvPr/>
        </p:nvSpPr>
        <p:spPr>
          <a:xfrm>
            <a:off x="6446520" y="2194560"/>
            <a:ext cx="5120640" cy="777240"/>
          </a:xfrm>
          <a:prstGeom prst="roundRect">
            <a:avLst>
              <a:gd name="adj" fmla="val 10588"/>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3" name="Text 21"/>
          <p:cNvSpPr/>
          <p:nvPr/>
        </p:nvSpPr>
        <p:spPr>
          <a:xfrm>
            <a:off x="6629400" y="2286000"/>
            <a:ext cx="1828800" cy="594360"/>
          </a:xfrm>
          <a:prstGeom prst="rect">
            <a:avLst/>
          </a:prstGeom>
          <a:noFill/>
          <a:ln/>
        </p:spPr>
        <p:txBody>
          <a:bodyPr wrap="square" rtlCol="0" anchor="ctr"/>
          <a:lstStyle/>
          <a:p>
            <a:pPr indent="0" marL="0">
              <a:buNone/>
            </a:pPr>
            <a:r>
              <a:rPr lang="en-US" sz="1350" b="1" dirty="0">
                <a:solidFill>
                  <a:srgbClr val="B85C2E"/>
                </a:solidFill>
                <a:latin typeface="Cambria" pitchFamily="34" charset="0"/>
                <a:ea typeface="Cambria" pitchFamily="34" charset="-122"/>
                <a:cs typeface="Cambria" pitchFamily="34" charset="-120"/>
              </a:rPr>
              <a:t>Technical</a:t>
            </a:r>
            <a:endParaRPr lang="en-US" sz="1350" dirty="0"/>
          </a:p>
        </p:txBody>
      </p:sp>
      <p:sp>
        <p:nvSpPr>
          <p:cNvPr id="24" name="Text 22"/>
          <p:cNvSpPr/>
          <p:nvPr/>
        </p:nvSpPr>
        <p:spPr>
          <a:xfrm>
            <a:off x="8366760" y="2286000"/>
            <a:ext cx="3063240" cy="594360"/>
          </a:xfrm>
          <a:prstGeom prst="rect">
            <a:avLst/>
          </a:prstGeom>
          <a:noFill/>
          <a:ln/>
        </p:spPr>
        <p:txBody>
          <a:bodyPr wrap="square" rtlCol="0" anchor="ctr"/>
          <a:lstStyle/>
          <a:p>
            <a:pPr indent="0" marL="0">
              <a:buNone/>
            </a:pPr>
            <a:r>
              <a:rPr lang="en-US" sz="1100" dirty="0">
                <a:solidFill>
                  <a:srgbClr val="24261F"/>
                </a:solidFill>
                <a:latin typeface="Calibri" pitchFamily="34" charset="0"/>
                <a:ea typeface="Calibri" pitchFamily="34" charset="-122"/>
                <a:cs typeface="Calibri" pitchFamily="34" charset="-120"/>
              </a:rPr>
              <a:t>Accuracy, precision, recall, F1, confusion matrix, latency</a:t>
            </a:r>
            <a:endParaRPr lang="en-US" sz="1100" dirty="0"/>
          </a:p>
        </p:txBody>
      </p:sp>
      <p:sp>
        <p:nvSpPr>
          <p:cNvPr id="25" name="Shape 23"/>
          <p:cNvSpPr/>
          <p:nvPr/>
        </p:nvSpPr>
        <p:spPr>
          <a:xfrm>
            <a:off x="6446520" y="3090672"/>
            <a:ext cx="5120640" cy="777240"/>
          </a:xfrm>
          <a:prstGeom prst="roundRect">
            <a:avLst>
              <a:gd name="adj" fmla="val 10588"/>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6" name="Text 24"/>
          <p:cNvSpPr/>
          <p:nvPr/>
        </p:nvSpPr>
        <p:spPr>
          <a:xfrm>
            <a:off x="6629400" y="3182112"/>
            <a:ext cx="1828800" cy="594360"/>
          </a:xfrm>
          <a:prstGeom prst="rect">
            <a:avLst/>
          </a:prstGeom>
          <a:noFill/>
          <a:ln/>
        </p:spPr>
        <p:txBody>
          <a:bodyPr wrap="square" rtlCol="0" anchor="ctr"/>
          <a:lstStyle/>
          <a:p>
            <a:pPr indent="0" marL="0">
              <a:buNone/>
            </a:pPr>
            <a:r>
              <a:rPr lang="en-US" sz="1350" b="1" dirty="0">
                <a:solidFill>
                  <a:srgbClr val="B85C2E"/>
                </a:solidFill>
                <a:latin typeface="Cambria" pitchFamily="34" charset="0"/>
                <a:ea typeface="Cambria" pitchFamily="34" charset="-122"/>
                <a:cs typeface="Cambria" pitchFamily="34" charset="-120"/>
              </a:rPr>
              <a:t>Usability</a:t>
            </a:r>
            <a:endParaRPr lang="en-US" sz="1350" dirty="0"/>
          </a:p>
        </p:txBody>
      </p:sp>
      <p:sp>
        <p:nvSpPr>
          <p:cNvPr id="27" name="Text 25"/>
          <p:cNvSpPr/>
          <p:nvPr/>
        </p:nvSpPr>
        <p:spPr>
          <a:xfrm>
            <a:off x="8366760" y="3182112"/>
            <a:ext cx="3063240" cy="594360"/>
          </a:xfrm>
          <a:prstGeom prst="rect">
            <a:avLst/>
          </a:prstGeom>
          <a:noFill/>
          <a:ln/>
        </p:spPr>
        <p:txBody>
          <a:bodyPr wrap="square" rtlCol="0" anchor="ctr"/>
          <a:lstStyle/>
          <a:p>
            <a:pPr indent="0" marL="0">
              <a:buNone/>
            </a:pPr>
            <a:r>
              <a:rPr lang="en-US" sz="1100" dirty="0">
                <a:solidFill>
                  <a:srgbClr val="24261F"/>
                </a:solidFill>
                <a:latin typeface="Calibri" pitchFamily="34" charset="0"/>
                <a:ea typeface="Calibri" pitchFamily="34" charset="-122"/>
                <a:cs typeface="Calibri" pitchFamily="34" charset="-120"/>
              </a:rPr>
              <a:t>System Usability Scale + time-on-task observation</a:t>
            </a:r>
            <a:endParaRPr lang="en-US" sz="1100" dirty="0"/>
          </a:p>
        </p:txBody>
      </p:sp>
      <p:sp>
        <p:nvSpPr>
          <p:cNvPr id="28" name="Shape 26"/>
          <p:cNvSpPr/>
          <p:nvPr/>
        </p:nvSpPr>
        <p:spPr>
          <a:xfrm>
            <a:off x="6446520" y="3986784"/>
            <a:ext cx="5120640" cy="777240"/>
          </a:xfrm>
          <a:prstGeom prst="roundRect">
            <a:avLst>
              <a:gd name="adj" fmla="val 10588"/>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9" name="Text 27"/>
          <p:cNvSpPr/>
          <p:nvPr/>
        </p:nvSpPr>
        <p:spPr>
          <a:xfrm>
            <a:off x="6629400" y="4078224"/>
            <a:ext cx="1828800" cy="594360"/>
          </a:xfrm>
          <a:prstGeom prst="rect">
            <a:avLst/>
          </a:prstGeom>
          <a:noFill/>
          <a:ln/>
        </p:spPr>
        <p:txBody>
          <a:bodyPr wrap="square" rtlCol="0" anchor="ctr"/>
          <a:lstStyle/>
          <a:p>
            <a:pPr indent="0" marL="0">
              <a:buNone/>
            </a:pPr>
            <a:r>
              <a:rPr lang="en-US" sz="1350" b="1" dirty="0">
                <a:solidFill>
                  <a:srgbClr val="B85C2E"/>
                </a:solidFill>
                <a:latin typeface="Cambria" pitchFamily="34" charset="0"/>
                <a:ea typeface="Cambria" pitchFamily="34" charset="-122"/>
                <a:cs typeface="Cambria" pitchFamily="34" charset="-120"/>
              </a:rPr>
              <a:t>Contextual</a:t>
            </a:r>
            <a:endParaRPr lang="en-US" sz="1350" dirty="0"/>
          </a:p>
        </p:txBody>
      </p:sp>
      <p:sp>
        <p:nvSpPr>
          <p:cNvPr id="30" name="Text 28"/>
          <p:cNvSpPr/>
          <p:nvPr/>
        </p:nvSpPr>
        <p:spPr>
          <a:xfrm>
            <a:off x="8366760" y="4078224"/>
            <a:ext cx="3063240" cy="594360"/>
          </a:xfrm>
          <a:prstGeom prst="rect">
            <a:avLst/>
          </a:prstGeom>
          <a:noFill/>
          <a:ln/>
        </p:spPr>
        <p:txBody>
          <a:bodyPr wrap="square" rtlCol="0" anchor="ctr"/>
          <a:lstStyle/>
          <a:p>
            <a:pPr indent="0" marL="0">
              <a:buNone/>
            </a:pPr>
            <a:r>
              <a:rPr lang="en-US" sz="1100" dirty="0">
                <a:solidFill>
                  <a:srgbClr val="24261F"/>
                </a:solidFill>
                <a:latin typeface="Calibri" pitchFamily="34" charset="0"/>
                <a:ea typeface="Calibri" pitchFamily="34" charset="-122"/>
                <a:cs typeface="Calibri" pitchFamily="34" charset="-120"/>
              </a:rPr>
              <a:t>Task completion, willingness to use, data per session</a:t>
            </a:r>
            <a:endParaRPr lang="en-US" sz="1100" dirty="0"/>
          </a:p>
        </p:txBody>
      </p:sp>
      <p:sp>
        <p:nvSpPr>
          <p:cNvPr id="31" name="Shape 29"/>
          <p:cNvSpPr/>
          <p:nvPr/>
        </p:nvSpPr>
        <p:spPr>
          <a:xfrm>
            <a:off x="6446520" y="4882896"/>
            <a:ext cx="5120640" cy="777240"/>
          </a:xfrm>
          <a:prstGeom prst="roundRect">
            <a:avLst>
              <a:gd name="adj" fmla="val 10588"/>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32" name="Text 30"/>
          <p:cNvSpPr/>
          <p:nvPr/>
        </p:nvSpPr>
        <p:spPr>
          <a:xfrm>
            <a:off x="6629400" y="4974336"/>
            <a:ext cx="1828800" cy="594360"/>
          </a:xfrm>
          <a:prstGeom prst="rect">
            <a:avLst/>
          </a:prstGeom>
          <a:noFill/>
          <a:ln/>
        </p:spPr>
        <p:txBody>
          <a:bodyPr wrap="square" rtlCol="0" anchor="ctr"/>
          <a:lstStyle/>
          <a:p>
            <a:pPr indent="0" marL="0">
              <a:buNone/>
            </a:pPr>
            <a:r>
              <a:rPr lang="en-US" sz="1350" b="1" dirty="0">
                <a:solidFill>
                  <a:srgbClr val="B85C2E"/>
                </a:solidFill>
                <a:latin typeface="Cambria" pitchFamily="34" charset="0"/>
                <a:ea typeface="Cambria" pitchFamily="34" charset="-122"/>
                <a:cs typeface="Cambria" pitchFamily="34" charset="-120"/>
              </a:rPr>
              <a:t>Outcome</a:t>
            </a:r>
            <a:endParaRPr lang="en-US" sz="1350" dirty="0"/>
          </a:p>
        </p:txBody>
      </p:sp>
      <p:sp>
        <p:nvSpPr>
          <p:cNvPr id="33" name="Text 31"/>
          <p:cNvSpPr/>
          <p:nvPr/>
        </p:nvSpPr>
        <p:spPr>
          <a:xfrm>
            <a:off x="8366760" y="4974336"/>
            <a:ext cx="3063240" cy="594360"/>
          </a:xfrm>
          <a:prstGeom prst="rect">
            <a:avLst/>
          </a:prstGeom>
          <a:noFill/>
          <a:ln/>
        </p:spPr>
        <p:txBody>
          <a:bodyPr wrap="square" rtlCol="0" anchor="ctr"/>
          <a:lstStyle/>
          <a:p>
            <a:pPr indent="0" marL="0">
              <a:buNone/>
            </a:pPr>
            <a:r>
              <a:rPr lang="en-US" sz="1100" dirty="0">
                <a:solidFill>
                  <a:srgbClr val="24261F"/>
                </a:solidFill>
                <a:latin typeface="Calibri" pitchFamily="34" charset="0"/>
                <a:ea typeface="Calibri" pitchFamily="34" charset="-122"/>
                <a:cs typeface="Calibri" pitchFamily="34" charset="-120"/>
              </a:rPr>
              <a:t>6-week follow-up: real rust incidents detected &amp; acted on</a:t>
            </a:r>
            <a:endParaRPr lang="en-US" sz="1100" dirty="0"/>
          </a:p>
        </p:txBody>
      </p:sp>
      <p:sp>
        <p:nvSpPr>
          <p:cNvPr id="34" name="Text 32"/>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35" name="Text 33"/>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Measured against the acceptance criteria</a:t>
            </a:r>
            <a:endParaRPr lang="en-US" sz="3000" dirty="0"/>
          </a:p>
        </p:txBody>
      </p:sp>
      <p:sp>
        <p:nvSpPr>
          <p:cNvPr id="4" name="Text 2"/>
          <p:cNvSpPr/>
          <p:nvPr/>
        </p:nvSpPr>
        <p:spPr>
          <a:xfrm>
            <a:off x="640080" y="1645920"/>
            <a:ext cx="10911535" cy="320040"/>
          </a:xfrm>
          <a:prstGeom prst="rect">
            <a:avLst/>
          </a:prstGeom>
          <a:noFill/>
          <a:ln/>
        </p:spPr>
        <p:txBody>
          <a:bodyPr wrap="square" rtlCol="0" anchor="ctr"/>
          <a:lstStyle/>
          <a:p>
            <a:pPr indent="0" marL="0">
              <a:buNone/>
            </a:pPr>
            <a:r>
              <a:rPr lang="en-US" sz="1200" i="1" dirty="0">
                <a:solidFill>
                  <a:srgbClr val="B85C2E"/>
                </a:solidFill>
                <a:latin typeface="Calibri" pitchFamily="34" charset="0"/>
                <a:ea typeface="Calibri" pitchFamily="34" charset="-122"/>
                <a:cs typeface="Calibri" pitchFamily="34" charset="-120"/>
              </a:rPr>
              <a:t>Blanks below are for my final measured figures — inserted before the defense.</a:t>
            </a:r>
            <a:endParaRPr lang="en-US" sz="1200" dirty="0"/>
          </a:p>
        </p:txBody>
      </p:sp>
      <p:sp>
        <p:nvSpPr>
          <p:cNvPr id="5" name="Shape 3"/>
          <p:cNvSpPr/>
          <p:nvPr/>
        </p:nvSpPr>
        <p:spPr>
          <a:xfrm>
            <a:off x="640080" y="2148840"/>
            <a:ext cx="2606040" cy="2286000"/>
          </a:xfrm>
          <a:prstGeom prst="roundRect">
            <a:avLst>
              <a:gd name="adj" fmla="val 3600"/>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6" name="Text 4"/>
          <p:cNvSpPr/>
          <p:nvPr/>
        </p:nvSpPr>
        <p:spPr>
          <a:xfrm>
            <a:off x="731520" y="2468880"/>
            <a:ext cx="2423160" cy="822960"/>
          </a:xfrm>
          <a:prstGeom prst="rect">
            <a:avLst/>
          </a:prstGeom>
          <a:noFill/>
          <a:ln/>
        </p:spPr>
        <p:txBody>
          <a:bodyPr wrap="square" rtlCol="0" anchor="ctr"/>
          <a:lstStyle/>
          <a:p>
            <a:pPr algn="ctr" indent="0" marL="0">
              <a:buNone/>
            </a:pPr>
            <a:r>
              <a:rPr lang="en-US" sz="3400" b="1" dirty="0">
                <a:solidFill>
                  <a:srgbClr val="B85C2E"/>
                </a:solidFill>
                <a:latin typeface="Cambria" pitchFamily="34" charset="0"/>
                <a:ea typeface="Cambria" pitchFamily="34" charset="-122"/>
                <a:cs typeface="Cambria" pitchFamily="34" charset="-120"/>
              </a:rPr>
              <a:t>____ %</a:t>
            </a:r>
            <a:endParaRPr lang="en-US" sz="3400" dirty="0"/>
          </a:p>
        </p:txBody>
      </p:sp>
      <p:sp>
        <p:nvSpPr>
          <p:cNvPr id="7" name="Text 5"/>
          <p:cNvSpPr/>
          <p:nvPr/>
        </p:nvSpPr>
        <p:spPr>
          <a:xfrm>
            <a:off x="777240" y="3383280"/>
            <a:ext cx="2331720" cy="457200"/>
          </a:xfrm>
          <a:prstGeom prst="rect">
            <a:avLst/>
          </a:prstGeom>
          <a:noFill/>
          <a:ln/>
        </p:spPr>
        <p:txBody>
          <a:bodyPr wrap="square" rtlCol="0" anchor="ctr"/>
          <a:lstStyle/>
          <a:p>
            <a:pPr algn="ctr" indent="0" marL="0">
              <a:buNone/>
            </a:pPr>
            <a:r>
              <a:rPr lang="en-US" sz="1350" b="1" dirty="0">
                <a:solidFill>
                  <a:srgbClr val="173D1C"/>
                </a:solidFill>
                <a:latin typeface="Cambria" pitchFamily="34" charset="0"/>
                <a:ea typeface="Cambria" pitchFamily="34" charset="-122"/>
                <a:cs typeface="Cambria" pitchFamily="34" charset="-120"/>
              </a:rPr>
              <a:t>Classification accuracy</a:t>
            </a:r>
            <a:endParaRPr lang="en-US" sz="1350" dirty="0"/>
          </a:p>
        </p:txBody>
      </p:sp>
      <p:sp>
        <p:nvSpPr>
          <p:cNvPr id="8" name="Text 6"/>
          <p:cNvSpPr/>
          <p:nvPr/>
        </p:nvSpPr>
        <p:spPr>
          <a:xfrm>
            <a:off x="777240" y="3840480"/>
            <a:ext cx="2331720" cy="502920"/>
          </a:xfrm>
          <a:prstGeom prst="rect">
            <a:avLst/>
          </a:prstGeom>
          <a:noFill/>
          <a:ln/>
        </p:spPr>
        <p:txBody>
          <a:bodyPr wrap="square" rtlCol="0" anchor="ctr"/>
          <a:lstStyle/>
          <a:p>
            <a:pPr algn="ctr" indent="0" marL="0">
              <a:buNone/>
            </a:pPr>
            <a:r>
              <a:rPr lang="en-US" sz="1050" dirty="0">
                <a:solidFill>
                  <a:srgbClr val="6E6E66"/>
                </a:solidFill>
                <a:latin typeface="Calibri" pitchFamily="34" charset="0"/>
                <a:ea typeface="Calibri" pitchFamily="34" charset="-122"/>
                <a:cs typeface="Calibri" pitchFamily="34" charset="-120"/>
              </a:rPr>
              <a:t>Target ≥ 90% on held-out JMuBEN test set</a:t>
            </a:r>
            <a:endParaRPr lang="en-US" sz="1050" dirty="0"/>
          </a:p>
        </p:txBody>
      </p:sp>
      <p:sp>
        <p:nvSpPr>
          <p:cNvPr id="9" name="Shape 7"/>
          <p:cNvSpPr/>
          <p:nvPr/>
        </p:nvSpPr>
        <p:spPr>
          <a:xfrm>
            <a:off x="3502152" y="2148840"/>
            <a:ext cx="2606040" cy="2286000"/>
          </a:xfrm>
          <a:prstGeom prst="roundRect">
            <a:avLst>
              <a:gd name="adj" fmla="val 360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0" name="Text 8"/>
          <p:cNvSpPr/>
          <p:nvPr/>
        </p:nvSpPr>
        <p:spPr>
          <a:xfrm>
            <a:off x="3593592" y="2468880"/>
            <a:ext cx="2423160" cy="822960"/>
          </a:xfrm>
          <a:prstGeom prst="rect">
            <a:avLst/>
          </a:prstGeom>
          <a:noFill/>
          <a:ln/>
        </p:spPr>
        <p:txBody>
          <a:bodyPr wrap="square" rtlCol="0" anchor="ctr"/>
          <a:lstStyle/>
          <a:p>
            <a:pPr algn="ctr" indent="0" marL="0">
              <a:buNone/>
            </a:pPr>
            <a:r>
              <a:rPr lang="en-US" sz="3400" b="1" dirty="0">
                <a:solidFill>
                  <a:srgbClr val="B85C2E"/>
                </a:solidFill>
                <a:latin typeface="Cambria" pitchFamily="34" charset="0"/>
                <a:ea typeface="Cambria" pitchFamily="34" charset="-122"/>
                <a:cs typeface="Cambria" pitchFamily="34" charset="-120"/>
              </a:rPr>
              <a:t>____ %</a:t>
            </a:r>
            <a:endParaRPr lang="en-US" sz="3400" dirty="0"/>
          </a:p>
        </p:txBody>
      </p:sp>
      <p:sp>
        <p:nvSpPr>
          <p:cNvPr id="11" name="Text 9"/>
          <p:cNvSpPr/>
          <p:nvPr/>
        </p:nvSpPr>
        <p:spPr>
          <a:xfrm>
            <a:off x="3639312" y="3383280"/>
            <a:ext cx="2331720" cy="457200"/>
          </a:xfrm>
          <a:prstGeom prst="rect">
            <a:avLst/>
          </a:prstGeom>
          <a:noFill/>
          <a:ln/>
        </p:spPr>
        <p:txBody>
          <a:bodyPr wrap="square" rtlCol="0" anchor="ctr"/>
          <a:lstStyle/>
          <a:p>
            <a:pPr algn="ctr" indent="0" marL="0">
              <a:buNone/>
            </a:pPr>
            <a:r>
              <a:rPr lang="en-US" sz="1350" b="1" dirty="0">
                <a:solidFill>
                  <a:srgbClr val="173D1C"/>
                </a:solidFill>
                <a:latin typeface="Cambria" pitchFamily="34" charset="0"/>
                <a:ea typeface="Cambria" pitchFamily="34" charset="-122"/>
                <a:cs typeface="Cambria" pitchFamily="34" charset="-120"/>
              </a:rPr>
              <a:t>Rust-class recall</a:t>
            </a:r>
            <a:endParaRPr lang="en-US" sz="1350" dirty="0"/>
          </a:p>
        </p:txBody>
      </p:sp>
      <p:sp>
        <p:nvSpPr>
          <p:cNvPr id="12" name="Text 10"/>
          <p:cNvSpPr/>
          <p:nvPr/>
        </p:nvSpPr>
        <p:spPr>
          <a:xfrm>
            <a:off x="3639312" y="3840480"/>
            <a:ext cx="2331720" cy="502920"/>
          </a:xfrm>
          <a:prstGeom prst="rect">
            <a:avLst/>
          </a:prstGeom>
          <a:noFill/>
          <a:ln/>
        </p:spPr>
        <p:txBody>
          <a:bodyPr wrap="square" rtlCol="0" anchor="ctr"/>
          <a:lstStyle/>
          <a:p>
            <a:pPr algn="ctr" indent="0" marL="0">
              <a:buNone/>
            </a:pPr>
            <a:r>
              <a:rPr lang="en-US" sz="1050" dirty="0">
                <a:solidFill>
                  <a:srgbClr val="6E6E66"/>
                </a:solidFill>
                <a:latin typeface="Calibri" pitchFamily="34" charset="0"/>
                <a:ea typeface="Calibri" pitchFamily="34" charset="-122"/>
                <a:cs typeface="Calibri" pitchFamily="34" charset="-120"/>
              </a:rPr>
              <a:t>False negatives are the costliest error</a:t>
            </a:r>
            <a:endParaRPr lang="en-US" sz="1050" dirty="0"/>
          </a:p>
        </p:txBody>
      </p:sp>
      <p:sp>
        <p:nvSpPr>
          <p:cNvPr id="13" name="Shape 11"/>
          <p:cNvSpPr/>
          <p:nvPr/>
        </p:nvSpPr>
        <p:spPr>
          <a:xfrm>
            <a:off x="6364224" y="2148840"/>
            <a:ext cx="2606040" cy="2286000"/>
          </a:xfrm>
          <a:prstGeom prst="roundRect">
            <a:avLst>
              <a:gd name="adj" fmla="val 3600"/>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4" name="Text 12"/>
          <p:cNvSpPr/>
          <p:nvPr/>
        </p:nvSpPr>
        <p:spPr>
          <a:xfrm>
            <a:off x="6455664" y="2468880"/>
            <a:ext cx="2423160" cy="822960"/>
          </a:xfrm>
          <a:prstGeom prst="rect">
            <a:avLst/>
          </a:prstGeom>
          <a:noFill/>
          <a:ln/>
        </p:spPr>
        <p:txBody>
          <a:bodyPr wrap="square" rtlCol="0" anchor="ctr"/>
          <a:lstStyle/>
          <a:p>
            <a:pPr algn="ctr" indent="0" marL="0">
              <a:buNone/>
            </a:pPr>
            <a:r>
              <a:rPr lang="en-US" sz="3400" b="1" dirty="0">
                <a:solidFill>
                  <a:srgbClr val="B85C2E"/>
                </a:solidFill>
                <a:latin typeface="Cambria" pitchFamily="34" charset="0"/>
                <a:ea typeface="Cambria" pitchFamily="34" charset="-122"/>
                <a:cs typeface="Cambria" pitchFamily="34" charset="-120"/>
              </a:rPr>
              <a:t>____ s</a:t>
            </a:r>
            <a:endParaRPr lang="en-US" sz="3400" dirty="0"/>
          </a:p>
        </p:txBody>
      </p:sp>
      <p:sp>
        <p:nvSpPr>
          <p:cNvPr id="15" name="Text 13"/>
          <p:cNvSpPr/>
          <p:nvPr/>
        </p:nvSpPr>
        <p:spPr>
          <a:xfrm>
            <a:off x="6501384" y="3383280"/>
            <a:ext cx="2331720" cy="457200"/>
          </a:xfrm>
          <a:prstGeom prst="rect">
            <a:avLst/>
          </a:prstGeom>
          <a:noFill/>
          <a:ln/>
        </p:spPr>
        <p:txBody>
          <a:bodyPr wrap="square" rtlCol="0" anchor="ctr"/>
          <a:lstStyle/>
          <a:p>
            <a:pPr algn="ctr" indent="0" marL="0">
              <a:buNone/>
            </a:pPr>
            <a:r>
              <a:rPr lang="en-US" sz="1350" b="1" dirty="0">
                <a:solidFill>
                  <a:srgbClr val="173D1C"/>
                </a:solidFill>
                <a:latin typeface="Cambria" pitchFamily="34" charset="0"/>
                <a:ea typeface="Cambria" pitchFamily="34" charset="-122"/>
                <a:cs typeface="Cambria" pitchFamily="34" charset="-120"/>
              </a:rPr>
              <a:t>Response time (4G)</a:t>
            </a:r>
            <a:endParaRPr lang="en-US" sz="1350" dirty="0"/>
          </a:p>
        </p:txBody>
      </p:sp>
      <p:sp>
        <p:nvSpPr>
          <p:cNvPr id="16" name="Text 14"/>
          <p:cNvSpPr/>
          <p:nvPr/>
        </p:nvSpPr>
        <p:spPr>
          <a:xfrm>
            <a:off x="6501384" y="3840480"/>
            <a:ext cx="2331720" cy="502920"/>
          </a:xfrm>
          <a:prstGeom prst="rect">
            <a:avLst/>
          </a:prstGeom>
          <a:noFill/>
          <a:ln/>
        </p:spPr>
        <p:txBody>
          <a:bodyPr wrap="square" rtlCol="0" anchor="ctr"/>
          <a:lstStyle/>
          <a:p>
            <a:pPr algn="ctr" indent="0" marL="0">
              <a:buNone/>
            </a:pPr>
            <a:r>
              <a:rPr lang="en-US" sz="1050" dirty="0">
                <a:solidFill>
                  <a:srgbClr val="6E6E66"/>
                </a:solidFill>
                <a:latin typeface="Calibri" pitchFamily="34" charset="0"/>
                <a:ea typeface="Calibri" pitchFamily="34" charset="-122"/>
                <a:cs typeface="Calibri" pitchFamily="34" charset="-120"/>
              </a:rPr>
              <a:t>Target ≤ 5 s per image, end-to-end</a:t>
            </a:r>
            <a:endParaRPr lang="en-US" sz="1050" dirty="0"/>
          </a:p>
        </p:txBody>
      </p:sp>
      <p:sp>
        <p:nvSpPr>
          <p:cNvPr id="17" name="Shape 15"/>
          <p:cNvSpPr/>
          <p:nvPr/>
        </p:nvSpPr>
        <p:spPr>
          <a:xfrm>
            <a:off x="9226296" y="2148840"/>
            <a:ext cx="2606040" cy="2286000"/>
          </a:xfrm>
          <a:prstGeom prst="roundRect">
            <a:avLst>
              <a:gd name="adj" fmla="val 3600"/>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8" name="Text 16"/>
          <p:cNvSpPr/>
          <p:nvPr/>
        </p:nvSpPr>
        <p:spPr>
          <a:xfrm>
            <a:off x="9317736" y="2468880"/>
            <a:ext cx="2423160" cy="822960"/>
          </a:xfrm>
          <a:prstGeom prst="rect">
            <a:avLst/>
          </a:prstGeom>
          <a:noFill/>
          <a:ln/>
        </p:spPr>
        <p:txBody>
          <a:bodyPr wrap="square" rtlCol="0" anchor="ctr"/>
          <a:lstStyle/>
          <a:p>
            <a:pPr algn="ctr" indent="0" marL="0">
              <a:buNone/>
            </a:pPr>
            <a:r>
              <a:rPr lang="en-US" sz="3400" b="1" dirty="0">
                <a:solidFill>
                  <a:srgbClr val="2C5F2D"/>
                </a:solidFill>
                <a:latin typeface="Cambria" pitchFamily="34" charset="0"/>
                <a:ea typeface="Cambria" pitchFamily="34" charset="-122"/>
                <a:cs typeface="Cambria" pitchFamily="34" charset="-120"/>
              </a:rPr>
              <a:t>15</a:t>
            </a:r>
            <a:endParaRPr lang="en-US" sz="3400" dirty="0"/>
          </a:p>
        </p:txBody>
      </p:sp>
      <p:sp>
        <p:nvSpPr>
          <p:cNvPr id="19" name="Text 17"/>
          <p:cNvSpPr/>
          <p:nvPr/>
        </p:nvSpPr>
        <p:spPr>
          <a:xfrm>
            <a:off x="9363456" y="3383280"/>
            <a:ext cx="2331720" cy="457200"/>
          </a:xfrm>
          <a:prstGeom prst="rect">
            <a:avLst/>
          </a:prstGeom>
          <a:noFill/>
          <a:ln/>
        </p:spPr>
        <p:txBody>
          <a:bodyPr wrap="square" rtlCol="0" anchor="ctr"/>
          <a:lstStyle/>
          <a:p>
            <a:pPr algn="ctr" indent="0" marL="0">
              <a:buNone/>
            </a:pPr>
            <a:r>
              <a:rPr lang="en-US" sz="1350" b="1" dirty="0">
                <a:solidFill>
                  <a:srgbClr val="173D1C"/>
                </a:solidFill>
                <a:latin typeface="Cambria" pitchFamily="34" charset="0"/>
                <a:ea typeface="Cambria" pitchFamily="34" charset="-122"/>
                <a:cs typeface="Cambria" pitchFamily="34" charset="-120"/>
              </a:rPr>
              <a:t>UAT participants</a:t>
            </a:r>
            <a:endParaRPr lang="en-US" sz="1350" dirty="0"/>
          </a:p>
        </p:txBody>
      </p:sp>
      <p:sp>
        <p:nvSpPr>
          <p:cNvPr id="20" name="Text 18"/>
          <p:cNvSpPr/>
          <p:nvPr/>
        </p:nvSpPr>
        <p:spPr>
          <a:xfrm>
            <a:off x="9363456" y="3840480"/>
            <a:ext cx="2331720" cy="502920"/>
          </a:xfrm>
          <a:prstGeom prst="rect">
            <a:avLst/>
          </a:prstGeom>
          <a:noFill/>
          <a:ln/>
        </p:spPr>
        <p:txBody>
          <a:bodyPr wrap="square" rtlCol="0" anchor="ctr"/>
          <a:lstStyle/>
          <a:p>
            <a:pPr algn="ctr" indent="0" marL="0">
              <a:buNone/>
            </a:pPr>
            <a:r>
              <a:rPr lang="en-US" sz="1050" dirty="0">
                <a:solidFill>
                  <a:srgbClr val="6E6E66"/>
                </a:solidFill>
                <a:latin typeface="Calibri" pitchFamily="34" charset="0"/>
                <a:ea typeface="Calibri" pitchFamily="34" charset="-122"/>
                <a:cs typeface="Calibri" pitchFamily="34" charset="-120"/>
              </a:rPr>
              <a:t>Farmers &amp; cooperative / extension officers</a:t>
            </a:r>
            <a:endParaRPr lang="en-US" sz="1050" dirty="0"/>
          </a:p>
        </p:txBody>
      </p:sp>
      <p:sp>
        <p:nvSpPr>
          <p:cNvPr id="21" name="Shape 19"/>
          <p:cNvSpPr/>
          <p:nvPr/>
        </p:nvSpPr>
        <p:spPr>
          <a:xfrm>
            <a:off x="640080" y="4800600"/>
            <a:ext cx="10911535" cy="1005840"/>
          </a:xfrm>
          <a:prstGeom prst="roundRect">
            <a:avLst>
              <a:gd name="adj" fmla="val 7273"/>
            </a:avLst>
          </a:prstGeom>
          <a:solidFill>
            <a:srgbClr val="F4F1EA"/>
          </a:solidFill>
          <a:ln w="9525">
            <a:solidFill>
              <a:srgbClr val="D8D3C6"/>
            </a:solidFill>
            <a:prstDash val="solid"/>
          </a:ln>
        </p:spPr>
      </p:sp>
      <p:sp>
        <p:nvSpPr>
          <p:cNvPr id="22" name="Text 20"/>
          <p:cNvSpPr/>
          <p:nvPr/>
        </p:nvSpPr>
        <p:spPr>
          <a:xfrm>
            <a:off x="914400" y="4800600"/>
            <a:ext cx="10362895" cy="1005840"/>
          </a:xfrm>
          <a:prstGeom prst="rect">
            <a:avLst/>
          </a:prstGeom>
          <a:noFill/>
          <a:ln/>
        </p:spPr>
        <p:txBody>
          <a:bodyPr wrap="square" rtlCol="0" anchor="ctr"/>
          <a:lstStyle/>
          <a:p>
            <a:pPr indent="0" marL="0">
              <a:buNone/>
            </a:pPr>
            <a:r>
              <a:rPr lang="en-US" sz="1300" b="1" dirty="0">
                <a:solidFill>
                  <a:srgbClr val="2C5F2D"/>
                </a:solidFill>
                <a:latin typeface="Calibri" pitchFamily="34" charset="0"/>
                <a:ea typeface="Calibri" pitchFamily="34" charset="-122"/>
                <a:cs typeface="Calibri" pitchFamily="34" charset="-120"/>
              </a:rPr>
              <a:t>Also report:  </a:t>
            </a:r>
            <a:pPr indent="0" marL="0">
              <a:buNone/>
            </a:pPr>
            <a:r>
              <a:rPr lang="en-US" sz="1300" dirty="0">
                <a:solidFill>
                  <a:srgbClr val="24261F"/>
                </a:solidFill>
                <a:latin typeface="Calibri" pitchFamily="34" charset="0"/>
                <a:ea typeface="Calibri" pitchFamily="34" charset="-122"/>
                <a:cs typeface="Calibri" pitchFamily="34" charset="-120"/>
              </a:rPr>
              <a:t>precision · F1 · confusion matrix (Appendix C)   ·   System Usability Scale score (Appendix B)   ·   live URL   ·   count of logged predictions across the pilot counties.</a:t>
            </a:r>
            <a:endParaRPr lang="en-US" sz="1300" dirty="0"/>
          </a:p>
        </p:txBody>
      </p:sp>
      <p:sp>
        <p:nvSpPr>
          <p:cNvPr id="23" name="Text 21"/>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24" name="Text 22"/>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FINDINGS &amp; CHALLENGES</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What the work actually taught me</a:t>
            </a:r>
            <a:endParaRPr lang="en-US" sz="3000" dirty="0"/>
          </a:p>
        </p:txBody>
      </p:sp>
      <p:sp>
        <p:nvSpPr>
          <p:cNvPr id="4" name="Text 2"/>
          <p:cNvSpPr/>
          <p:nvPr/>
        </p:nvSpPr>
        <p:spPr>
          <a:xfrm>
            <a:off x="640080" y="1691640"/>
            <a:ext cx="5303520" cy="365760"/>
          </a:xfrm>
          <a:prstGeom prst="rect">
            <a:avLst/>
          </a:prstGeom>
          <a:noFill/>
          <a:ln/>
        </p:spPr>
        <p:txBody>
          <a:bodyPr wrap="square" rtlCol="0" anchor="ctr"/>
          <a:lstStyle/>
          <a:p>
            <a:pPr indent="0" marL="0">
              <a:buNone/>
            </a:pPr>
            <a:r>
              <a:rPr lang="en-US" sz="1600" b="1" dirty="0">
                <a:solidFill>
                  <a:srgbClr val="2C5F2D"/>
                </a:solidFill>
                <a:latin typeface="Cambria" pitchFamily="34" charset="0"/>
                <a:ea typeface="Cambria" pitchFamily="34" charset="-122"/>
                <a:cs typeface="Cambria" pitchFamily="34" charset="-120"/>
              </a:rPr>
              <a:t>Key findings</a:t>
            </a:r>
            <a:endParaRPr lang="en-US" sz="1600" dirty="0"/>
          </a:p>
        </p:txBody>
      </p:sp>
      <p:sp>
        <p:nvSpPr>
          <p:cNvPr id="5" name="Text 3"/>
          <p:cNvSpPr/>
          <p:nvPr/>
        </p:nvSpPr>
        <p:spPr>
          <a:xfrm>
            <a:off x="640080" y="2148840"/>
            <a:ext cx="5349240" cy="3931920"/>
          </a:xfrm>
          <a:prstGeom prst="rect">
            <a:avLst/>
          </a:prstGeom>
          <a:noFill/>
          <a:ln/>
        </p:spPr>
        <p:txBody>
          <a:bodyPr wrap="square" rtlCol="0" anchor="t"/>
          <a:lstStyle/>
          <a:p>
            <a:pPr marL="228600" indent="-228600">
              <a:spcAft>
                <a:spcPts val="900"/>
              </a:spcAft>
              <a:buSzPct val="100000"/>
              <a:buChar char="✓"/>
            </a:pPr>
            <a:r>
              <a:rPr lang="en-US" sz="1250" dirty="0">
                <a:solidFill>
                  <a:srgbClr val="24261F"/>
                </a:solidFill>
                <a:latin typeface="Calibri" pitchFamily="34" charset="0"/>
                <a:ea typeface="Calibri" pitchFamily="34" charset="-122"/>
                <a:cs typeface="Calibri" pitchFamily="34" charset="-120"/>
              </a:rPr>
              <a:t>Binary matches the farmer's real decision — and trained more accurately than five-class</a:t>
            </a:r>
            <a:endParaRPr lang="en-US" sz="1250" dirty="0"/>
          </a:p>
          <a:p>
            <a:pPr marL="228600" indent="-228600">
              <a:spcAft>
                <a:spcPts val="900"/>
              </a:spcAft>
              <a:buSzPct val="100000"/>
              <a:buChar char="✓"/>
            </a:pPr>
            <a:r>
              <a:rPr lang="en-US" sz="1250" dirty="0">
                <a:solidFill>
                  <a:srgbClr val="24261F"/>
                </a:solidFill>
                <a:latin typeface="Calibri" pitchFamily="34" charset="0"/>
                <a:ea typeface="Calibri" pitchFamily="34" charset="-122"/>
                <a:cs typeface="Calibri" pitchFamily="34" charset="-120"/>
              </a:rPr>
              <a:t>Transfer learning was the only viable path on limited compute</a:t>
            </a:r>
            <a:endParaRPr lang="en-US" sz="1250" dirty="0"/>
          </a:p>
          <a:p>
            <a:pPr marL="228600" indent="-228600">
              <a:spcAft>
                <a:spcPts val="900"/>
              </a:spcAft>
              <a:buSzPct val="100000"/>
              <a:buChar char="✓"/>
            </a:pPr>
            <a:r>
              <a:rPr lang="en-US" sz="1250" dirty="0">
                <a:solidFill>
                  <a:srgbClr val="24261F"/>
                </a:solidFill>
                <a:latin typeface="Calibri" pitchFamily="34" charset="0"/>
                <a:ea typeface="Calibri" pitchFamily="34" charset="-122"/>
                <a:cs typeface="Calibri" pitchFamily="34" charset="-120"/>
              </a:rPr>
              <a:t>The interface mattered as much as the model to users</a:t>
            </a:r>
            <a:endParaRPr lang="en-US" sz="1250" dirty="0"/>
          </a:p>
          <a:p>
            <a:pPr marL="228600" indent="-228600">
              <a:spcAft>
                <a:spcPts val="900"/>
              </a:spcAft>
              <a:buSzPct val="100000"/>
              <a:buChar char="✓"/>
            </a:pPr>
            <a:r>
              <a:rPr lang="en-US" sz="1250" dirty="0">
                <a:solidFill>
                  <a:srgbClr val="24261F"/>
                </a:solidFill>
                <a:latin typeface="Calibri" pitchFamily="34" charset="0"/>
                <a:ea typeface="Calibri" pitchFamily="34" charset="-122"/>
                <a:cs typeface="Calibri" pitchFamily="34" charset="-120"/>
              </a:rPr>
              <a:t>Swahili was a hard requirement — 8 of 12 farmers used it</a:t>
            </a:r>
            <a:endParaRPr lang="en-US" sz="1250" dirty="0"/>
          </a:p>
          <a:p>
            <a:pPr marL="228600" indent="-228600">
              <a:spcAft>
                <a:spcPts val="900"/>
              </a:spcAft>
              <a:buSzPct val="100000"/>
              <a:buChar char="✓"/>
            </a:pPr>
            <a:r>
              <a:rPr lang="en-US" sz="1250" dirty="0">
                <a:solidFill>
                  <a:srgbClr val="24261F"/>
                </a:solidFill>
                <a:latin typeface="Calibri" pitchFamily="34" charset="0"/>
                <a:ea typeface="Calibri" pitchFamily="34" charset="-122"/>
                <a:cs typeface="Calibri" pitchFamily="34" charset="-120"/>
              </a:rPr>
              <a:t>Logged predictions became a rust-surveillance dataset</a:t>
            </a:r>
            <a:endParaRPr lang="en-US" sz="1250" dirty="0"/>
          </a:p>
        </p:txBody>
      </p:sp>
      <p:sp>
        <p:nvSpPr>
          <p:cNvPr id="6" name="Text 4"/>
          <p:cNvSpPr/>
          <p:nvPr/>
        </p:nvSpPr>
        <p:spPr>
          <a:xfrm>
            <a:off x="6446520" y="1691640"/>
            <a:ext cx="5120640" cy="365760"/>
          </a:xfrm>
          <a:prstGeom prst="rect">
            <a:avLst/>
          </a:prstGeom>
          <a:noFill/>
          <a:ln/>
        </p:spPr>
        <p:txBody>
          <a:bodyPr wrap="square" rtlCol="0" anchor="ctr"/>
          <a:lstStyle/>
          <a:p>
            <a:pPr indent="0" marL="0">
              <a:buNone/>
            </a:pPr>
            <a:r>
              <a:rPr lang="en-US" sz="1600" b="1" dirty="0">
                <a:solidFill>
                  <a:srgbClr val="B85C2E"/>
                </a:solidFill>
                <a:latin typeface="Cambria" pitchFamily="34" charset="0"/>
                <a:ea typeface="Cambria" pitchFamily="34" charset="-122"/>
                <a:cs typeface="Cambria" pitchFamily="34" charset="-120"/>
              </a:rPr>
              <a:t>Challenges met</a:t>
            </a:r>
            <a:endParaRPr lang="en-US" sz="1600" dirty="0"/>
          </a:p>
        </p:txBody>
      </p:sp>
      <p:sp>
        <p:nvSpPr>
          <p:cNvPr id="7" name="Shape 5"/>
          <p:cNvSpPr/>
          <p:nvPr/>
        </p:nvSpPr>
        <p:spPr>
          <a:xfrm>
            <a:off x="6446520" y="2148840"/>
            <a:ext cx="5120640" cy="749808"/>
          </a:xfrm>
          <a:prstGeom prst="roundRect">
            <a:avLst>
              <a:gd name="adj" fmla="val 10976"/>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8" name="Text 6"/>
          <p:cNvSpPr/>
          <p:nvPr/>
        </p:nvSpPr>
        <p:spPr>
          <a:xfrm>
            <a:off x="6629400" y="2221992"/>
            <a:ext cx="1965960" cy="603504"/>
          </a:xfrm>
          <a:prstGeom prst="rect">
            <a:avLst/>
          </a:prstGeom>
          <a:noFill/>
          <a:ln/>
        </p:spPr>
        <p:txBody>
          <a:bodyPr wrap="square" rtlCol="0" anchor="ctr"/>
          <a:lstStyle/>
          <a:p>
            <a:pPr indent="0" marL="0">
              <a:buNone/>
            </a:pPr>
            <a:r>
              <a:rPr lang="en-US" sz="1250" b="1" dirty="0">
                <a:solidFill>
                  <a:srgbClr val="173D1C"/>
                </a:solidFill>
                <a:latin typeface="Cambria" pitchFamily="34" charset="0"/>
                <a:ea typeface="Cambria" pitchFamily="34" charset="-122"/>
                <a:cs typeface="Cambria" pitchFamily="34" charset="-120"/>
              </a:rPr>
              <a:t>Class imbalance</a:t>
            </a:r>
            <a:endParaRPr lang="en-US" sz="1250" dirty="0"/>
          </a:p>
        </p:txBody>
      </p:sp>
      <p:sp>
        <p:nvSpPr>
          <p:cNvPr id="9" name="Text 7"/>
          <p:cNvSpPr/>
          <p:nvPr/>
        </p:nvSpPr>
        <p:spPr>
          <a:xfrm>
            <a:off x="8549640" y="2221992"/>
            <a:ext cx="2880360" cy="603504"/>
          </a:xfrm>
          <a:prstGeom prst="rect">
            <a:avLst/>
          </a:prstGeom>
          <a:noFill/>
          <a:ln/>
        </p:spPr>
        <p:txBody>
          <a:bodyPr wrap="square" rtlCol="0" anchor="ctr"/>
          <a:lstStyle/>
          <a:p>
            <a:pPr indent="0" marL="0">
              <a:buNone/>
            </a:pPr>
            <a:r>
              <a:rPr lang="en-US" sz="1100" dirty="0">
                <a:solidFill>
                  <a:srgbClr val="24261F"/>
                </a:solidFill>
                <a:latin typeface="Calibri" pitchFamily="34" charset="0"/>
                <a:ea typeface="Calibri" pitchFamily="34" charset="-122"/>
                <a:cs typeface="Calibri" pitchFamily="34" charset="-120"/>
              </a:rPr>
              <a:t>sub-set both classes to 10,500 for balance</a:t>
            </a:r>
            <a:endParaRPr lang="en-US" sz="1100" dirty="0"/>
          </a:p>
        </p:txBody>
      </p:sp>
      <p:sp>
        <p:nvSpPr>
          <p:cNvPr id="10" name="Shape 8"/>
          <p:cNvSpPr/>
          <p:nvPr/>
        </p:nvSpPr>
        <p:spPr>
          <a:xfrm>
            <a:off x="6446520" y="2971800"/>
            <a:ext cx="5120640" cy="749808"/>
          </a:xfrm>
          <a:prstGeom prst="roundRect">
            <a:avLst>
              <a:gd name="adj" fmla="val 10976"/>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1" name="Text 9"/>
          <p:cNvSpPr/>
          <p:nvPr/>
        </p:nvSpPr>
        <p:spPr>
          <a:xfrm>
            <a:off x="6629400" y="3044952"/>
            <a:ext cx="1965960" cy="603504"/>
          </a:xfrm>
          <a:prstGeom prst="rect">
            <a:avLst/>
          </a:prstGeom>
          <a:noFill/>
          <a:ln/>
        </p:spPr>
        <p:txBody>
          <a:bodyPr wrap="square" rtlCol="0" anchor="ctr"/>
          <a:lstStyle/>
          <a:p>
            <a:pPr indent="0" marL="0">
              <a:buNone/>
            </a:pPr>
            <a:r>
              <a:rPr lang="en-US" sz="1250" b="1" dirty="0">
                <a:solidFill>
                  <a:srgbClr val="173D1C"/>
                </a:solidFill>
                <a:latin typeface="Cambria" pitchFamily="34" charset="0"/>
                <a:ea typeface="Cambria" pitchFamily="34" charset="-122"/>
                <a:cs typeface="Cambria" pitchFamily="34" charset="-120"/>
              </a:rPr>
              <a:t>Colab timeouts</a:t>
            </a:r>
            <a:endParaRPr lang="en-US" sz="1250" dirty="0"/>
          </a:p>
        </p:txBody>
      </p:sp>
      <p:sp>
        <p:nvSpPr>
          <p:cNvPr id="12" name="Text 10"/>
          <p:cNvSpPr/>
          <p:nvPr/>
        </p:nvSpPr>
        <p:spPr>
          <a:xfrm>
            <a:off x="8549640" y="3044952"/>
            <a:ext cx="2880360" cy="603504"/>
          </a:xfrm>
          <a:prstGeom prst="rect">
            <a:avLst/>
          </a:prstGeom>
          <a:noFill/>
          <a:ln/>
        </p:spPr>
        <p:txBody>
          <a:bodyPr wrap="square" rtlCol="0" anchor="ctr"/>
          <a:lstStyle/>
          <a:p>
            <a:pPr indent="0" marL="0">
              <a:buNone/>
            </a:pPr>
            <a:r>
              <a:rPr lang="en-US" sz="1100" dirty="0">
                <a:solidFill>
                  <a:srgbClr val="24261F"/>
                </a:solidFill>
                <a:latin typeface="Calibri" pitchFamily="34" charset="0"/>
                <a:ea typeface="Calibri" pitchFamily="34" charset="-122"/>
                <a:cs typeface="Calibri" pitchFamily="34" charset="-120"/>
              </a:rPr>
              <a:t>checkpoint every epoch; upgraded to Pro</a:t>
            </a:r>
            <a:endParaRPr lang="en-US" sz="1100" dirty="0"/>
          </a:p>
        </p:txBody>
      </p:sp>
      <p:sp>
        <p:nvSpPr>
          <p:cNvPr id="13" name="Shape 11"/>
          <p:cNvSpPr/>
          <p:nvPr/>
        </p:nvSpPr>
        <p:spPr>
          <a:xfrm>
            <a:off x="6446520" y="3794760"/>
            <a:ext cx="5120640" cy="749808"/>
          </a:xfrm>
          <a:prstGeom prst="roundRect">
            <a:avLst>
              <a:gd name="adj" fmla="val 10976"/>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4" name="Text 12"/>
          <p:cNvSpPr/>
          <p:nvPr/>
        </p:nvSpPr>
        <p:spPr>
          <a:xfrm>
            <a:off x="6629400" y="3867912"/>
            <a:ext cx="1965960" cy="603504"/>
          </a:xfrm>
          <a:prstGeom prst="rect">
            <a:avLst/>
          </a:prstGeom>
          <a:noFill/>
          <a:ln/>
        </p:spPr>
        <p:txBody>
          <a:bodyPr wrap="square" rtlCol="0" anchor="ctr"/>
          <a:lstStyle/>
          <a:p>
            <a:pPr indent="0" marL="0">
              <a:buNone/>
            </a:pPr>
            <a:r>
              <a:rPr lang="en-US" sz="1250" b="1" dirty="0">
                <a:solidFill>
                  <a:srgbClr val="173D1C"/>
                </a:solidFill>
                <a:latin typeface="Cambria" pitchFamily="34" charset="0"/>
                <a:ea typeface="Cambria" pitchFamily="34" charset="-122"/>
                <a:cs typeface="Cambria" pitchFamily="34" charset="-120"/>
              </a:rPr>
              <a:t>Poor phone photos</a:t>
            </a:r>
            <a:endParaRPr lang="en-US" sz="1250" dirty="0"/>
          </a:p>
        </p:txBody>
      </p:sp>
      <p:sp>
        <p:nvSpPr>
          <p:cNvPr id="15" name="Text 13"/>
          <p:cNvSpPr/>
          <p:nvPr/>
        </p:nvSpPr>
        <p:spPr>
          <a:xfrm>
            <a:off x="8549640" y="3867912"/>
            <a:ext cx="2880360" cy="603504"/>
          </a:xfrm>
          <a:prstGeom prst="rect">
            <a:avLst/>
          </a:prstGeom>
          <a:noFill/>
          <a:ln/>
        </p:spPr>
        <p:txBody>
          <a:bodyPr wrap="square" rtlCol="0" anchor="ctr"/>
          <a:lstStyle/>
          <a:p>
            <a:pPr indent="0" marL="0">
              <a:buNone/>
            </a:pPr>
            <a:r>
              <a:rPr lang="en-US" sz="1100" dirty="0">
                <a:solidFill>
                  <a:srgbClr val="24261F"/>
                </a:solidFill>
                <a:latin typeface="Calibri" pitchFamily="34" charset="0"/>
                <a:ea typeface="Calibri" pitchFamily="34" charset="-122"/>
                <a:cs typeface="Calibri" pitchFamily="34" charset="-120"/>
              </a:rPr>
              <a:t>model returns low confidence — needs photo coaching</a:t>
            </a:r>
            <a:endParaRPr lang="en-US" sz="1100" dirty="0"/>
          </a:p>
        </p:txBody>
      </p:sp>
      <p:sp>
        <p:nvSpPr>
          <p:cNvPr id="16" name="Shape 14"/>
          <p:cNvSpPr/>
          <p:nvPr/>
        </p:nvSpPr>
        <p:spPr>
          <a:xfrm>
            <a:off x="6446520" y="4617720"/>
            <a:ext cx="5120640" cy="749808"/>
          </a:xfrm>
          <a:prstGeom prst="roundRect">
            <a:avLst>
              <a:gd name="adj" fmla="val 10976"/>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7" name="Text 15"/>
          <p:cNvSpPr/>
          <p:nvPr/>
        </p:nvSpPr>
        <p:spPr>
          <a:xfrm>
            <a:off x="6629400" y="4690872"/>
            <a:ext cx="1965960" cy="603504"/>
          </a:xfrm>
          <a:prstGeom prst="rect">
            <a:avLst/>
          </a:prstGeom>
          <a:noFill/>
          <a:ln/>
        </p:spPr>
        <p:txBody>
          <a:bodyPr wrap="square" rtlCol="0" anchor="ctr"/>
          <a:lstStyle/>
          <a:p>
            <a:pPr indent="0" marL="0">
              <a:buNone/>
            </a:pPr>
            <a:r>
              <a:rPr lang="en-US" sz="1250" b="1" dirty="0">
                <a:solidFill>
                  <a:srgbClr val="173D1C"/>
                </a:solidFill>
                <a:latin typeface="Cambria" pitchFamily="34" charset="0"/>
                <a:ea typeface="Cambria" pitchFamily="34" charset="-122"/>
                <a:cs typeface="Cambria" pitchFamily="34" charset="-120"/>
              </a:rPr>
              <a:t>Cloud free-tier sleep</a:t>
            </a:r>
            <a:endParaRPr lang="en-US" sz="1250" dirty="0"/>
          </a:p>
        </p:txBody>
      </p:sp>
      <p:sp>
        <p:nvSpPr>
          <p:cNvPr id="18" name="Text 16"/>
          <p:cNvSpPr/>
          <p:nvPr/>
        </p:nvSpPr>
        <p:spPr>
          <a:xfrm>
            <a:off x="8549640" y="4690872"/>
            <a:ext cx="2880360" cy="603504"/>
          </a:xfrm>
          <a:prstGeom prst="rect">
            <a:avLst/>
          </a:prstGeom>
          <a:noFill/>
          <a:ln/>
        </p:spPr>
        <p:txBody>
          <a:bodyPr wrap="square" rtlCol="0" anchor="ctr"/>
          <a:lstStyle/>
          <a:p>
            <a:pPr indent="0" marL="0">
              <a:buNone/>
            </a:pPr>
            <a:r>
              <a:rPr lang="en-US" sz="1100" dirty="0">
                <a:solidFill>
                  <a:srgbClr val="24261F"/>
                </a:solidFill>
                <a:latin typeface="Calibri" pitchFamily="34" charset="0"/>
                <a:ea typeface="Calibri" pitchFamily="34" charset="-122"/>
                <a:cs typeface="Calibri" pitchFamily="34" charset="-120"/>
              </a:rPr>
              <a:t>15–30 s cold start; a $7/mo tier removes it</a:t>
            </a:r>
            <a:endParaRPr lang="en-US" sz="1100" dirty="0"/>
          </a:p>
        </p:txBody>
      </p:sp>
      <p:sp>
        <p:nvSpPr>
          <p:cNvPr id="19" name="Shape 17"/>
          <p:cNvSpPr/>
          <p:nvPr/>
        </p:nvSpPr>
        <p:spPr>
          <a:xfrm>
            <a:off x="6446520" y="5440680"/>
            <a:ext cx="5120640" cy="749808"/>
          </a:xfrm>
          <a:prstGeom prst="roundRect">
            <a:avLst>
              <a:gd name="adj" fmla="val 10976"/>
            </a:avLst>
          </a:prstGeom>
          <a:solidFill>
            <a:srgbClr val="FFFFFF"/>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0" name="Text 18"/>
          <p:cNvSpPr/>
          <p:nvPr/>
        </p:nvSpPr>
        <p:spPr>
          <a:xfrm>
            <a:off x="6629400" y="5513832"/>
            <a:ext cx="1965960" cy="603504"/>
          </a:xfrm>
          <a:prstGeom prst="rect">
            <a:avLst/>
          </a:prstGeom>
          <a:noFill/>
          <a:ln/>
        </p:spPr>
        <p:txBody>
          <a:bodyPr wrap="square" rtlCol="0" anchor="ctr"/>
          <a:lstStyle/>
          <a:p>
            <a:pPr indent="0" marL="0">
              <a:buNone/>
            </a:pPr>
            <a:r>
              <a:rPr lang="en-US" sz="1250" b="1" dirty="0">
                <a:solidFill>
                  <a:srgbClr val="173D1C"/>
                </a:solidFill>
                <a:latin typeface="Cambria" pitchFamily="34" charset="0"/>
                <a:ea typeface="Cambria" pitchFamily="34" charset="-122"/>
                <a:cs typeface="Cambria" pitchFamily="34" charset="-120"/>
              </a:rPr>
              <a:t>Cooperative scheduling</a:t>
            </a:r>
            <a:endParaRPr lang="en-US" sz="1250" dirty="0"/>
          </a:p>
        </p:txBody>
      </p:sp>
      <p:sp>
        <p:nvSpPr>
          <p:cNvPr id="21" name="Text 19"/>
          <p:cNvSpPr/>
          <p:nvPr/>
        </p:nvSpPr>
        <p:spPr>
          <a:xfrm>
            <a:off x="8549640" y="5513832"/>
            <a:ext cx="2880360" cy="603504"/>
          </a:xfrm>
          <a:prstGeom prst="rect">
            <a:avLst/>
          </a:prstGeom>
          <a:noFill/>
          <a:ln/>
        </p:spPr>
        <p:txBody>
          <a:bodyPr wrap="square" rtlCol="0" anchor="ctr"/>
          <a:lstStyle/>
          <a:p>
            <a:pPr indent="0" marL="0">
              <a:buNone/>
            </a:pPr>
            <a:r>
              <a:rPr lang="en-US" sz="1100" dirty="0">
                <a:solidFill>
                  <a:srgbClr val="24261F"/>
                </a:solidFill>
                <a:latin typeface="Calibri" pitchFamily="34" charset="0"/>
                <a:ea typeface="Calibri" pitchFamily="34" charset="-122"/>
                <a:cs typeface="Calibri" pitchFamily="34" charset="-120"/>
              </a:rPr>
              <a:t>start outreach 2 months early</a:t>
            </a:r>
            <a:endParaRPr lang="en-US" sz="1100" dirty="0"/>
          </a:p>
        </p:txBody>
      </p:sp>
      <p:sp>
        <p:nvSpPr>
          <p:cNvPr id="22" name="Text 20"/>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23" name="Text 21"/>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3D1C"/>
        </a:solidFill>
      </p:bgPr>
    </p:bg>
    <p:spTree>
      <p:nvGrpSpPr>
        <p:cNvPr id="1" name=""/>
        <p:cNvGrpSpPr/>
        <p:nvPr/>
      </p:nvGrpSpPr>
      <p:grpSpPr>
        <a:xfrm>
          <a:off x="0" y="0"/>
          <a:ext cx="0" cy="0"/>
          <a:chOff x="0" y="0"/>
          <a:chExt cx="0" cy="0"/>
        </a:xfrm>
      </p:grpSpPr>
      <p:sp>
        <p:nvSpPr>
          <p:cNvPr id="2" name="Shape 0"/>
          <p:cNvSpPr/>
          <p:nvPr/>
        </p:nvSpPr>
        <p:spPr>
          <a:xfrm>
            <a:off x="9326880" y="3566160"/>
            <a:ext cx="5029200" cy="5029200"/>
          </a:xfrm>
          <a:prstGeom prst="ellipse">
            <a:avLst/>
          </a:prstGeom>
          <a:solidFill>
            <a:srgbClr val="2C5F2D"/>
          </a:solidFill>
          <a:ln/>
        </p:spPr>
      </p:sp>
      <p:sp>
        <p:nvSpPr>
          <p:cNvPr id="3" name="Text 1"/>
          <p:cNvSpPr/>
          <p:nvPr/>
        </p:nvSpPr>
        <p:spPr>
          <a:xfrm>
            <a:off x="640080" y="640080"/>
            <a:ext cx="10058400" cy="365760"/>
          </a:xfrm>
          <a:prstGeom prst="rect">
            <a:avLst/>
          </a:prstGeom>
          <a:noFill/>
          <a:ln/>
        </p:spPr>
        <p:txBody>
          <a:bodyPr wrap="square" rtlCol="0" anchor="ctr"/>
          <a:lstStyle/>
          <a:p>
            <a:pPr indent="0" marL="0">
              <a:buNone/>
            </a:pPr>
            <a:r>
              <a:rPr lang="en-US" sz="1300" b="1" spc="200" kern="0" dirty="0">
                <a:solidFill>
                  <a:srgbClr val="B85C2E"/>
                </a:solidFill>
                <a:latin typeface="Calibri" pitchFamily="34" charset="0"/>
                <a:ea typeface="Calibri" pitchFamily="34" charset="-122"/>
                <a:cs typeface="Calibri" pitchFamily="34" charset="-120"/>
              </a:rPr>
              <a:t>CONCLUSIONS</a:t>
            </a:r>
            <a:endParaRPr lang="en-US" sz="1300" dirty="0"/>
          </a:p>
        </p:txBody>
      </p:sp>
      <p:sp>
        <p:nvSpPr>
          <p:cNvPr id="4" name="Text 2"/>
          <p:cNvSpPr/>
          <p:nvPr/>
        </p:nvSpPr>
        <p:spPr>
          <a:xfrm>
            <a:off x="640080" y="1005840"/>
            <a:ext cx="10515600" cy="822960"/>
          </a:xfrm>
          <a:prstGeom prst="rect">
            <a:avLst/>
          </a:prstGeom>
          <a:noFill/>
          <a:ln/>
        </p:spPr>
        <p:txBody>
          <a:bodyPr wrap="square"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The aim was achieved: a working, deployed tool.</a:t>
            </a:r>
            <a:endParaRPr lang="en-US" sz="2800" dirty="0"/>
          </a:p>
        </p:txBody>
      </p:sp>
      <p:sp>
        <p:nvSpPr>
          <p:cNvPr id="5" name="Shape 3"/>
          <p:cNvSpPr/>
          <p:nvPr/>
        </p:nvSpPr>
        <p:spPr>
          <a:xfrm>
            <a:off x="640080" y="2057400"/>
            <a:ext cx="5120640" cy="914400"/>
          </a:xfrm>
          <a:prstGeom prst="roundRect">
            <a:avLst>
              <a:gd name="adj" fmla="val 7000"/>
            </a:avLst>
          </a:prstGeom>
          <a:solidFill>
            <a:srgbClr val="20492A"/>
          </a:solidFill>
          <a:ln/>
        </p:spPr>
      </p:sp>
      <p:sp>
        <p:nvSpPr>
          <p:cNvPr id="6" name="Text 4"/>
          <p:cNvSpPr/>
          <p:nvPr/>
        </p:nvSpPr>
        <p:spPr>
          <a:xfrm>
            <a:off x="822960" y="2167128"/>
            <a:ext cx="4754880" cy="365760"/>
          </a:xfrm>
          <a:prstGeom prst="rect">
            <a:avLst/>
          </a:prstGeom>
          <a:noFill/>
          <a:ln/>
        </p:spPr>
        <p:txBody>
          <a:bodyPr wrap="square" rtlCol="0" anchor="ctr"/>
          <a:lstStyle/>
          <a:p>
            <a:pPr indent="0" marL="0">
              <a:buNone/>
            </a:pPr>
            <a:r>
              <a:rPr lang="en-US" sz="1500" b="1" dirty="0">
                <a:solidFill>
                  <a:srgbClr val="97BC62"/>
                </a:solidFill>
                <a:latin typeface="Cambria" pitchFamily="34" charset="0"/>
                <a:ea typeface="Cambria" pitchFamily="34" charset="-122"/>
                <a:cs typeface="Cambria" pitchFamily="34" charset="-120"/>
              </a:rPr>
              <a:t>✓ </a:t>
            </a:r>
            <a:pPr indent="0" marL="0">
              <a:buNone/>
            </a:pPr>
            <a:r>
              <a:rPr lang="en-US" sz="1500" b="1" dirty="0">
                <a:solidFill>
                  <a:srgbClr val="FFFFFF"/>
                </a:solidFill>
                <a:latin typeface="Cambria" pitchFamily="34" charset="0"/>
                <a:ea typeface="Cambria" pitchFamily="34" charset="-122"/>
                <a:cs typeface="Cambria" pitchFamily="34" charset="-120"/>
              </a:rPr>
              <a:t>Trained model</a:t>
            </a:r>
            <a:endParaRPr lang="en-US" sz="1500" dirty="0"/>
          </a:p>
        </p:txBody>
      </p:sp>
      <p:sp>
        <p:nvSpPr>
          <p:cNvPr id="7" name="Text 5"/>
          <p:cNvSpPr/>
          <p:nvPr/>
        </p:nvSpPr>
        <p:spPr>
          <a:xfrm>
            <a:off x="1024128" y="2532888"/>
            <a:ext cx="4572000" cy="365760"/>
          </a:xfrm>
          <a:prstGeom prst="rect">
            <a:avLst/>
          </a:prstGeom>
          <a:noFill/>
          <a:ln/>
        </p:spPr>
        <p:txBody>
          <a:bodyPr wrap="square" rtlCol="0" anchor="ctr"/>
          <a:lstStyle/>
          <a:p>
            <a:pPr indent="0" marL="0">
              <a:buNone/>
            </a:pPr>
            <a:r>
              <a:rPr lang="en-US" sz="1150" dirty="0">
                <a:solidFill>
                  <a:srgbClr val="D9E4CC"/>
                </a:solidFill>
                <a:latin typeface="Calibri" pitchFamily="34" charset="0"/>
                <a:ea typeface="Calibri" pitchFamily="34" charset="-122"/>
                <a:cs typeface="Calibri" pitchFamily="34" charset="-120"/>
              </a:rPr>
              <a:t>MobileNetV2 rust classifier, ~23 MB</a:t>
            </a:r>
            <a:endParaRPr lang="en-US" sz="1150" dirty="0"/>
          </a:p>
        </p:txBody>
      </p:sp>
      <p:sp>
        <p:nvSpPr>
          <p:cNvPr id="8" name="Shape 6"/>
          <p:cNvSpPr/>
          <p:nvPr/>
        </p:nvSpPr>
        <p:spPr>
          <a:xfrm>
            <a:off x="6035040" y="2057400"/>
            <a:ext cx="5120640" cy="914400"/>
          </a:xfrm>
          <a:prstGeom prst="roundRect">
            <a:avLst>
              <a:gd name="adj" fmla="val 7000"/>
            </a:avLst>
          </a:prstGeom>
          <a:solidFill>
            <a:srgbClr val="20492A"/>
          </a:solidFill>
          <a:ln/>
        </p:spPr>
      </p:sp>
      <p:sp>
        <p:nvSpPr>
          <p:cNvPr id="9" name="Text 7"/>
          <p:cNvSpPr/>
          <p:nvPr/>
        </p:nvSpPr>
        <p:spPr>
          <a:xfrm>
            <a:off x="6217920" y="2167128"/>
            <a:ext cx="4754880" cy="365760"/>
          </a:xfrm>
          <a:prstGeom prst="rect">
            <a:avLst/>
          </a:prstGeom>
          <a:noFill/>
          <a:ln/>
        </p:spPr>
        <p:txBody>
          <a:bodyPr wrap="square" rtlCol="0" anchor="ctr"/>
          <a:lstStyle/>
          <a:p>
            <a:pPr indent="0" marL="0">
              <a:buNone/>
            </a:pPr>
            <a:r>
              <a:rPr lang="en-US" sz="1500" b="1" dirty="0">
                <a:solidFill>
                  <a:srgbClr val="97BC62"/>
                </a:solidFill>
                <a:latin typeface="Cambria" pitchFamily="34" charset="0"/>
                <a:ea typeface="Cambria" pitchFamily="34" charset="-122"/>
                <a:cs typeface="Cambria" pitchFamily="34" charset="-120"/>
              </a:rPr>
              <a:t>✓ </a:t>
            </a:r>
            <a:pPr indent="0" marL="0">
              <a:buNone/>
            </a:pPr>
            <a:r>
              <a:rPr lang="en-US" sz="1500" b="1" dirty="0">
                <a:solidFill>
                  <a:srgbClr val="FFFFFF"/>
                </a:solidFill>
                <a:latin typeface="Cambria" pitchFamily="34" charset="0"/>
                <a:ea typeface="Cambria" pitchFamily="34" charset="-122"/>
                <a:cs typeface="Cambria" pitchFamily="34" charset="-120"/>
              </a:rPr>
              <a:t>Live application</a:t>
            </a:r>
            <a:endParaRPr lang="en-US" sz="1500" dirty="0"/>
          </a:p>
        </p:txBody>
      </p:sp>
      <p:sp>
        <p:nvSpPr>
          <p:cNvPr id="10" name="Text 8"/>
          <p:cNvSpPr/>
          <p:nvPr/>
        </p:nvSpPr>
        <p:spPr>
          <a:xfrm>
            <a:off x="6419088" y="2532888"/>
            <a:ext cx="4572000" cy="365760"/>
          </a:xfrm>
          <a:prstGeom prst="rect">
            <a:avLst/>
          </a:prstGeom>
          <a:noFill/>
          <a:ln/>
        </p:spPr>
        <p:txBody>
          <a:bodyPr wrap="square" rtlCol="0" anchor="ctr"/>
          <a:lstStyle/>
          <a:p>
            <a:pPr indent="0" marL="0">
              <a:buNone/>
            </a:pPr>
            <a:r>
              <a:rPr lang="en-US" sz="1150" dirty="0">
                <a:solidFill>
                  <a:srgbClr val="D9E4CC"/>
                </a:solidFill>
                <a:latin typeface="Calibri" pitchFamily="34" charset="0"/>
                <a:ea typeface="Calibri" pitchFamily="34" charset="-122"/>
                <a:cs typeface="Calibri" pitchFamily="34" charset="-120"/>
              </a:rPr>
              <a:t>FastAPI /predict + RAG /api/chat, public URL</a:t>
            </a:r>
            <a:endParaRPr lang="en-US" sz="1150" dirty="0"/>
          </a:p>
        </p:txBody>
      </p:sp>
      <p:sp>
        <p:nvSpPr>
          <p:cNvPr id="11" name="Shape 9"/>
          <p:cNvSpPr/>
          <p:nvPr/>
        </p:nvSpPr>
        <p:spPr>
          <a:xfrm>
            <a:off x="640080" y="3200400"/>
            <a:ext cx="5120640" cy="914400"/>
          </a:xfrm>
          <a:prstGeom prst="roundRect">
            <a:avLst>
              <a:gd name="adj" fmla="val 7000"/>
            </a:avLst>
          </a:prstGeom>
          <a:solidFill>
            <a:srgbClr val="20492A"/>
          </a:solidFill>
          <a:ln/>
        </p:spPr>
      </p:sp>
      <p:sp>
        <p:nvSpPr>
          <p:cNvPr id="12" name="Text 10"/>
          <p:cNvSpPr/>
          <p:nvPr/>
        </p:nvSpPr>
        <p:spPr>
          <a:xfrm>
            <a:off x="822960" y="3310128"/>
            <a:ext cx="4754880" cy="365760"/>
          </a:xfrm>
          <a:prstGeom prst="rect">
            <a:avLst/>
          </a:prstGeom>
          <a:noFill/>
          <a:ln/>
        </p:spPr>
        <p:txBody>
          <a:bodyPr wrap="square" rtlCol="0" anchor="ctr"/>
          <a:lstStyle/>
          <a:p>
            <a:pPr indent="0" marL="0">
              <a:buNone/>
            </a:pPr>
            <a:r>
              <a:rPr lang="en-US" sz="1500" b="1" dirty="0">
                <a:solidFill>
                  <a:srgbClr val="97BC62"/>
                </a:solidFill>
                <a:latin typeface="Cambria" pitchFamily="34" charset="0"/>
                <a:ea typeface="Cambria" pitchFamily="34" charset="-122"/>
                <a:cs typeface="Cambria" pitchFamily="34" charset="-120"/>
              </a:rPr>
              <a:t>✓ </a:t>
            </a:r>
            <a:pPr indent="0" marL="0">
              <a:buNone/>
            </a:pPr>
            <a:r>
              <a:rPr lang="en-US" sz="1500" b="1" dirty="0">
                <a:solidFill>
                  <a:srgbClr val="FFFFFF"/>
                </a:solidFill>
                <a:latin typeface="Cambria" pitchFamily="34" charset="0"/>
                <a:ea typeface="Cambria" pitchFamily="34" charset="-122"/>
                <a:cs typeface="Cambria" pitchFamily="34" charset="-120"/>
              </a:rPr>
              <a:t>Bilingual PWA</a:t>
            </a:r>
            <a:endParaRPr lang="en-US" sz="1500" dirty="0"/>
          </a:p>
        </p:txBody>
      </p:sp>
      <p:sp>
        <p:nvSpPr>
          <p:cNvPr id="13" name="Text 11"/>
          <p:cNvSpPr/>
          <p:nvPr/>
        </p:nvSpPr>
        <p:spPr>
          <a:xfrm>
            <a:off x="1024128" y="3675888"/>
            <a:ext cx="4572000" cy="365760"/>
          </a:xfrm>
          <a:prstGeom prst="rect">
            <a:avLst/>
          </a:prstGeom>
          <a:noFill/>
          <a:ln/>
        </p:spPr>
        <p:txBody>
          <a:bodyPr wrap="square" rtlCol="0" anchor="ctr"/>
          <a:lstStyle/>
          <a:p>
            <a:pPr indent="0" marL="0">
              <a:buNone/>
            </a:pPr>
            <a:r>
              <a:rPr lang="en-US" sz="1150" dirty="0">
                <a:solidFill>
                  <a:srgbClr val="D9E4CC"/>
                </a:solidFill>
                <a:latin typeface="Calibri" pitchFamily="34" charset="0"/>
                <a:ea typeface="Calibri" pitchFamily="34" charset="-122"/>
                <a:cs typeface="Calibri" pitchFamily="34" charset="-120"/>
              </a:rPr>
              <a:t>EN / SW, installable, secure accounts</a:t>
            </a:r>
            <a:endParaRPr lang="en-US" sz="1150" dirty="0"/>
          </a:p>
        </p:txBody>
      </p:sp>
      <p:sp>
        <p:nvSpPr>
          <p:cNvPr id="14" name="Shape 12"/>
          <p:cNvSpPr/>
          <p:nvPr/>
        </p:nvSpPr>
        <p:spPr>
          <a:xfrm>
            <a:off x="6035040" y="3200400"/>
            <a:ext cx="5120640" cy="914400"/>
          </a:xfrm>
          <a:prstGeom prst="roundRect">
            <a:avLst>
              <a:gd name="adj" fmla="val 7000"/>
            </a:avLst>
          </a:prstGeom>
          <a:solidFill>
            <a:srgbClr val="20492A"/>
          </a:solidFill>
          <a:ln/>
        </p:spPr>
      </p:sp>
      <p:sp>
        <p:nvSpPr>
          <p:cNvPr id="15" name="Text 13"/>
          <p:cNvSpPr/>
          <p:nvPr/>
        </p:nvSpPr>
        <p:spPr>
          <a:xfrm>
            <a:off x="6217920" y="3310128"/>
            <a:ext cx="4754880" cy="365760"/>
          </a:xfrm>
          <a:prstGeom prst="rect">
            <a:avLst/>
          </a:prstGeom>
          <a:noFill/>
          <a:ln/>
        </p:spPr>
        <p:txBody>
          <a:bodyPr wrap="square" rtlCol="0" anchor="ctr"/>
          <a:lstStyle/>
          <a:p>
            <a:pPr indent="0" marL="0">
              <a:buNone/>
            </a:pPr>
            <a:r>
              <a:rPr lang="en-US" sz="1500" b="1" dirty="0">
                <a:solidFill>
                  <a:srgbClr val="97BC62"/>
                </a:solidFill>
                <a:latin typeface="Cambria" pitchFamily="34" charset="0"/>
                <a:ea typeface="Cambria" pitchFamily="34" charset="-122"/>
                <a:cs typeface="Cambria" pitchFamily="34" charset="-120"/>
              </a:rPr>
              <a:t>✓ </a:t>
            </a:r>
            <a:pPr indent="0" marL="0">
              <a:buNone/>
            </a:pPr>
            <a:r>
              <a:rPr lang="en-US" sz="1500" b="1" dirty="0">
                <a:solidFill>
                  <a:srgbClr val="FFFFFF"/>
                </a:solidFill>
                <a:latin typeface="Cambria" pitchFamily="34" charset="0"/>
                <a:ea typeface="Cambria" pitchFamily="34" charset="-122"/>
                <a:cs typeface="Cambria" pitchFamily="34" charset="-120"/>
              </a:rPr>
              <a:t>Logged pilot</a:t>
            </a:r>
            <a:endParaRPr lang="en-US" sz="1500" dirty="0"/>
          </a:p>
        </p:txBody>
      </p:sp>
      <p:sp>
        <p:nvSpPr>
          <p:cNvPr id="16" name="Text 14"/>
          <p:cNvSpPr/>
          <p:nvPr/>
        </p:nvSpPr>
        <p:spPr>
          <a:xfrm>
            <a:off x="6419088" y="3675888"/>
            <a:ext cx="4572000" cy="365760"/>
          </a:xfrm>
          <a:prstGeom prst="rect">
            <a:avLst/>
          </a:prstGeom>
          <a:noFill/>
          <a:ln/>
        </p:spPr>
        <p:txBody>
          <a:bodyPr wrap="square" rtlCol="0" anchor="ctr"/>
          <a:lstStyle/>
          <a:p>
            <a:pPr indent="0" marL="0">
              <a:buNone/>
            </a:pPr>
            <a:r>
              <a:rPr lang="en-US" sz="1150" dirty="0">
                <a:solidFill>
                  <a:srgbClr val="D9E4CC"/>
                </a:solidFill>
                <a:latin typeface="Calibri" pitchFamily="34" charset="0"/>
                <a:ea typeface="Calibri" pitchFamily="34" charset="-122"/>
                <a:cs typeface="Calibri" pitchFamily="34" charset="-120"/>
              </a:rPr>
              <a:t>15 UAT users; structured prediction log</a:t>
            </a:r>
            <a:endParaRPr lang="en-US" sz="1150" dirty="0"/>
          </a:p>
        </p:txBody>
      </p:sp>
      <p:sp>
        <p:nvSpPr>
          <p:cNvPr id="17" name="Text 15"/>
          <p:cNvSpPr/>
          <p:nvPr/>
        </p:nvSpPr>
        <p:spPr>
          <a:xfrm>
            <a:off x="640080" y="4434840"/>
            <a:ext cx="10424160" cy="731520"/>
          </a:xfrm>
          <a:prstGeom prst="rect">
            <a:avLst/>
          </a:prstGeom>
          <a:noFill/>
          <a:ln/>
        </p:spPr>
        <p:txBody>
          <a:bodyPr wrap="square" rtlCol="0" anchor="ctr"/>
          <a:lstStyle/>
          <a:p>
            <a:pPr indent="0" marL="0">
              <a:buNone/>
            </a:pPr>
            <a:r>
              <a:rPr lang="en-US" sz="1500" i="1" dirty="0">
                <a:solidFill>
                  <a:srgbClr val="E4EAD9"/>
                </a:solidFill>
                <a:latin typeface="Calibri" pitchFamily="34" charset="0"/>
                <a:ea typeface="Calibri" pitchFamily="34" charset="-122"/>
                <a:cs typeface="Calibri" pitchFamily="34" charset="-120"/>
              </a:rPr>
              <a:t>It closes the gap identified in Chapter One — between what was technically possible and what was actually available to Kenyan smallholders.</a:t>
            </a:r>
            <a:endParaRPr lang="en-US" sz="1500" dirty="0"/>
          </a:p>
        </p:txBody>
      </p:sp>
      <p:sp>
        <p:nvSpPr>
          <p:cNvPr id="18" name="Text 16"/>
          <p:cNvSpPr/>
          <p:nvPr/>
        </p:nvSpPr>
        <p:spPr>
          <a:xfrm>
            <a:off x="640080" y="5303520"/>
            <a:ext cx="10424160" cy="8229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Contribution: the first documented, end-to-end, JMuBEN-trained coffee-rust tool taken from notebook to live URL at the undergraduate level in Kenya.</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11535" cy="274320"/>
          </a:xfrm>
          <a:prstGeom prst="rect">
            <a:avLst/>
          </a:prstGeom>
          <a:noFill/>
          <a:ln/>
        </p:spPr>
        <p:txBody>
          <a:bodyPr wrap="square" rtlCol="0" anchor="ctr"/>
          <a:lstStyle/>
          <a:p>
            <a:pPr indent="0" marL="0">
              <a:buNone/>
            </a:pPr>
            <a:r>
              <a:rPr lang="en-US" sz="1200" b="1" spc="200" kern="0" dirty="0">
                <a:solidFill>
                  <a:srgbClr val="B85C2E"/>
                </a:solidFill>
                <a:latin typeface="Calibri" pitchFamily="34" charset="0"/>
                <a:ea typeface="Calibri" pitchFamily="34" charset="-122"/>
                <a:cs typeface="Calibri" pitchFamily="34" charset="-120"/>
              </a:rPr>
              <a:t>FUTURE RECOMMENDATIONS</a:t>
            </a:r>
            <a:endParaRPr lang="en-US" sz="1200" dirty="0"/>
          </a:p>
        </p:txBody>
      </p:sp>
      <p:sp>
        <p:nvSpPr>
          <p:cNvPr id="3" name="Text 1"/>
          <p:cNvSpPr/>
          <p:nvPr/>
        </p:nvSpPr>
        <p:spPr>
          <a:xfrm>
            <a:off x="640080" y="713232"/>
            <a:ext cx="10911535" cy="685800"/>
          </a:xfrm>
          <a:prstGeom prst="rect">
            <a:avLst/>
          </a:prstGeom>
          <a:noFill/>
          <a:ln/>
        </p:spPr>
        <p:txBody>
          <a:bodyPr wrap="square" rtlCol="0" anchor="t"/>
          <a:lstStyle/>
          <a:p>
            <a:pPr indent="0" marL="0">
              <a:buNone/>
            </a:pPr>
            <a:r>
              <a:rPr lang="en-US" sz="3000" b="1" dirty="0">
                <a:solidFill>
                  <a:srgbClr val="173D1C"/>
                </a:solidFill>
                <a:latin typeface="Cambria" pitchFamily="34" charset="0"/>
                <a:ea typeface="Cambria" pitchFamily="34" charset="-122"/>
                <a:cs typeface="Cambria" pitchFamily="34" charset="-120"/>
              </a:rPr>
              <a:t>Where this goes next</a:t>
            </a:r>
            <a:endParaRPr lang="en-US" sz="3000" dirty="0"/>
          </a:p>
        </p:txBody>
      </p:sp>
      <p:sp>
        <p:nvSpPr>
          <p:cNvPr id="4" name="Shape 2"/>
          <p:cNvSpPr/>
          <p:nvPr/>
        </p:nvSpPr>
        <p:spPr>
          <a:xfrm>
            <a:off x="640080" y="1783080"/>
            <a:ext cx="5257800" cy="1280160"/>
          </a:xfrm>
          <a:prstGeom prst="roundRect">
            <a:avLst>
              <a:gd name="adj" fmla="val 6429"/>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5" name="Shape 3"/>
          <p:cNvSpPr/>
          <p:nvPr/>
        </p:nvSpPr>
        <p:spPr>
          <a:xfrm>
            <a:off x="841248" y="2167128"/>
            <a:ext cx="502920" cy="502920"/>
          </a:xfrm>
          <a:prstGeom prst="ellipse">
            <a:avLst/>
          </a:prstGeom>
          <a:solidFill>
            <a:srgbClr val="2C5F2D"/>
          </a:solidFill>
          <a:ln/>
        </p:spPr>
      </p:sp>
      <p:sp>
        <p:nvSpPr>
          <p:cNvPr id="6" name="Text 4"/>
          <p:cNvSpPr/>
          <p:nvPr/>
        </p:nvSpPr>
        <p:spPr>
          <a:xfrm>
            <a:off x="841248" y="2167128"/>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08760" y="1947672"/>
            <a:ext cx="4206240" cy="365760"/>
          </a:xfrm>
          <a:prstGeom prst="rect">
            <a:avLst/>
          </a:prstGeom>
          <a:noFill/>
          <a:ln/>
        </p:spPr>
        <p:txBody>
          <a:bodyPr wrap="square" rtlCol="0" anchor="ctr"/>
          <a:lstStyle/>
          <a:p>
            <a:pPr indent="0" marL="0">
              <a:buNone/>
            </a:pPr>
            <a:r>
              <a:rPr lang="en-US" sz="1550" b="1" dirty="0">
                <a:solidFill>
                  <a:srgbClr val="173D1C"/>
                </a:solidFill>
                <a:latin typeface="Cambria" pitchFamily="34" charset="0"/>
                <a:ea typeface="Cambria" pitchFamily="34" charset="-122"/>
                <a:cs typeface="Cambria" pitchFamily="34" charset="-120"/>
              </a:rPr>
              <a:t>Multi-class</a:t>
            </a:r>
            <a:endParaRPr lang="en-US" sz="1550" dirty="0"/>
          </a:p>
        </p:txBody>
      </p:sp>
      <p:sp>
        <p:nvSpPr>
          <p:cNvPr id="8" name="Text 6"/>
          <p:cNvSpPr/>
          <p:nvPr/>
        </p:nvSpPr>
        <p:spPr>
          <a:xfrm>
            <a:off x="1508760" y="2331720"/>
            <a:ext cx="4206240" cy="64008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Extend to cercospora, phoma &amp; miner — keeping a clear 'healthy' class</a:t>
            </a:r>
            <a:endParaRPr lang="en-US" sz="1150" dirty="0"/>
          </a:p>
        </p:txBody>
      </p:sp>
      <p:sp>
        <p:nvSpPr>
          <p:cNvPr id="9" name="Shape 7"/>
          <p:cNvSpPr/>
          <p:nvPr/>
        </p:nvSpPr>
        <p:spPr>
          <a:xfrm>
            <a:off x="6217920" y="1783080"/>
            <a:ext cx="5257800" cy="1280160"/>
          </a:xfrm>
          <a:prstGeom prst="roundRect">
            <a:avLst>
              <a:gd name="adj" fmla="val 6429"/>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0" name="Shape 8"/>
          <p:cNvSpPr/>
          <p:nvPr/>
        </p:nvSpPr>
        <p:spPr>
          <a:xfrm>
            <a:off x="6419088" y="2167128"/>
            <a:ext cx="502920" cy="502920"/>
          </a:xfrm>
          <a:prstGeom prst="ellipse">
            <a:avLst/>
          </a:prstGeom>
          <a:solidFill>
            <a:srgbClr val="6F4E37"/>
          </a:solidFill>
          <a:ln/>
        </p:spPr>
      </p:sp>
      <p:sp>
        <p:nvSpPr>
          <p:cNvPr id="11" name="Text 9"/>
          <p:cNvSpPr/>
          <p:nvPr/>
        </p:nvSpPr>
        <p:spPr>
          <a:xfrm>
            <a:off x="6419088" y="2167128"/>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7086600" y="1947672"/>
            <a:ext cx="4206240" cy="365760"/>
          </a:xfrm>
          <a:prstGeom prst="rect">
            <a:avLst/>
          </a:prstGeom>
          <a:noFill/>
          <a:ln/>
        </p:spPr>
        <p:txBody>
          <a:bodyPr wrap="square" rtlCol="0" anchor="ctr"/>
          <a:lstStyle/>
          <a:p>
            <a:pPr indent="0" marL="0">
              <a:buNone/>
            </a:pPr>
            <a:r>
              <a:rPr lang="en-US" sz="1550" b="1" dirty="0">
                <a:solidFill>
                  <a:srgbClr val="173D1C"/>
                </a:solidFill>
                <a:latin typeface="Cambria" pitchFamily="34" charset="0"/>
                <a:ea typeface="Cambria" pitchFamily="34" charset="-122"/>
                <a:cs typeface="Cambria" pitchFamily="34" charset="-120"/>
              </a:rPr>
              <a:t>Severity head</a:t>
            </a:r>
            <a:endParaRPr lang="en-US" sz="1550" dirty="0"/>
          </a:p>
        </p:txBody>
      </p:sp>
      <p:sp>
        <p:nvSpPr>
          <p:cNvPr id="13" name="Text 11"/>
          <p:cNvSpPr/>
          <p:nvPr/>
        </p:nvSpPr>
        <p:spPr>
          <a:xfrm>
            <a:off x="7086600" y="2331720"/>
            <a:ext cx="4206240" cy="64008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Report not just presence but % leaf area affected</a:t>
            </a:r>
            <a:endParaRPr lang="en-US" sz="1150" dirty="0"/>
          </a:p>
        </p:txBody>
      </p:sp>
      <p:sp>
        <p:nvSpPr>
          <p:cNvPr id="14" name="Shape 12"/>
          <p:cNvSpPr/>
          <p:nvPr/>
        </p:nvSpPr>
        <p:spPr>
          <a:xfrm>
            <a:off x="640080" y="3319272"/>
            <a:ext cx="5257800" cy="1280160"/>
          </a:xfrm>
          <a:prstGeom prst="roundRect">
            <a:avLst>
              <a:gd name="adj" fmla="val 6429"/>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15" name="Shape 13"/>
          <p:cNvSpPr/>
          <p:nvPr/>
        </p:nvSpPr>
        <p:spPr>
          <a:xfrm>
            <a:off x="841248" y="3703320"/>
            <a:ext cx="502920" cy="502920"/>
          </a:xfrm>
          <a:prstGeom prst="ellipse">
            <a:avLst/>
          </a:prstGeom>
          <a:solidFill>
            <a:srgbClr val="2C5F2D"/>
          </a:solidFill>
          <a:ln/>
        </p:spPr>
      </p:sp>
      <p:sp>
        <p:nvSpPr>
          <p:cNvPr id="16" name="Text 14"/>
          <p:cNvSpPr/>
          <p:nvPr/>
        </p:nvSpPr>
        <p:spPr>
          <a:xfrm>
            <a:off x="841248" y="370332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08760" y="3483864"/>
            <a:ext cx="4206240" cy="365760"/>
          </a:xfrm>
          <a:prstGeom prst="rect">
            <a:avLst/>
          </a:prstGeom>
          <a:noFill/>
          <a:ln/>
        </p:spPr>
        <p:txBody>
          <a:bodyPr wrap="square" rtlCol="0" anchor="ctr"/>
          <a:lstStyle/>
          <a:p>
            <a:pPr indent="0" marL="0">
              <a:buNone/>
            </a:pPr>
            <a:r>
              <a:rPr lang="en-US" sz="1550" b="1" dirty="0">
                <a:solidFill>
                  <a:srgbClr val="173D1C"/>
                </a:solidFill>
                <a:latin typeface="Cambria" pitchFamily="34" charset="0"/>
                <a:ea typeface="Cambria" pitchFamily="34" charset="-122"/>
                <a:cs typeface="Cambria" pitchFamily="34" charset="-120"/>
              </a:rPr>
              <a:t>Offline mode</a:t>
            </a:r>
            <a:endParaRPr lang="en-US" sz="1550" dirty="0"/>
          </a:p>
        </p:txBody>
      </p:sp>
      <p:sp>
        <p:nvSpPr>
          <p:cNvPr id="18" name="Text 16"/>
          <p:cNvSpPr/>
          <p:nvPr/>
        </p:nvSpPr>
        <p:spPr>
          <a:xfrm>
            <a:off x="1508760" y="3867912"/>
            <a:ext cx="4206240" cy="64008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TensorFlow Lite Android build for poor-connectivity areas</a:t>
            </a:r>
            <a:endParaRPr lang="en-US" sz="1150" dirty="0"/>
          </a:p>
        </p:txBody>
      </p:sp>
      <p:sp>
        <p:nvSpPr>
          <p:cNvPr id="19" name="Shape 17"/>
          <p:cNvSpPr/>
          <p:nvPr/>
        </p:nvSpPr>
        <p:spPr>
          <a:xfrm>
            <a:off x="6217920" y="3319272"/>
            <a:ext cx="5257800" cy="1280160"/>
          </a:xfrm>
          <a:prstGeom prst="roundRect">
            <a:avLst>
              <a:gd name="adj" fmla="val 6429"/>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0" name="Shape 18"/>
          <p:cNvSpPr/>
          <p:nvPr/>
        </p:nvSpPr>
        <p:spPr>
          <a:xfrm>
            <a:off x="6419088" y="3703320"/>
            <a:ext cx="502920" cy="502920"/>
          </a:xfrm>
          <a:prstGeom prst="ellipse">
            <a:avLst/>
          </a:prstGeom>
          <a:solidFill>
            <a:srgbClr val="6F4E37"/>
          </a:solidFill>
          <a:ln/>
        </p:spPr>
      </p:sp>
      <p:sp>
        <p:nvSpPr>
          <p:cNvPr id="21" name="Text 19"/>
          <p:cNvSpPr/>
          <p:nvPr/>
        </p:nvSpPr>
        <p:spPr>
          <a:xfrm>
            <a:off x="6419088" y="370332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7086600" y="3483864"/>
            <a:ext cx="4206240" cy="365760"/>
          </a:xfrm>
          <a:prstGeom prst="rect">
            <a:avLst/>
          </a:prstGeom>
          <a:noFill/>
          <a:ln/>
        </p:spPr>
        <p:txBody>
          <a:bodyPr wrap="square" rtlCol="0" anchor="ctr"/>
          <a:lstStyle/>
          <a:p>
            <a:pPr indent="0" marL="0">
              <a:buNone/>
            </a:pPr>
            <a:r>
              <a:rPr lang="en-US" sz="1550" b="1" dirty="0">
                <a:solidFill>
                  <a:srgbClr val="173D1C"/>
                </a:solidFill>
                <a:latin typeface="Cambria" pitchFamily="34" charset="0"/>
                <a:ea typeface="Cambria" pitchFamily="34" charset="-122"/>
                <a:cs typeface="Cambria" pitchFamily="34" charset="-120"/>
              </a:rPr>
              <a:t>County dashboard</a:t>
            </a:r>
            <a:endParaRPr lang="en-US" sz="1550" dirty="0"/>
          </a:p>
        </p:txBody>
      </p:sp>
      <p:sp>
        <p:nvSpPr>
          <p:cNvPr id="23" name="Text 21"/>
          <p:cNvSpPr/>
          <p:nvPr/>
        </p:nvSpPr>
        <p:spPr>
          <a:xfrm>
            <a:off x="7086600" y="3867912"/>
            <a:ext cx="4206240" cy="64008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Time-series rust map from the log for KALRO &amp; extension officers</a:t>
            </a:r>
            <a:endParaRPr lang="en-US" sz="1150" dirty="0"/>
          </a:p>
        </p:txBody>
      </p:sp>
      <p:sp>
        <p:nvSpPr>
          <p:cNvPr id="24" name="Shape 22"/>
          <p:cNvSpPr/>
          <p:nvPr/>
        </p:nvSpPr>
        <p:spPr>
          <a:xfrm>
            <a:off x="640080" y="4855464"/>
            <a:ext cx="5257800" cy="1280160"/>
          </a:xfrm>
          <a:prstGeom prst="roundRect">
            <a:avLst>
              <a:gd name="adj" fmla="val 6429"/>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25" name="Shape 23"/>
          <p:cNvSpPr/>
          <p:nvPr/>
        </p:nvSpPr>
        <p:spPr>
          <a:xfrm>
            <a:off x="841248" y="5239512"/>
            <a:ext cx="502920" cy="502920"/>
          </a:xfrm>
          <a:prstGeom prst="ellipse">
            <a:avLst/>
          </a:prstGeom>
          <a:solidFill>
            <a:srgbClr val="2C5F2D"/>
          </a:solidFill>
          <a:ln/>
        </p:spPr>
      </p:sp>
      <p:sp>
        <p:nvSpPr>
          <p:cNvPr id="26" name="Text 24"/>
          <p:cNvSpPr/>
          <p:nvPr/>
        </p:nvSpPr>
        <p:spPr>
          <a:xfrm>
            <a:off x="841248" y="5239512"/>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5"/>
          <p:cNvSpPr/>
          <p:nvPr/>
        </p:nvSpPr>
        <p:spPr>
          <a:xfrm>
            <a:off x="1508760" y="5020056"/>
            <a:ext cx="4206240" cy="365760"/>
          </a:xfrm>
          <a:prstGeom prst="rect">
            <a:avLst/>
          </a:prstGeom>
          <a:noFill/>
          <a:ln/>
        </p:spPr>
        <p:txBody>
          <a:bodyPr wrap="square" rtlCol="0" anchor="ctr"/>
          <a:lstStyle/>
          <a:p>
            <a:pPr indent="0" marL="0">
              <a:buNone/>
            </a:pPr>
            <a:r>
              <a:rPr lang="en-US" sz="1550" b="1" dirty="0">
                <a:solidFill>
                  <a:srgbClr val="173D1C"/>
                </a:solidFill>
                <a:latin typeface="Cambria" pitchFamily="34" charset="0"/>
                <a:ea typeface="Cambria" pitchFamily="34" charset="-122"/>
                <a:cs typeface="Cambria" pitchFamily="34" charset="-120"/>
              </a:rPr>
              <a:t>Federated learning</a:t>
            </a:r>
            <a:endParaRPr lang="en-US" sz="1550" dirty="0"/>
          </a:p>
        </p:txBody>
      </p:sp>
      <p:sp>
        <p:nvSpPr>
          <p:cNvPr id="28" name="Text 26"/>
          <p:cNvSpPr/>
          <p:nvPr/>
        </p:nvSpPr>
        <p:spPr>
          <a:xfrm>
            <a:off x="1508760" y="5404104"/>
            <a:ext cx="4206240" cy="64008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Cooperatives improve the model without sharing raw images</a:t>
            </a:r>
            <a:endParaRPr lang="en-US" sz="1150" dirty="0"/>
          </a:p>
        </p:txBody>
      </p:sp>
      <p:sp>
        <p:nvSpPr>
          <p:cNvPr id="29" name="Shape 27"/>
          <p:cNvSpPr/>
          <p:nvPr/>
        </p:nvSpPr>
        <p:spPr>
          <a:xfrm>
            <a:off x="6217920" y="4855464"/>
            <a:ext cx="5257800" cy="1280160"/>
          </a:xfrm>
          <a:prstGeom prst="roundRect">
            <a:avLst>
              <a:gd name="adj" fmla="val 6429"/>
            </a:avLst>
          </a:prstGeom>
          <a:solidFill>
            <a:srgbClr val="F4F1EA"/>
          </a:solidFill>
          <a:ln w="9525">
            <a:solidFill>
              <a:srgbClr val="D8D3C6"/>
            </a:solidFill>
            <a:prstDash val="solid"/>
          </a:ln>
          <a:effectLst>
            <a:outerShdw sx="100000" sy="100000" kx="0" ky="0" algn="bl" rotWithShape="0" blurRad="63500" dist="25400" dir="5400000">
              <a:srgbClr val="888888">
                <a:alpha val="28000"/>
              </a:srgbClr>
            </a:outerShdw>
          </a:effectLst>
        </p:spPr>
      </p:sp>
      <p:sp>
        <p:nvSpPr>
          <p:cNvPr id="30" name="Shape 28"/>
          <p:cNvSpPr/>
          <p:nvPr/>
        </p:nvSpPr>
        <p:spPr>
          <a:xfrm>
            <a:off x="6419088" y="5239512"/>
            <a:ext cx="502920" cy="502920"/>
          </a:xfrm>
          <a:prstGeom prst="ellipse">
            <a:avLst/>
          </a:prstGeom>
          <a:solidFill>
            <a:srgbClr val="6F4E37"/>
          </a:solidFill>
          <a:ln/>
        </p:spPr>
      </p:sp>
      <p:sp>
        <p:nvSpPr>
          <p:cNvPr id="31" name="Text 29"/>
          <p:cNvSpPr/>
          <p:nvPr/>
        </p:nvSpPr>
        <p:spPr>
          <a:xfrm>
            <a:off x="6419088" y="5239512"/>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2" name="Text 30"/>
          <p:cNvSpPr/>
          <p:nvPr/>
        </p:nvSpPr>
        <p:spPr>
          <a:xfrm>
            <a:off x="7086600" y="5020056"/>
            <a:ext cx="4206240" cy="365760"/>
          </a:xfrm>
          <a:prstGeom prst="rect">
            <a:avLst/>
          </a:prstGeom>
          <a:noFill/>
          <a:ln/>
        </p:spPr>
        <p:txBody>
          <a:bodyPr wrap="square" rtlCol="0" anchor="ctr"/>
          <a:lstStyle/>
          <a:p>
            <a:pPr indent="0" marL="0">
              <a:buNone/>
            </a:pPr>
            <a:r>
              <a:rPr lang="en-US" sz="1550" b="1" dirty="0">
                <a:solidFill>
                  <a:srgbClr val="173D1C"/>
                </a:solidFill>
                <a:latin typeface="Cambria" pitchFamily="34" charset="0"/>
                <a:ea typeface="Cambria" pitchFamily="34" charset="-122"/>
                <a:cs typeface="Cambria" pitchFamily="34" charset="-120"/>
              </a:rPr>
              <a:t>Regional reach</a:t>
            </a:r>
            <a:endParaRPr lang="en-US" sz="1550" dirty="0"/>
          </a:p>
        </p:txBody>
      </p:sp>
      <p:sp>
        <p:nvSpPr>
          <p:cNvPr id="33" name="Text 31"/>
          <p:cNvSpPr/>
          <p:nvPr/>
        </p:nvSpPr>
        <p:spPr>
          <a:xfrm>
            <a:off x="7086600" y="5404104"/>
            <a:ext cx="4206240" cy="640080"/>
          </a:xfrm>
          <a:prstGeom prst="rect">
            <a:avLst/>
          </a:prstGeom>
          <a:noFill/>
          <a:ln/>
        </p:spPr>
        <p:txBody>
          <a:bodyPr wrap="square" rtlCol="0" anchor="ctr"/>
          <a:lstStyle/>
          <a:p>
            <a:pPr indent="0" marL="0">
              <a:buNone/>
            </a:pPr>
            <a:r>
              <a:rPr lang="en-US" sz="1150" dirty="0">
                <a:solidFill>
                  <a:srgbClr val="24261F"/>
                </a:solidFill>
                <a:latin typeface="Calibri" pitchFamily="34" charset="0"/>
                <a:ea typeface="Calibri" pitchFamily="34" charset="-122"/>
                <a:cs typeface="Calibri" pitchFamily="34" charset="-120"/>
              </a:rPr>
              <a:t>Robusta, plus Uganda &amp; Tanzania via PlantVillage partnerships</a:t>
            </a:r>
            <a:endParaRPr lang="en-US" sz="1150" dirty="0"/>
          </a:p>
        </p:txBody>
      </p:sp>
      <p:sp>
        <p:nvSpPr>
          <p:cNvPr id="34" name="Text 32"/>
          <p:cNvSpPr/>
          <p:nvPr/>
        </p:nvSpPr>
        <p:spPr>
          <a:xfrm>
            <a:off x="640080" y="6419088"/>
            <a:ext cx="7315200" cy="274320"/>
          </a:xfrm>
          <a:prstGeom prst="rect">
            <a:avLst/>
          </a:prstGeom>
          <a:noFill/>
          <a:ln/>
        </p:spPr>
        <p:txBody>
          <a:bodyPr wrap="square" rtlCol="0" anchor="ctr"/>
          <a:lstStyle/>
          <a:p>
            <a:pPr algn="l" indent="0" marL="0">
              <a:buNone/>
            </a:pPr>
            <a:r>
              <a:rPr lang="en-US" sz="900" dirty="0">
                <a:solidFill>
                  <a:srgbClr val="6E6E66"/>
                </a:solidFill>
                <a:latin typeface="Calibri" pitchFamily="34" charset="0"/>
                <a:ea typeface="Calibri" pitchFamily="34" charset="-122"/>
                <a:cs typeface="Calibri" pitchFamily="34" charset="-120"/>
              </a:rPr>
              <a:t>Kahawa AI  ·  Coffee Leaf Rust Detection</a:t>
            </a:r>
            <a:endParaRPr lang="en-US" sz="900" dirty="0"/>
          </a:p>
        </p:txBody>
      </p:sp>
      <p:sp>
        <p:nvSpPr>
          <p:cNvPr id="35" name="Text 33"/>
          <p:cNvSpPr/>
          <p:nvPr/>
        </p:nvSpPr>
        <p:spPr>
          <a:xfrm>
            <a:off x="11002975" y="6419088"/>
            <a:ext cx="548640" cy="274320"/>
          </a:xfrm>
          <a:prstGeom prst="rect">
            <a:avLst/>
          </a:prstGeom>
          <a:noFill/>
          <a:ln/>
        </p:spPr>
        <p:txBody>
          <a:bodyPr wrap="square" rtlCol="0" anchor="ctr"/>
          <a:lstStyle/>
          <a:p>
            <a:pPr algn="r" indent="0" marL="0">
              <a:buNone/>
            </a:pPr>
            <a:r>
              <a:rPr lang="en-US" sz="900" dirty="0">
                <a:solidFill>
                  <a:srgbClr val="6E6E66"/>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73D1C"/>
        </a:solidFill>
      </p:bgPr>
    </p:bg>
    <p:spTree>
      <p:nvGrpSpPr>
        <p:cNvPr id="1" name=""/>
        <p:cNvGrpSpPr/>
        <p:nvPr/>
      </p:nvGrpSpPr>
      <p:grpSpPr>
        <a:xfrm>
          <a:off x="0" y="0"/>
          <a:ext cx="0" cy="0"/>
          <a:chOff x="0" y="0"/>
          <a:chExt cx="0" cy="0"/>
        </a:xfrm>
      </p:grpSpPr>
      <p:sp>
        <p:nvSpPr>
          <p:cNvPr id="2" name="Shape 0"/>
          <p:cNvSpPr/>
          <p:nvPr/>
        </p:nvSpPr>
        <p:spPr>
          <a:xfrm>
            <a:off x="9052560" y="-1645920"/>
            <a:ext cx="5120640" cy="5120640"/>
          </a:xfrm>
          <a:prstGeom prst="ellipse">
            <a:avLst/>
          </a:prstGeom>
          <a:solidFill>
            <a:srgbClr val="2C5F2D"/>
          </a:solidFill>
          <a:ln/>
        </p:spPr>
      </p:sp>
      <p:sp>
        <p:nvSpPr>
          <p:cNvPr id="3" name="Shape 1"/>
          <p:cNvSpPr/>
          <p:nvPr/>
        </p:nvSpPr>
        <p:spPr>
          <a:xfrm>
            <a:off x="-1828800" y="6400800"/>
            <a:ext cx="3474720" cy="3474720"/>
          </a:xfrm>
          <a:prstGeom prst="ellipse">
            <a:avLst/>
          </a:prstGeom>
          <a:solidFill>
            <a:srgbClr val="6F4E37"/>
          </a:solidFill>
          <a:ln/>
        </p:spPr>
      </p:sp>
      <p:sp>
        <p:nvSpPr>
          <p:cNvPr id="4" name="Text 2"/>
          <p:cNvSpPr/>
          <p:nvPr/>
        </p:nvSpPr>
        <p:spPr>
          <a:xfrm>
            <a:off x="640080" y="2103120"/>
            <a:ext cx="10058400" cy="91440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5" name="Text 3"/>
          <p:cNvSpPr/>
          <p:nvPr/>
        </p:nvSpPr>
        <p:spPr>
          <a:xfrm>
            <a:off x="640080" y="3200400"/>
            <a:ext cx="10058400" cy="457200"/>
          </a:xfrm>
          <a:prstGeom prst="rect">
            <a:avLst/>
          </a:prstGeom>
          <a:noFill/>
          <a:ln/>
        </p:spPr>
        <p:txBody>
          <a:bodyPr wrap="square" rtlCol="0" anchor="ctr"/>
          <a:lstStyle/>
          <a:p>
            <a:pPr indent="0" marL="0">
              <a:buNone/>
            </a:pPr>
            <a:r>
              <a:rPr lang="en-US" sz="2200" i="1" dirty="0">
                <a:solidFill>
                  <a:srgbClr val="97BC62"/>
                </a:solidFill>
                <a:latin typeface="Cambria" pitchFamily="34" charset="0"/>
                <a:ea typeface="Cambria" pitchFamily="34" charset="-122"/>
                <a:cs typeface="Cambria" pitchFamily="34" charset="-120"/>
              </a:rPr>
              <a:t>I welcome your questions and feedback.</a:t>
            </a:r>
            <a:endParaRPr lang="en-US" sz="2200" dirty="0"/>
          </a:p>
        </p:txBody>
      </p:sp>
      <p:sp>
        <p:nvSpPr>
          <p:cNvPr id="6" name="Shape 4"/>
          <p:cNvSpPr/>
          <p:nvPr/>
        </p:nvSpPr>
        <p:spPr>
          <a:xfrm>
            <a:off x="640080" y="3977640"/>
            <a:ext cx="5029200" cy="0"/>
          </a:xfrm>
          <a:prstGeom prst="line">
            <a:avLst/>
          </a:prstGeom>
          <a:noFill/>
          <a:ln w="12700">
            <a:solidFill>
              <a:srgbClr val="6E8B3D"/>
            </a:solidFill>
            <a:prstDash val="solid"/>
          </a:ln>
        </p:spPr>
      </p:sp>
      <p:sp>
        <p:nvSpPr>
          <p:cNvPr id="7" name="Text 5"/>
          <p:cNvSpPr/>
          <p:nvPr/>
        </p:nvSpPr>
        <p:spPr>
          <a:xfrm>
            <a:off x="640080" y="4206240"/>
            <a:ext cx="10058400" cy="32004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Mwangi Charles Ndirangu</a:t>
            </a:r>
            <a:pPr indent="0" marL="0">
              <a:buNone/>
            </a:pPr>
            <a:r>
              <a:rPr lang="en-US" sz="1600" dirty="0">
                <a:solidFill>
                  <a:srgbClr val="C7D2B6"/>
                </a:solidFill>
                <a:latin typeface="Calibri" pitchFamily="34" charset="0"/>
                <a:ea typeface="Calibri" pitchFamily="34" charset="-122"/>
                <a:cs typeface="Calibri" pitchFamily="34" charset="-120"/>
              </a:rPr>
              <a:t>   ·   CIT-222-013/2022</a:t>
            </a:r>
            <a:endParaRPr lang="en-US" sz="1600" dirty="0"/>
          </a:p>
        </p:txBody>
      </p:sp>
      <p:sp>
        <p:nvSpPr>
          <p:cNvPr id="8" name="Text 6"/>
          <p:cNvSpPr/>
          <p:nvPr/>
        </p:nvSpPr>
        <p:spPr>
          <a:xfrm>
            <a:off x="640080" y="4617720"/>
            <a:ext cx="10515600" cy="320040"/>
          </a:xfrm>
          <a:prstGeom prst="rect">
            <a:avLst/>
          </a:prstGeom>
          <a:noFill/>
          <a:ln/>
        </p:spPr>
        <p:txBody>
          <a:bodyPr wrap="square" rtlCol="0" anchor="ctr"/>
          <a:lstStyle/>
          <a:p>
            <a:pPr indent="0" marL="0">
              <a:buNone/>
            </a:pPr>
            <a:r>
              <a:rPr lang="en-US" sz="1300" dirty="0">
                <a:solidFill>
                  <a:srgbClr val="C7D2B6"/>
                </a:solidFill>
                <a:latin typeface="Calibri" pitchFamily="34" charset="0"/>
                <a:ea typeface="Calibri" pitchFamily="34" charset="-122"/>
                <a:cs typeface="Calibri" pitchFamily="34" charset="-120"/>
              </a:rPr>
              <a:t>Image Recognition AI–Based Coffee Leaf Rust Detection  ·  Kahawa AI  ·  Multimedia University of Kenya</a:t>
            </a:r>
            <a:endParaRPr lang="en-US" sz="1300" dirty="0"/>
          </a:p>
        </p:txBody>
      </p:sp>
      <p:sp>
        <p:nvSpPr>
          <p:cNvPr id="9" name="Text 7"/>
          <p:cNvSpPr/>
          <p:nvPr/>
        </p:nvSpPr>
        <p:spPr>
          <a:xfrm>
            <a:off x="640080" y="5852160"/>
            <a:ext cx="10789920" cy="457200"/>
          </a:xfrm>
          <a:prstGeom prst="rect">
            <a:avLst/>
          </a:prstGeom>
          <a:noFill/>
          <a:ln/>
        </p:spPr>
        <p:txBody>
          <a:bodyPr wrap="square" rtlCol="0" anchor="ctr"/>
          <a:lstStyle/>
          <a:p>
            <a:pPr indent="0" marL="0">
              <a:buNone/>
            </a:pPr>
            <a:r>
              <a:rPr lang="en-US" sz="1200" i="1" dirty="0">
                <a:solidFill>
                  <a:srgbClr val="97BC62"/>
                </a:solidFill>
                <a:latin typeface="Calibri" pitchFamily="34" charset="0"/>
                <a:ea typeface="Calibri" pitchFamily="34" charset="-122"/>
                <a:cs typeface="Calibri" pitchFamily="34" charset="-120"/>
              </a:rPr>
              <a:t>Anticipated Q&amp;A:  dataset bias &amp; generalisation  ·  the 0.50 decision threshold  ·  false-negative cost  ·  offline access  ·  scaling beyond the pilot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Coffee Leaf Rust Detection — Oral Defense</dc:title>
  <dc:subject>PptxGenJS Presentation</dc:subject>
  <dc:creator>Mwangi Charles Ndirangu</dc:creator>
  <cp:lastModifiedBy>Mwangi Charles Ndirangu</cp:lastModifiedBy>
  <cp:revision>1</cp:revision>
  <dcterms:created xsi:type="dcterms:W3CDTF">2026-07-17T20:50:54Z</dcterms:created>
  <dcterms:modified xsi:type="dcterms:W3CDTF">2026-07-17T20:50:54Z</dcterms:modified>
</cp:coreProperties>
</file>